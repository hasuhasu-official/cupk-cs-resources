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8"/>
  </p:handoutMasterIdLst>
  <p:sldIdLst>
    <p:sldId id="256" r:id="rId3"/>
    <p:sldId id="1788" r:id="rId5"/>
    <p:sldId id="1961" r:id="rId6"/>
    <p:sldId id="1963" r:id="rId7"/>
    <p:sldId id="1980" r:id="rId8"/>
    <p:sldId id="1965" r:id="rId9"/>
    <p:sldId id="1967" r:id="rId10"/>
    <p:sldId id="1970" r:id="rId11"/>
    <p:sldId id="1971" r:id="rId12"/>
    <p:sldId id="1981" r:id="rId13"/>
    <p:sldId id="1982" r:id="rId14"/>
    <p:sldId id="1983" r:id="rId15"/>
    <p:sldId id="1985" r:id="rId16"/>
    <p:sldId id="1973" r:id="rId17"/>
    <p:sldId id="1986" r:id="rId18"/>
    <p:sldId id="1987" r:id="rId19"/>
    <p:sldId id="1988" r:id="rId20"/>
    <p:sldId id="1977" r:id="rId21"/>
    <p:sldId id="1993" r:id="rId22"/>
    <p:sldId id="1994" r:id="rId23"/>
    <p:sldId id="1989" r:id="rId24"/>
    <p:sldId id="1990" r:id="rId25"/>
    <p:sldId id="1991" r:id="rId26"/>
    <p:sldId id="1992" r:id="rId27"/>
  </p:sldIdLst>
  <p:sldSz cx="9144000" cy="6858000" type="letter"/>
  <p:notesSz cx="9163050" cy="6877050"/>
  <p:custDataLst>
    <p:tags r:id="rId32"/>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134AD5"/>
    <a:srgbClr val="B3380D"/>
    <a:srgbClr val="E6E6E6"/>
    <a:srgbClr val="660066"/>
    <a:srgbClr val="CC0000"/>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59"/>
        <p:guide pos="287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50.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image" Target="../media/image5.png"/><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24.xml"/><Relationship Id="rId1" Type="http://schemas.openxmlformats.org/officeDocument/2006/relationships/tags" Target="../tags/tag23.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26.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tags" Target="../tags/tag29.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33.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tags" Target="../tags/tag45.xml"/><Relationship Id="rId1" Type="http://schemas.openxmlformats.org/officeDocument/2006/relationships/tags" Target="../tags/tag44.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47.xml"/><Relationship Id="rId1" Type="http://schemas.openxmlformats.org/officeDocument/2006/relationships/tags" Target="../tags/tag4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2586991" y="1231900"/>
            <a:ext cx="4043045" cy="727710"/>
          </a:xfrm>
        </p:spPr>
        <p:txBody>
          <a:bodyPr vert="horz" wrap="none" lIns="63500" tIns="25400" rIns="63500" bIns="25400" anchor="ctr" anchorCtr="0">
            <a:spAutoFit/>
          </a:bodyPr>
          <a:p>
            <a:pPr algn="ctr">
              <a:lnSpc>
                <a:spcPct val="100000"/>
              </a:lnSpc>
              <a:buClrTx/>
              <a:buSzTx/>
              <a:buFontTx/>
            </a:pPr>
            <a:r>
              <a:rPr lang="zh-CN" altLang="en-US" sz="4400" dirty="0">
                <a:solidFill>
                  <a:srgbClr val="000066"/>
                </a:solidFill>
                <a:latin typeface="华文隶书" panose="02010800040101010101" charset="-122"/>
                <a:ea typeface="华文隶书" panose="02010800040101010101" charset="-122"/>
                <a:cs typeface="+mj-cs"/>
              </a:rPr>
              <a:t>计算机组成原理</a:t>
            </a:r>
            <a:endParaRPr lang="zh-CN" altLang="en-US" sz="4400" dirty="0">
              <a:solidFill>
                <a:srgbClr val="000066"/>
              </a:solidFill>
              <a:latin typeface="华文隶书" panose="02010800040101010101" charset="-122"/>
              <a:ea typeface="华文隶书" panose="02010800040101010101" charset="-122"/>
              <a:cs typeface="+mj-cs"/>
            </a:endParaRPr>
          </a:p>
        </p:txBody>
      </p:sp>
      <p:sp>
        <p:nvSpPr>
          <p:cNvPr id="9219" name="Text Box 8"/>
          <p:cNvSpPr txBox="1"/>
          <p:nvPr/>
        </p:nvSpPr>
        <p:spPr>
          <a:xfrm>
            <a:off x="252095" y="4202430"/>
            <a:ext cx="8641080" cy="119126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石油学院</a:t>
            </a: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中国石油大学克拉玛依校区</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7308215" y="6094095"/>
            <a:ext cx="116014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2024</a:t>
            </a:r>
            <a:r>
              <a:rPr lang="zh-CN" altLang="en-US" sz="2000" b="0" i="1" dirty="0">
                <a:solidFill>
                  <a:schemeClr val="tx1"/>
                </a:solidFill>
                <a:latin typeface="Arial" panose="020B0604020202020204" pitchFamily="34" charset="0"/>
                <a:ea typeface="宋体" panose="02010600030101010101" pitchFamily="2" charset="-122"/>
              </a:rPr>
              <a:t>秋</a:t>
            </a:r>
            <a:endParaRPr lang="zh-CN" altLang="en-US" sz="2000" b="0" i="1" dirty="0">
              <a:solidFill>
                <a:schemeClr val="tx1"/>
              </a:solidFill>
              <a:latin typeface="Arial" panose="020B0604020202020204" pitchFamily="34" charset="0"/>
              <a:ea typeface="宋体" panose="02010600030101010101" pitchFamily="2" charset="-122"/>
            </a:endParaRPr>
          </a:p>
        </p:txBody>
      </p:sp>
      <p:sp>
        <p:nvSpPr>
          <p:cNvPr id="2" name="Rectangle 2"/>
          <p:cNvSpPr>
            <a:spLocks noGrp="1"/>
          </p:cNvSpPr>
          <p:nvPr/>
        </p:nvSpPr>
        <p:spPr>
          <a:xfrm>
            <a:off x="1652588" y="2578735"/>
            <a:ext cx="6022340" cy="727710"/>
          </a:xfrm>
          <a:prstGeom prst="rect">
            <a:avLst/>
          </a:prstGeom>
          <a:noFill/>
          <a:ln w="12700">
            <a:noFill/>
          </a:ln>
        </p:spPr>
        <p:txBody>
          <a:bodyPr vert="horz" wrap="none" lIns="63500" tIns="25400" rIns="63500" bIns="25400" anchor="ctr" anchorCtr="0">
            <a:spAutoFit/>
          </a:bodyPr>
          <a:lstStyle>
            <a:lvl1pPr algn="l" rtl="0" eaLnBrk="0" fontAlgn="base" hangingPunct="0">
              <a:lnSpc>
                <a:spcPct val="87000"/>
              </a:lnSpc>
              <a:spcBef>
                <a:spcPct val="0"/>
              </a:spcBef>
              <a:spcAft>
                <a:spcPct val="0"/>
              </a:spcAft>
              <a:defRPr sz="2400" b="1">
                <a:solidFill>
                  <a:schemeClr val="accent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a:lstStyle>
          <a:p>
            <a:pPr algn="ctr">
              <a:lnSpc>
                <a:spcPct val="100000"/>
              </a:lnSpc>
              <a:buClrTx/>
              <a:buSzTx/>
              <a:buFontTx/>
            </a:pPr>
            <a:r>
              <a:rPr lang="zh-CN" altLang="en-US" sz="4400" dirty="0">
                <a:solidFill>
                  <a:srgbClr val="000066"/>
                </a:solidFill>
                <a:latin typeface="黑体" panose="02010609060101010101" pitchFamily="49" charset="-122"/>
                <a:ea typeface="黑体" panose="02010609060101010101" pitchFamily="49" charset="-122"/>
                <a:cs typeface="+mj-cs"/>
              </a:rPr>
              <a:t>第二次实验</a:t>
            </a:r>
            <a:r>
              <a:rPr lang="en-US" altLang="zh-CN" sz="4400" dirty="0">
                <a:solidFill>
                  <a:srgbClr val="000066"/>
                </a:solidFill>
                <a:latin typeface="黑体" panose="02010609060101010101" pitchFamily="49" charset="-122"/>
                <a:ea typeface="黑体" panose="02010609060101010101" pitchFamily="49" charset="-122"/>
                <a:cs typeface="+mj-cs"/>
              </a:rPr>
              <a:t>-</a:t>
            </a:r>
            <a:r>
              <a:rPr lang="zh-CN" altLang="en-US" sz="4400" dirty="0">
                <a:solidFill>
                  <a:srgbClr val="000066"/>
                </a:solidFill>
                <a:latin typeface="黑体" panose="02010609060101010101" pitchFamily="49" charset="-122"/>
                <a:ea typeface="黑体" panose="02010609060101010101" pitchFamily="49" charset="-122"/>
                <a:cs typeface="+mj-cs"/>
              </a:rPr>
              <a:t>运算器</a:t>
            </a:r>
            <a:r>
              <a:rPr lang="zh-CN" altLang="en-US" sz="4400" dirty="0">
                <a:solidFill>
                  <a:srgbClr val="000066"/>
                </a:solidFill>
                <a:latin typeface="黑体" panose="02010609060101010101" pitchFamily="49" charset="-122"/>
                <a:ea typeface="黑体" panose="02010609060101010101" pitchFamily="49" charset="-122"/>
                <a:cs typeface="+mj-cs"/>
              </a:rPr>
              <a:t>实验</a:t>
            </a:r>
            <a:endParaRPr lang="zh-CN" altLang="en-US" sz="4400" dirty="0">
              <a:solidFill>
                <a:srgbClr val="000066"/>
              </a:solidFill>
              <a:latin typeface="黑体" panose="02010609060101010101" pitchFamily="49" charset="-122"/>
              <a:ea typeface="黑体" panose="02010609060101010101" pitchFamily="49" charset="-122"/>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1275" cy="589280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简介</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本实验名称</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运算器</a:t>
            </a:r>
            <a:r>
              <a:rPr lang="zh-CN" altLang="en-US" dirty="0">
                <a:solidFill>
                  <a:schemeClr val="accent2">
                    <a:lumMod val="75000"/>
                  </a:schemeClr>
                </a:solidFill>
                <a:latin typeface="+mj-lt"/>
                <a:ea typeface="黑体" panose="02010609060101010101" pitchFamily="49" charset="-122"/>
                <a:cs typeface="+mj-lt"/>
                <a:sym typeface="+mn-ea"/>
              </a:rPr>
              <a:t>实验</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，包括如下三个实验：</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a:t>
            </a:r>
            <a:r>
              <a:rPr lang="zh-CN" altLang="en-US" sz="2300" dirty="0" smtClean="0">
                <a:solidFill>
                  <a:schemeClr val="tx1"/>
                </a:solidFill>
                <a:latin typeface="+mj-lt"/>
                <a:ea typeface="黑体" panose="02010609060101010101" pitchFamily="49" charset="-122"/>
                <a:cs typeface="+mj-lt"/>
                <a:sym typeface="Symbol" panose="05050102010706020507" charset="0"/>
              </a:rPr>
              <a:t>可控加减法电路设计</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solidFill>
                  <a:schemeClr val="tx1"/>
                </a:solidFill>
                <a:latin typeface="+mj-lt"/>
                <a:ea typeface="黑体" panose="02010609060101010101" pitchFamily="49" charset="-122"/>
                <a:cs typeface="+mj-lt"/>
                <a:sym typeface="Symbol" panose="05050102010706020507" charset="0"/>
              </a:rPr>
              <a:t>       2. </a:t>
            </a:r>
            <a:r>
              <a:rPr lang="zh-CN" altLang="en-US" sz="2300" dirty="0" smtClean="0">
                <a:solidFill>
                  <a:schemeClr val="tx1"/>
                </a:solidFill>
                <a:latin typeface="+mj-lt"/>
                <a:ea typeface="黑体" panose="02010609060101010101" pitchFamily="49" charset="-122"/>
                <a:cs typeface="+mj-lt"/>
                <a:sym typeface="Symbol" panose="05050102010706020507" charset="0"/>
              </a:rPr>
              <a:t>4位快速加减法设计（选做）</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solidFill>
                  <a:schemeClr val="tx1"/>
                </a:solidFill>
                <a:latin typeface="+mj-lt"/>
                <a:ea typeface="黑体" panose="02010609060101010101" pitchFamily="49" charset="-122"/>
                <a:cs typeface="+mj-lt"/>
                <a:sym typeface="Symbol" panose="05050102010706020507" charset="0"/>
              </a:rPr>
              <a:t>       3. </a:t>
            </a:r>
            <a:r>
              <a:rPr lang="zh-CN" altLang="en-US" sz="2300" dirty="0" smtClean="0">
                <a:solidFill>
                  <a:schemeClr val="tx1"/>
                </a:solidFill>
                <a:latin typeface="+mj-lt"/>
                <a:ea typeface="黑体" panose="02010609060101010101" pitchFamily="49" charset="-122"/>
                <a:cs typeface="+mj-lt"/>
                <a:sym typeface="Symbol" panose="05050102010706020507" charset="0"/>
              </a:rPr>
              <a:t>32位ALU设计</a:t>
            </a:r>
            <a:endParaRPr lang="zh-CN" altLang="en-US" sz="2400" dirty="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zh-CN" altLang="en-US" sz="2400" dirty="0">
                <a:solidFill>
                  <a:schemeClr val="accent2">
                    <a:lumMod val="75000"/>
                  </a:schemeClr>
                </a:solidFill>
                <a:latin typeface="+mj-lt"/>
                <a:ea typeface="黑体" panose="02010609060101010101" pitchFamily="49" charset="-122"/>
                <a:cs typeface="+mj-lt"/>
                <a:sym typeface="+mn-ea"/>
              </a:rPr>
              <a:t>  * 实验前准备：</a:t>
            </a:r>
            <a:endParaRPr lang="zh-CN" altLang="en-US" sz="2400" dirty="0">
              <a:solidFill>
                <a:schemeClr val="accent2">
                  <a:lumMod val="75000"/>
                </a:schemeClr>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复习教材</a:t>
            </a:r>
            <a:r>
              <a:rPr lang="en-US" altLang="zh-CN" sz="2300" dirty="0" smtClean="0">
                <a:solidFill>
                  <a:schemeClr val="tx1"/>
                </a:solidFill>
                <a:latin typeface="+mj-lt"/>
                <a:ea typeface="黑体" panose="02010609060101010101" pitchFamily="49" charset="-122"/>
                <a:cs typeface="+mj-lt"/>
                <a:sym typeface="Symbol" panose="05050102010706020507" charset="0"/>
              </a:rPr>
              <a:t>/</a:t>
            </a:r>
            <a:r>
              <a:rPr lang="zh-CN" altLang="en-US" sz="2300" dirty="0" smtClean="0">
                <a:solidFill>
                  <a:schemeClr val="tx1"/>
                </a:solidFill>
                <a:latin typeface="+mj-lt"/>
                <a:ea typeface="黑体" panose="02010609060101010101" pitchFamily="49" charset="-122"/>
                <a:cs typeface="+mj-lt"/>
                <a:sym typeface="Symbol" panose="05050102010706020507" charset="0"/>
              </a:rPr>
              <a:t>课件第</a:t>
            </a:r>
            <a:r>
              <a:rPr lang="en-US" altLang="zh-CN" sz="2300" dirty="0" smtClean="0">
                <a:solidFill>
                  <a:schemeClr val="tx1"/>
                </a:solidFill>
                <a:latin typeface="+mj-lt"/>
                <a:ea typeface="黑体" panose="02010609060101010101" pitchFamily="49" charset="-122"/>
                <a:cs typeface="+mj-lt"/>
                <a:sym typeface="Symbol" panose="05050102010706020507" charset="0"/>
              </a:rPr>
              <a:t>3</a:t>
            </a:r>
            <a:r>
              <a:rPr lang="zh-CN" altLang="en-US" sz="2300" dirty="0" smtClean="0">
                <a:solidFill>
                  <a:schemeClr val="tx1"/>
                </a:solidFill>
                <a:latin typeface="+mj-lt"/>
                <a:ea typeface="黑体" panose="02010609060101010101" pitchFamily="49" charset="-122"/>
                <a:cs typeface="+mj-lt"/>
                <a:sym typeface="Symbol" panose="05050102010706020507" charset="0"/>
              </a:rPr>
              <a:t>章的内容；</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认真阅读和理解实验要求。</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31275" cy="269494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可控加减法电路设计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实验目的</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掌握1位全加器的实现逻辑，掌握多位可控加减法电路的实现逻辑</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solidFill>
                  <a:schemeClr val="tx1"/>
                </a:solidFill>
                <a:latin typeface="+mj-lt"/>
                <a:ea typeface="黑体" panose="02010609060101010101" pitchFamily="49" charset="-122"/>
                <a:cs typeface="+mj-lt"/>
                <a:sym typeface="Symbol" panose="05050102010706020507" charset="0"/>
              </a:rPr>
              <a:t>   - 通过实验尽快熟悉Logisim平台基本功能，能在Logisim中实现多位可控加减法电路</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6205" y="1803400"/>
            <a:ext cx="8903335" cy="4680585"/>
          </a:xfrm>
          <a:prstGeom prst="rect">
            <a:avLst/>
          </a:prstGeom>
        </p:spPr>
      </p:pic>
      <p:sp>
        <p:nvSpPr>
          <p:cNvPr id="15363" name="Rectangle 3"/>
          <p:cNvSpPr>
            <a:spLocks noGrp="1" noRot="1"/>
          </p:cNvSpPr>
          <p:nvPr>
            <p:ph type="subTitle" idx="1"/>
            <p:custDataLst>
              <p:tags r:id="rId2"/>
            </p:custDataLst>
          </p:nvPr>
        </p:nvSpPr>
        <p:spPr>
          <a:xfrm>
            <a:off x="88900" y="795655"/>
            <a:ext cx="8931275" cy="101981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可控加减法电路设计</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3"/>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1275" cy="513080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可控加减法电路设计</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该电路在n位串行加法器中引入Sub控制信号，操作数Y的所有位Y</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均与Sub信号进行异或后被送入n位串行加法器。</a:t>
            </a:r>
            <a:r>
              <a:rPr sz="2200" b="0" dirty="0" smtClean="0">
                <a:solidFill>
                  <a:schemeClr val="tx1"/>
                </a:solidFill>
                <a:latin typeface="+mj-lt"/>
                <a:ea typeface="黑体" panose="02010609060101010101" pitchFamily="49" charset="-122"/>
                <a:cs typeface="+mj-lt"/>
                <a:sym typeface="Symbol" panose="05050102010706020507" charset="0"/>
              </a:rPr>
              <a:t>当Sub=0时，送入加法器的是Y本身；当Sub=1时，送入加法器的是Y的反码。另外Sub连接到加法器最低位的进位输入，实现了对Y操作数逐位取反、末位加1的求补过程，从而完成减法操作。而当Sub=0时，低位进位为0，不影响加法结果的正确性。</a:t>
            </a:r>
            <a:endParaRPr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Symbol" panose="05050102010706020507" charset="0"/>
              </a:rPr>
              <a:t>         对于减法运算的溢出检测，</a:t>
            </a:r>
            <a:r>
              <a:rPr sz="2200" b="0" dirty="0" smtClean="0">
                <a:solidFill>
                  <a:schemeClr val="tx1"/>
                </a:solidFill>
                <a:latin typeface="+mj-lt"/>
                <a:ea typeface="黑体" panose="02010609060101010101" pitchFamily="49" charset="-122"/>
                <a:cs typeface="+mj-lt"/>
                <a:sym typeface="Symbol" panose="05050102010706020507" charset="0"/>
              </a:rPr>
              <a:t>最直观的判断依据是正数减负数结果为负数，负数减正数结果为正数，但因为减法变成了加法运算，所以也可以直接利用有符号加法溢出检测信号overfow进行溢出检测。</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31275" cy="213550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可控加减法电路设计</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利用Logisim打开实验资料包中的alu.circ文件，在对应子电路中利用已封装好的全加器设计8位串行可控加减法电路，其电路封装与引脚功能描述如表2.1所示</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86360" y="3037840"/>
            <a:ext cx="8981440" cy="329438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104775" y="795655"/>
            <a:ext cx="8931275" cy="256032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可控加减法电路设计</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8位串行可控加减法电路框架如图2.1所示，请在相应电路中使用对应引脚的隧道标签实现相应的加减法控制逻辑。注意这里X、Y、S引脚的每一位均用分线器连接到了对应隧道标签</a:t>
            </a:r>
            <a:r>
              <a:rPr lang="zh-CN" sz="2300" dirty="0" smtClean="0">
                <a:solidFill>
                  <a:schemeClr val="tx1"/>
                </a:solidFill>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绘图时可灵活复制使用</a:t>
            </a:r>
            <a:r>
              <a:rPr lang="en-US" altLang="zh-CN" sz="2300" b="0" dirty="0" smtClean="0">
                <a:solidFill>
                  <a:schemeClr val="tx1"/>
                </a:solidFill>
                <a:latin typeface="+mj-lt"/>
                <a:ea typeface="黑体" panose="02010609060101010101" pitchFamily="49" charset="-122"/>
                <a:cs typeface="+mj-lt"/>
                <a:sym typeface="Symbol" panose="05050102010706020507" charset="0"/>
              </a:rPr>
              <a:t>。</a:t>
            </a:r>
            <a:endParaRPr lang="en-US" altLang="zh-CN"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462280" y="3504565"/>
            <a:ext cx="8362950" cy="1714500"/>
          </a:xfrm>
          <a:prstGeom prst="rect">
            <a:avLst/>
          </a:prstGeom>
        </p:spPr>
      </p:pic>
      <p:pic>
        <p:nvPicPr>
          <p:cNvPr id="7" name="图片 6"/>
          <p:cNvPicPr>
            <a:picLocks noChangeAspect="1"/>
          </p:cNvPicPr>
          <p:nvPr/>
        </p:nvPicPr>
        <p:blipFill>
          <a:blip r:embed="rId4"/>
          <a:stretch>
            <a:fillRect/>
          </a:stretch>
        </p:blipFill>
        <p:spPr>
          <a:xfrm>
            <a:off x="2339340" y="3086100"/>
            <a:ext cx="4616450" cy="353695"/>
          </a:xfrm>
          <a:prstGeom prst="rect">
            <a:avLst/>
          </a:prstGeom>
        </p:spPr>
      </p:pic>
      <p:sp>
        <p:nvSpPr>
          <p:cNvPr id="8" name="Rectangle 3"/>
          <p:cNvSpPr>
            <a:spLocks noGrp="1" noRot="1"/>
          </p:cNvSpPr>
          <p:nvPr>
            <p:custDataLst>
              <p:tags r:id="rId5"/>
            </p:custDataLst>
          </p:nvPr>
        </p:nvSpPr>
        <p:spPr>
          <a:xfrm>
            <a:off x="104775" y="5299710"/>
            <a:ext cx="8930640" cy="108648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8位串行可控加减法电路是组合电路，设计完成后可以利用</a:t>
            </a:r>
            <a:r>
              <a:rPr lang="zh-CN" sz="2300" dirty="0" smtClean="0">
                <a:solidFill>
                  <a:schemeClr val="tx1"/>
                </a:solidFill>
                <a:latin typeface="+mj-lt"/>
                <a:ea typeface="黑体" panose="02010609060101010101" pitchFamily="49" charset="-122"/>
                <a:cs typeface="+mj-lt"/>
                <a:sym typeface="Symbol" panose="05050102010706020507" charset="0"/>
              </a:rPr>
              <a:t>手</a:t>
            </a:r>
            <a:r>
              <a:rPr sz="2300" dirty="0" smtClean="0">
                <a:solidFill>
                  <a:schemeClr val="tx1"/>
                </a:solidFill>
                <a:latin typeface="+mj-lt"/>
                <a:ea typeface="黑体" panose="02010609060101010101" pitchFamily="49" charset="-122"/>
                <a:cs typeface="+mj-lt"/>
                <a:sym typeface="Symbol" panose="05050102010706020507" charset="0"/>
              </a:rPr>
              <a:t>形</a:t>
            </a:r>
            <a:r>
              <a:rPr lang="zh-CN" sz="2300" dirty="0" smtClean="0">
                <a:solidFill>
                  <a:schemeClr val="tx1"/>
                </a:solidFill>
                <a:latin typeface="+mj-lt"/>
                <a:ea typeface="黑体" panose="02010609060101010101" pitchFamily="49" charset="-122"/>
                <a:cs typeface="+mj-lt"/>
                <a:sym typeface="Symbol" panose="05050102010706020507" charset="0"/>
              </a:rPr>
              <a:t>戳</a:t>
            </a:r>
            <a:r>
              <a:rPr sz="2300" dirty="0" smtClean="0">
                <a:solidFill>
                  <a:schemeClr val="tx1"/>
                </a:solidFill>
                <a:latin typeface="+mj-lt"/>
                <a:ea typeface="黑体" panose="02010609060101010101" pitchFamily="49" charset="-122"/>
                <a:cs typeface="+mj-lt"/>
                <a:sym typeface="Symbol" panose="05050102010706020507" charset="0"/>
              </a:rPr>
              <a:t>工具单击输人引脚，设置输入引脚的值，尝试设置不同的输入组合，观察探测区运算结果是否正确。</a:t>
            </a:r>
            <a:endParaRPr lang="en-US" altLang="zh-CN"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334518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.4位快速加减法设计（选做）</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实验目的</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掌握先行进位的原理，能利用相关知识设计4位先行进位电路，并利用设计的4位先行进位电路构造4位快速加法器。</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537083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n位串行加法电路中</a:t>
            </a:r>
            <a:r>
              <a:rPr lang="zh-CN" sz="2300" dirty="0" smtClean="0">
                <a:solidFill>
                  <a:schemeClr val="tx1"/>
                </a:solidFill>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高位的运算依赖低位进位输入C</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，所以所有全加器不能并行运行</a:t>
            </a:r>
            <a:r>
              <a:rPr lang="zh-CN" sz="2300" dirty="0" smtClean="0">
                <a:solidFill>
                  <a:schemeClr val="tx1"/>
                </a:solidFill>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当位宽较大时性能较差。</a:t>
            </a:r>
            <a:r>
              <a:rPr sz="2300" b="0" dirty="0" smtClean="0">
                <a:solidFill>
                  <a:schemeClr val="tx1"/>
                </a:solidFill>
                <a:latin typeface="+mj-lt"/>
                <a:ea typeface="黑体" panose="02010609060101010101" pitchFamily="49" charset="-122"/>
                <a:cs typeface="+mj-lt"/>
                <a:sym typeface="Symbol" panose="05050102010706020507" charset="0"/>
              </a:rPr>
              <a:t>引起这个问题的根源是进位链依赖，如果能打破这种依赖关系，提前得到所有全加器所需的进位输入信号，则所有全加器都可以并行运算，从而能提高运算性能。</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Symbol" panose="05050102010706020507" charset="0"/>
              </a:rPr>
              <a:t>   </a:t>
            </a:r>
            <a:r>
              <a:rPr 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  n位串行加法电路中和数与进位输出的逻辑表达式如下：</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Symbol" panose="05050102010706020507" charset="0"/>
              </a:rPr>
              <a:t>               </a:t>
            </a:r>
            <a:r>
              <a:rPr sz="2300" b="0" dirty="0" smtClean="0">
                <a:solidFill>
                  <a:schemeClr val="tx1"/>
                </a:solidFill>
                <a:latin typeface="+mj-lt"/>
                <a:ea typeface="黑体" panose="02010609060101010101" pitchFamily="49" charset="-122"/>
                <a:cs typeface="+mj-lt"/>
                <a:sym typeface="Symbol" panose="05050102010706020507" charset="0"/>
              </a:rPr>
              <a:t>S</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 X</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a:t>
            </a:r>
            <a:r>
              <a:rPr lang="en-US" sz="2300" b="0" dirty="0" smtClean="0">
                <a:solidFill>
                  <a:schemeClr val="tx1"/>
                </a:solidFill>
                <a:latin typeface="+mj-lt"/>
                <a:ea typeface="黑体" panose="02010609060101010101" pitchFamily="49" charset="-122"/>
                <a:cs typeface="+mj-lt"/>
                <a:sym typeface="Symbol" panose="05050102010706020507" charset="0"/>
              </a:rPr>
              <a:t> </a:t>
            </a:r>
            <a:r>
              <a:rPr sz="2300" b="0" dirty="0" smtClean="0">
                <a:solidFill>
                  <a:schemeClr val="tx1"/>
                </a:solidFill>
                <a:latin typeface="+mj-lt"/>
                <a:ea typeface="黑体" panose="02010609060101010101" pitchFamily="49" charset="-122"/>
                <a:cs typeface="+mj-lt"/>
                <a:sym typeface="Symbol" panose="05050102010706020507" charset="0"/>
              </a:rPr>
              <a:t>Y</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a:t>
            </a:r>
            <a:r>
              <a:rPr sz="2300" b="0" dirty="0" smtClean="0">
                <a:latin typeface="+mj-lt"/>
                <a:ea typeface="黑体" panose="02010609060101010101" pitchFamily="49" charset="-122"/>
                <a:cs typeface="+mj-lt"/>
                <a:sym typeface="Symbol" panose="05050102010706020507" charset="0"/>
              </a:rPr>
              <a:t></a:t>
            </a:r>
            <a:r>
              <a:rPr sz="2300" b="0" dirty="0" smtClean="0">
                <a:solidFill>
                  <a:schemeClr val="tx1"/>
                </a:solidFill>
                <a:latin typeface="+mj-lt"/>
                <a:ea typeface="黑体" panose="02010609060101010101" pitchFamily="49" charset="-122"/>
                <a:cs typeface="+mj-lt"/>
                <a:sym typeface="Symbol" panose="05050102010706020507" charset="0"/>
              </a:rPr>
              <a:t> C</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C</a:t>
            </a:r>
            <a:r>
              <a:rPr sz="2300" b="0" baseline="-25000" dirty="0" smtClean="0">
                <a:solidFill>
                  <a:schemeClr val="tx1"/>
                </a:solidFill>
                <a:latin typeface="+mj-lt"/>
                <a:ea typeface="黑体" panose="02010609060101010101" pitchFamily="49" charset="-122"/>
                <a:cs typeface="+mj-lt"/>
                <a:sym typeface="Symbol" panose="05050102010706020507" charset="0"/>
              </a:rPr>
              <a:t>i+1</a:t>
            </a:r>
            <a:r>
              <a:rPr sz="2300" b="0" dirty="0" smtClean="0">
                <a:solidFill>
                  <a:schemeClr val="tx1"/>
                </a:solidFill>
                <a:latin typeface="+mj-lt"/>
                <a:ea typeface="黑体" panose="02010609060101010101" pitchFamily="49" charset="-122"/>
                <a:cs typeface="+mj-lt"/>
                <a:sym typeface="Symbol" panose="05050102010706020507" charset="0"/>
              </a:rPr>
              <a:t> = X</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Y</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 (X</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a:t>
            </a:r>
            <a:r>
              <a:rPr sz="2300" b="0" dirty="0" smtClean="0">
                <a:latin typeface="+mj-lt"/>
                <a:ea typeface="黑体" panose="02010609060101010101" pitchFamily="49" charset="-122"/>
                <a:cs typeface="+mj-lt"/>
                <a:sym typeface="Symbol" panose="05050102010706020507" charset="0"/>
              </a:rPr>
              <a:t></a:t>
            </a:r>
            <a:r>
              <a:rPr sz="2300" b="0" dirty="0" smtClean="0">
                <a:solidFill>
                  <a:schemeClr val="tx1"/>
                </a:solidFill>
                <a:latin typeface="+mj-lt"/>
                <a:ea typeface="黑体" panose="02010609060101010101" pitchFamily="49" charset="-122"/>
                <a:cs typeface="+mj-lt"/>
                <a:sym typeface="Symbol" panose="05050102010706020507" charset="0"/>
              </a:rPr>
              <a:t> Y</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C</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（3-13）</a:t>
            </a:r>
            <a:endParaRPr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 假设G</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 = X</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 Y</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，P</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 = X</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 </a:t>
            </a:r>
            <a:r>
              <a:rPr sz="2300" dirty="0" smtClean="0">
                <a:latin typeface="+mj-lt"/>
                <a:ea typeface="黑体" panose="02010609060101010101" pitchFamily="49" charset="-122"/>
                <a:cs typeface="+mj-lt"/>
                <a:sym typeface="Symbol" panose="05050102010706020507" charset="0"/>
              </a:rPr>
              <a:t></a:t>
            </a:r>
            <a:r>
              <a:rPr lang="en-US" sz="2300" dirty="0" smtClean="0">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Y</a:t>
            </a:r>
            <a:r>
              <a:rPr sz="2300" baseline="-25000" dirty="0" smtClean="0">
                <a:solidFill>
                  <a:schemeClr val="tx1"/>
                </a:solidFill>
                <a:latin typeface="+mj-lt"/>
                <a:ea typeface="黑体" panose="02010609060101010101" pitchFamily="49" charset="-122"/>
                <a:cs typeface="+mj-lt"/>
                <a:sym typeface="Symbol" panose="05050102010706020507" charset="0"/>
              </a:rPr>
              <a:t>i</a:t>
            </a:r>
            <a:r>
              <a:rPr sz="2300" dirty="0" smtClean="0">
                <a:solidFill>
                  <a:schemeClr val="tx1"/>
                </a:solidFill>
                <a:latin typeface="+mj-lt"/>
                <a:ea typeface="黑体" panose="02010609060101010101" pitchFamily="49" charset="-122"/>
                <a:cs typeface="+mj-lt"/>
                <a:sym typeface="Symbol" panose="05050102010706020507" charset="0"/>
              </a:rPr>
              <a:t>，则式(3-13)可以转换成如下公式：</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Symbol" panose="05050102010706020507" charset="0"/>
              </a:rPr>
              <a:t>              </a:t>
            </a:r>
            <a:r>
              <a:rPr sz="2300" b="0" dirty="0" smtClean="0">
                <a:solidFill>
                  <a:schemeClr val="tx1"/>
                </a:solidFill>
                <a:latin typeface="+mj-lt"/>
                <a:ea typeface="黑体" panose="02010609060101010101" pitchFamily="49" charset="-122"/>
                <a:cs typeface="+mj-lt"/>
                <a:sym typeface="Symbol" panose="05050102010706020507" charset="0"/>
              </a:rPr>
              <a:t> S</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 P</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a:t>
            </a:r>
            <a:r>
              <a:rPr sz="2300" b="0" dirty="0" smtClean="0">
                <a:latin typeface="+mj-lt"/>
                <a:ea typeface="黑体" panose="02010609060101010101" pitchFamily="49" charset="-122"/>
                <a:cs typeface="+mj-lt"/>
                <a:sym typeface="Symbol" panose="05050102010706020507" charset="0"/>
              </a:rPr>
              <a:t></a:t>
            </a:r>
            <a:r>
              <a:rPr sz="2300" b="0" dirty="0" smtClean="0">
                <a:solidFill>
                  <a:schemeClr val="tx1"/>
                </a:solidFill>
                <a:latin typeface="+mj-lt"/>
                <a:ea typeface="黑体" panose="02010609060101010101" pitchFamily="49" charset="-122"/>
                <a:cs typeface="+mj-lt"/>
                <a:sym typeface="Symbol" panose="05050102010706020507" charset="0"/>
              </a:rPr>
              <a:t> C</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C</a:t>
            </a:r>
            <a:r>
              <a:rPr sz="2300" b="0" baseline="-25000" dirty="0" smtClean="0">
                <a:solidFill>
                  <a:schemeClr val="tx1"/>
                </a:solidFill>
                <a:latin typeface="+mj-lt"/>
                <a:ea typeface="黑体" panose="02010609060101010101" pitchFamily="49" charset="-122"/>
                <a:cs typeface="+mj-lt"/>
                <a:sym typeface="Symbol" panose="05050102010706020507" charset="0"/>
              </a:rPr>
              <a:t>i+1</a:t>
            </a:r>
            <a:r>
              <a:rPr sz="2300" b="0" dirty="0" smtClean="0">
                <a:solidFill>
                  <a:schemeClr val="tx1"/>
                </a:solidFill>
                <a:latin typeface="+mj-lt"/>
                <a:ea typeface="黑体" panose="02010609060101010101" pitchFamily="49" charset="-122"/>
                <a:cs typeface="+mj-lt"/>
                <a:sym typeface="Symbol" panose="05050102010706020507" charset="0"/>
              </a:rPr>
              <a:t> = G</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 P</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C</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（3-14） </a:t>
            </a:r>
            <a:endParaRPr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b="0" dirty="0" smtClean="0">
                <a:solidFill>
                  <a:schemeClr val="tx1"/>
                </a:solidFill>
                <a:latin typeface="+mj-lt"/>
                <a:ea typeface="黑体" panose="02010609060101010101" pitchFamily="49" charset="-122"/>
                <a:cs typeface="+mj-lt"/>
                <a:sym typeface="Symbol" panose="05050102010706020507" charset="0"/>
              </a:rPr>
              <a:t>         G</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称为进位生成函数，P</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称为进位传递函数。</a:t>
            </a:r>
            <a:endParaRPr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3"/>
          <p:cNvSpPr>
            <a:spLocks noGrp="1" noRot="1"/>
          </p:cNvSpPr>
          <p:nvPr>
            <p:ph type="subTitle" idx="1"/>
            <p:custDataLst>
              <p:tags r:id="rId1"/>
            </p:custDataLst>
          </p:nvPr>
        </p:nvSpPr>
        <p:spPr>
          <a:xfrm>
            <a:off x="42545" y="795655"/>
            <a:ext cx="9034145" cy="156083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由式（3-14）可得：</a:t>
            </a:r>
            <a:endParaRPr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2" name="图片 1"/>
          <p:cNvPicPr>
            <a:picLocks noChangeAspect="1"/>
          </p:cNvPicPr>
          <p:nvPr/>
        </p:nvPicPr>
        <p:blipFill>
          <a:blip r:embed="rId2"/>
          <a:stretch>
            <a:fillRect/>
          </a:stretch>
        </p:blipFill>
        <p:spPr>
          <a:xfrm>
            <a:off x="439420" y="2275840"/>
            <a:ext cx="7820025" cy="2250440"/>
          </a:xfrm>
          <a:prstGeom prst="rect">
            <a:avLst/>
          </a:prstGeom>
        </p:spPr>
      </p:pic>
      <p:sp>
        <p:nvSpPr>
          <p:cNvPr id="4" name="Rectangle 2"/>
          <p:cNvSpPr>
            <a:spLocks noGrp="1"/>
          </p:cNvSpPr>
          <p:nvPr>
            <p:ph type="title"/>
            <p:custDataLst>
              <p:tags r:id="rId3"/>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Rectangle 3"/>
          <p:cNvSpPr>
            <a:spLocks noGrp="1" noRot="1"/>
          </p:cNvSpPr>
          <p:nvPr>
            <p:custDataLst>
              <p:tags r:id="rId4"/>
            </p:custDataLst>
          </p:nvPr>
        </p:nvSpPr>
        <p:spPr>
          <a:xfrm>
            <a:off x="97790" y="4151630"/>
            <a:ext cx="9034145" cy="191389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95000"/>
              </a:lnSpc>
              <a:spcBef>
                <a:spcPts val="1200"/>
              </a:spcBef>
              <a:buSzTx/>
              <a:buFont typeface="Wingdings" panose="05000000000000000000" pitchFamily="2" charset="2"/>
              <a:buNone/>
            </a:pPr>
            <a:r>
              <a:rPr sz="2300" b="0" dirty="0" smtClean="0">
                <a:solidFill>
                  <a:schemeClr val="tx1"/>
                </a:solidFill>
                <a:latin typeface="+mj-lt"/>
                <a:ea typeface="黑体" panose="02010609060101010101" pitchFamily="49" charset="-122"/>
                <a:cs typeface="+mj-lt"/>
                <a:sym typeface="Symbol" panose="05050102010706020507" charset="0"/>
              </a:rPr>
              <a:t>                                                                                                (3-15)</a:t>
            </a:r>
            <a:endParaRPr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b="0" dirty="0" smtClean="0">
                <a:solidFill>
                  <a:schemeClr val="tx1"/>
                </a:solidFill>
                <a:latin typeface="+mj-lt"/>
                <a:ea typeface="黑体" panose="02010609060101010101" pitchFamily="49" charset="-122"/>
                <a:cs typeface="+mj-lt"/>
                <a:sym typeface="Symbol" panose="05050102010706020507" charset="0"/>
              </a:rPr>
              <a:t>         式(3-15)表明</a:t>
            </a:r>
            <a:r>
              <a:rPr lang="zh-CN" sz="2300" b="0" dirty="0" smtClean="0">
                <a:solidFill>
                  <a:schemeClr val="tx1"/>
                </a:solidFill>
                <a:latin typeface="+mj-lt"/>
                <a:ea typeface="黑体" panose="02010609060101010101" pitchFamily="49" charset="-122"/>
                <a:cs typeface="+mj-lt"/>
                <a:sym typeface="Symbol" panose="05050102010706020507" charset="0"/>
              </a:rPr>
              <a:t>，</a:t>
            </a:r>
            <a:r>
              <a:rPr sz="2300" b="0" dirty="0" smtClean="0">
                <a:solidFill>
                  <a:schemeClr val="tx1"/>
                </a:solidFill>
                <a:latin typeface="+mj-lt"/>
                <a:ea typeface="黑体" panose="02010609060101010101" pitchFamily="49" charset="-122"/>
                <a:cs typeface="+mj-lt"/>
                <a:sym typeface="Symbol" panose="05050102010706020507" charset="0"/>
              </a:rPr>
              <a:t>高位进位输出可以由已知的变量G</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、P</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以及C</a:t>
            </a:r>
            <a:r>
              <a:rPr sz="2300" b="0" baseline="-25000" dirty="0" smtClean="0">
                <a:solidFill>
                  <a:schemeClr val="tx1"/>
                </a:solidFill>
                <a:latin typeface="+mj-lt"/>
                <a:ea typeface="黑体" panose="02010609060101010101" pitchFamily="49" charset="-122"/>
                <a:cs typeface="+mj-lt"/>
                <a:sym typeface="Symbol" panose="05050102010706020507" charset="0"/>
              </a:rPr>
              <a:t>0</a:t>
            </a:r>
            <a:r>
              <a:rPr sz="2300" b="0" dirty="0" smtClean="0">
                <a:solidFill>
                  <a:schemeClr val="tx1"/>
                </a:solidFill>
                <a:latin typeface="+mj-lt"/>
                <a:ea typeface="黑体" panose="02010609060101010101" pitchFamily="49" charset="-122"/>
                <a:cs typeface="+mj-lt"/>
                <a:sym typeface="Symbol" panose="05050102010706020507" charset="0"/>
              </a:rPr>
              <a:t>经过逻辑运算得到。根据公式利用额外的组合逻辑电路提前产生各位加法运算需要的所有进位输入，再利用S</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 P</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 </a:t>
            </a:r>
            <a:r>
              <a:rPr sz="2300" dirty="0" smtClean="0">
                <a:latin typeface="+mj-lt"/>
                <a:ea typeface="黑体" panose="02010609060101010101" pitchFamily="49" charset="-122"/>
                <a:cs typeface="+mj-lt"/>
                <a:sym typeface="Symbol" panose="05050102010706020507" charset="0"/>
              </a:rPr>
              <a:t></a:t>
            </a:r>
            <a:r>
              <a:rPr lang="en-US" sz="2300" dirty="0" smtClean="0">
                <a:latin typeface="+mj-lt"/>
                <a:ea typeface="黑体" panose="02010609060101010101" pitchFamily="49" charset="-122"/>
                <a:cs typeface="+mj-lt"/>
                <a:sym typeface="Symbol" panose="05050102010706020507" charset="0"/>
              </a:rPr>
              <a:t> </a:t>
            </a:r>
            <a:r>
              <a:rPr sz="2300" b="0" dirty="0" smtClean="0">
                <a:solidFill>
                  <a:schemeClr val="tx1"/>
                </a:solidFill>
                <a:latin typeface="+mj-lt"/>
                <a:ea typeface="黑体" panose="02010609060101010101" pitchFamily="49" charset="-122"/>
                <a:cs typeface="+mj-lt"/>
                <a:sym typeface="Symbol" panose="05050102010706020507" charset="0"/>
              </a:rPr>
              <a:t>C</a:t>
            </a:r>
            <a:r>
              <a:rPr sz="2300" b="0" baseline="-25000" dirty="0" smtClean="0">
                <a:solidFill>
                  <a:schemeClr val="tx1"/>
                </a:solidFill>
                <a:latin typeface="+mj-lt"/>
                <a:ea typeface="黑体" panose="02010609060101010101" pitchFamily="49" charset="-122"/>
                <a:cs typeface="+mj-lt"/>
                <a:sym typeface="Symbol" panose="05050102010706020507" charset="0"/>
              </a:rPr>
              <a:t>i</a:t>
            </a:r>
            <a:r>
              <a:rPr sz="2300" b="0" dirty="0" smtClean="0">
                <a:solidFill>
                  <a:schemeClr val="tx1"/>
                </a:solidFill>
                <a:latin typeface="+mj-lt"/>
                <a:ea typeface="黑体" panose="02010609060101010101" pitchFamily="49" charset="-122"/>
                <a:cs typeface="+mj-lt"/>
                <a:sym typeface="Symbol" panose="05050102010706020507" charset="0"/>
              </a:rPr>
              <a:t>，进行一级异或门运算即可得到最终的和数，这就是先行进位的基本原理。</a:t>
            </a:r>
            <a:endParaRPr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3"/>
          <p:cNvSpPr>
            <a:spLocks noGrp="1" noRot="1"/>
          </p:cNvSpPr>
          <p:nvPr>
            <p:ph type="subTitle" idx="1"/>
            <p:custDataLst>
              <p:tags r:id="rId1"/>
            </p:custDataLst>
          </p:nvPr>
        </p:nvSpPr>
        <p:spPr>
          <a:xfrm>
            <a:off x="42545" y="795655"/>
            <a:ext cx="9034145" cy="571881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根据C</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300" dirty="0" smtClean="0">
                <a:solidFill>
                  <a:schemeClr val="tx1"/>
                </a:solidFill>
                <a:latin typeface="+mj-lt"/>
                <a:ea typeface="黑体" panose="02010609060101010101" pitchFamily="49" charset="-122"/>
                <a:cs typeface="+mj-lt"/>
                <a:sym typeface="Symbol" panose="05050102010706020507" charset="0"/>
              </a:rPr>
              <a:t>～C</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4</a:t>
            </a:r>
            <a:r>
              <a:rPr lang="en-US" altLang="zh-CN" sz="2300" dirty="0" smtClean="0">
                <a:solidFill>
                  <a:schemeClr val="tx1"/>
                </a:solidFill>
                <a:latin typeface="+mj-lt"/>
                <a:ea typeface="黑体" panose="02010609060101010101" pitchFamily="49" charset="-122"/>
                <a:cs typeface="+mj-lt"/>
                <a:sym typeface="Symbol" panose="05050102010706020507" charset="0"/>
              </a:rPr>
              <a:t>的逻辑表达式可得到图3.5所示的4位先行进位（CLA）电路。</a:t>
            </a:r>
            <a:r>
              <a:rPr lang="en-US" altLang="zh-CN" sz="2300" b="0" dirty="0" smtClean="0">
                <a:solidFill>
                  <a:schemeClr val="tx1"/>
                </a:solidFill>
                <a:latin typeface="+mj-lt"/>
                <a:ea typeface="黑体" panose="02010609060101010101" pitchFamily="49" charset="-122"/>
                <a:cs typeface="+mj-lt"/>
                <a:sym typeface="Symbol" panose="05050102010706020507" charset="0"/>
              </a:rPr>
              <a:t>图中采用了多扇入系数（多输入引脚）的逻辑门</a:t>
            </a:r>
            <a:r>
              <a:rPr lang="en-US" altLang="zh-CN" sz="2300" dirty="0" smtClean="0">
                <a:solidFill>
                  <a:schemeClr val="tx1"/>
                </a:solidFill>
                <a:latin typeface="+mj-lt"/>
                <a:ea typeface="黑体" panose="02010609060101010101" pitchFamily="49" charset="-122"/>
                <a:cs typeface="+mj-lt"/>
                <a:sym typeface="Symbol" panose="05050102010706020507" charset="0"/>
              </a:rPr>
              <a:t>。</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latin typeface="+mj-lt"/>
                <a:ea typeface="黑体" panose="02010609060101010101" pitchFamily="49" charset="-122"/>
                <a:cs typeface="+mj-lt"/>
                <a:sym typeface="Symbol" panose="05050102010706020507" charset="0"/>
              </a:rPr>
              <a:t>-</a:t>
            </a:r>
            <a:r>
              <a:rPr lang="en-US" altLang="zh-CN" sz="2300" dirty="0" smtClean="0">
                <a:solidFill>
                  <a:schemeClr val="tx1"/>
                </a:solidFill>
                <a:latin typeface="+mj-lt"/>
                <a:ea typeface="黑体" panose="02010609060101010101" pitchFamily="49" charset="-122"/>
                <a:cs typeface="+mj-lt"/>
                <a:sym typeface="Symbol" panose="05050102010706020507" charset="0"/>
              </a:rPr>
              <a:t> 图中的G* = G</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300" dirty="0" smtClean="0">
                <a:solidFill>
                  <a:schemeClr val="tx1"/>
                </a:solidFill>
                <a:latin typeface="+mj-lt"/>
                <a:ea typeface="黑体" panose="02010609060101010101" pitchFamily="49" charset="-122"/>
                <a:cs typeface="+mj-lt"/>
                <a:sym typeface="Symbol" panose="05050102010706020507" charset="0"/>
              </a:rPr>
              <a:t>G</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300" dirty="0" smtClean="0">
                <a:solidFill>
                  <a:schemeClr val="tx1"/>
                </a:solidFill>
                <a:latin typeface="+mj-lt"/>
                <a:ea typeface="黑体" panose="02010609060101010101" pitchFamily="49" charset="-122"/>
                <a:cs typeface="+mj-lt"/>
                <a:sym typeface="Symbol" panose="05050102010706020507" charset="0"/>
              </a:rPr>
              <a:t>G</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300" dirty="0" smtClean="0">
                <a:solidFill>
                  <a:schemeClr val="tx1"/>
                </a:solidFill>
                <a:latin typeface="+mj-lt"/>
                <a:ea typeface="黑体" panose="02010609060101010101" pitchFamily="49" charset="-122"/>
                <a:cs typeface="+mj-lt"/>
                <a:sym typeface="Symbol" panose="05050102010706020507" charset="0"/>
              </a:rPr>
              <a:t>G</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300" dirty="0" smtClean="0">
                <a:solidFill>
                  <a:schemeClr val="tx1"/>
                </a:solidFill>
                <a:latin typeface="+mj-lt"/>
                <a:ea typeface="黑体" panose="02010609060101010101" pitchFamily="49" charset="-122"/>
                <a:cs typeface="+mj-lt"/>
                <a:sym typeface="Symbol" panose="05050102010706020507" charset="0"/>
              </a:rPr>
              <a:t>称为成组进位生成函数，P* = 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300" dirty="0" smtClean="0">
                <a:solidFill>
                  <a:schemeClr val="tx1"/>
                </a:solidFill>
                <a:latin typeface="+mj-lt"/>
                <a:ea typeface="黑体" panose="02010609060101010101" pitchFamily="49" charset="-122"/>
                <a:cs typeface="+mj-lt"/>
                <a:sym typeface="Symbol" panose="05050102010706020507" charset="0"/>
              </a:rPr>
              <a:t>称为成组进位传递函数，有了成组进位生成和进位传递函数后，C</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4</a:t>
            </a:r>
            <a:r>
              <a:rPr lang="en-US" altLang="zh-CN" sz="2300" dirty="0" smtClean="0">
                <a:solidFill>
                  <a:schemeClr val="tx1"/>
                </a:solidFill>
                <a:latin typeface="+mj-lt"/>
                <a:ea typeface="黑体" panose="02010609060101010101" pitchFamily="49" charset="-122"/>
                <a:cs typeface="+mj-lt"/>
                <a:sym typeface="Symbol" panose="05050102010706020507" charset="0"/>
              </a:rPr>
              <a:t>=G*+P*C</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300" dirty="0" smtClean="0">
                <a:solidFill>
                  <a:schemeClr val="tx1"/>
                </a:solidFill>
                <a:latin typeface="+mj-lt"/>
                <a:ea typeface="黑体" panose="02010609060101010101" pitchFamily="49" charset="-122"/>
                <a:cs typeface="+mj-lt"/>
                <a:sym typeface="Symbol" panose="05050102010706020507" charset="0"/>
              </a:rPr>
              <a:t>和C</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300" dirty="0" smtClean="0">
                <a:solidFill>
                  <a:schemeClr val="tx1"/>
                </a:solidFill>
                <a:latin typeface="+mj-lt"/>
                <a:ea typeface="黑体" panose="02010609060101010101" pitchFamily="49" charset="-122"/>
                <a:cs typeface="+mj-lt"/>
                <a:sym typeface="Symbol" panose="05050102010706020507" charset="0"/>
              </a:rPr>
              <a:t>=G</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300" dirty="0" smtClean="0">
                <a:solidFill>
                  <a:schemeClr val="tx1"/>
                </a:solidFill>
                <a:latin typeface="+mj-lt"/>
                <a:ea typeface="黑体" panose="02010609060101010101" pitchFamily="49" charset="-122"/>
                <a:cs typeface="+mj-lt"/>
                <a:sym typeface="Symbol" panose="05050102010706020507" charset="0"/>
              </a:rPr>
              <a:t>+P</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300" dirty="0" smtClean="0">
                <a:solidFill>
                  <a:schemeClr val="tx1"/>
                </a:solidFill>
                <a:latin typeface="+mj-lt"/>
                <a:ea typeface="黑体" panose="02010609060101010101" pitchFamily="49" charset="-122"/>
                <a:cs typeface="+mj-lt"/>
                <a:sym typeface="Symbol" panose="05050102010706020507" charset="0"/>
              </a:rPr>
              <a:t>C</a:t>
            </a:r>
            <a:r>
              <a:rPr lang="en-US" altLang="zh-CN" sz="230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300" dirty="0" smtClean="0">
                <a:solidFill>
                  <a:schemeClr val="tx1"/>
                </a:solidFill>
                <a:latin typeface="+mj-lt"/>
                <a:ea typeface="黑体" panose="02010609060101010101" pitchFamily="49" charset="-122"/>
                <a:cs typeface="+mj-lt"/>
                <a:sym typeface="Symbol" panose="05050102010706020507" charset="0"/>
              </a:rPr>
              <a:t>的形式完全相同，也就是4位一组的进位信号可以采用类似的原理进行成组的先行进位。</a:t>
            </a:r>
            <a:r>
              <a:rPr lang="en-US" altLang="zh-CN" sz="2300" b="0" dirty="0" smtClean="0">
                <a:solidFill>
                  <a:schemeClr val="tx1"/>
                </a:solidFill>
                <a:latin typeface="+mj-lt"/>
                <a:ea typeface="黑体" panose="02010609060101010101" pitchFamily="49" charset="-122"/>
                <a:cs typeface="+mj-lt"/>
                <a:sym typeface="Symbol" panose="05050102010706020507" charset="0"/>
              </a:rPr>
              <a:t>设计成组进位生成和传递函数的目的就是方便级联构成多级的先行进位系统。</a:t>
            </a:r>
            <a:endParaRPr lang="en-US" altLang="zh-CN" sz="23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3"/>
          <p:cNvSpPr>
            <a:spLocks noGrp="1" noRot="1"/>
          </p:cNvSpPr>
          <p:nvPr>
            <p:ph type="subTitle" idx="1"/>
            <p:custDataLst>
              <p:tags r:id="rId1"/>
            </p:custDataLst>
          </p:nvPr>
        </p:nvSpPr>
        <p:spPr>
          <a:xfrm>
            <a:off x="42545" y="795655"/>
            <a:ext cx="9034145" cy="101409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实验原理（续）</a:t>
            </a:r>
            <a:endParaRPr sz="23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8" name="图片 7"/>
          <p:cNvPicPr>
            <a:picLocks noChangeAspect="1"/>
          </p:cNvPicPr>
          <p:nvPr/>
        </p:nvPicPr>
        <p:blipFill>
          <a:blip r:embed="rId3"/>
          <a:stretch>
            <a:fillRect/>
          </a:stretch>
        </p:blipFill>
        <p:spPr>
          <a:xfrm>
            <a:off x="384175" y="1918970"/>
            <a:ext cx="8339455" cy="4040505"/>
          </a:xfrm>
          <a:prstGeom prst="rect">
            <a:avLst/>
          </a:prstGeom>
        </p:spPr>
      </p:pic>
      <p:pic>
        <p:nvPicPr>
          <p:cNvPr id="9" name="图片 8"/>
          <p:cNvPicPr>
            <a:picLocks noChangeAspect="1"/>
          </p:cNvPicPr>
          <p:nvPr/>
        </p:nvPicPr>
        <p:blipFill>
          <a:blip r:embed="rId4"/>
          <a:stretch>
            <a:fillRect/>
          </a:stretch>
        </p:blipFill>
        <p:spPr>
          <a:xfrm>
            <a:off x="2504440" y="6160135"/>
            <a:ext cx="4051300" cy="34607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3"/>
          <p:cNvSpPr>
            <a:spLocks noGrp="1" noRot="1"/>
          </p:cNvSpPr>
          <p:nvPr>
            <p:ph type="subTitle" idx="1"/>
            <p:custDataLst>
              <p:tags r:id="rId1"/>
            </p:custDataLst>
          </p:nvPr>
        </p:nvSpPr>
        <p:spPr>
          <a:xfrm>
            <a:off x="42545" y="795655"/>
            <a:ext cx="9034145" cy="102806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实验原理（续）</a:t>
            </a:r>
            <a:endParaRPr lang="en-US" altLang="zh-CN" sz="23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833245" y="1710690"/>
            <a:ext cx="7243445" cy="4788535"/>
          </a:xfrm>
          <a:prstGeom prst="rect">
            <a:avLst/>
          </a:prstGeom>
        </p:spPr>
      </p:pic>
      <p:pic>
        <p:nvPicPr>
          <p:cNvPr id="3" name="图片 2"/>
          <p:cNvPicPr>
            <a:picLocks noChangeAspect="1"/>
          </p:cNvPicPr>
          <p:nvPr/>
        </p:nvPicPr>
        <p:blipFill>
          <a:blip r:embed="rId4"/>
          <a:stretch>
            <a:fillRect/>
          </a:stretch>
        </p:blipFill>
        <p:spPr>
          <a:xfrm>
            <a:off x="4068445" y="1319530"/>
            <a:ext cx="2828925" cy="317500"/>
          </a:xfrm>
          <a:prstGeom prst="rect">
            <a:avLst/>
          </a:prstGeom>
        </p:spPr>
      </p:pic>
      <p:sp>
        <p:nvSpPr>
          <p:cNvPr id="6" name="Rectangle 3"/>
          <p:cNvSpPr>
            <a:spLocks noGrp="1" noRot="1"/>
          </p:cNvSpPr>
          <p:nvPr>
            <p:custDataLst>
              <p:tags r:id="rId5"/>
            </p:custDataLst>
          </p:nvPr>
        </p:nvSpPr>
        <p:spPr>
          <a:xfrm>
            <a:off x="42545" y="2159000"/>
            <a:ext cx="1866900" cy="401955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- 4位先行进位电路，加上生成G</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i</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i</a:t>
            </a:r>
            <a:r>
              <a:rPr lang="en-US" altLang="zh-CN" sz="2200" b="0" dirty="0" smtClean="0">
                <a:solidFill>
                  <a:schemeClr val="tx1"/>
                </a:solidFill>
                <a:latin typeface="+mj-lt"/>
                <a:ea typeface="黑体" panose="02010609060101010101" pitchFamily="49" charset="-122"/>
                <a:cs typeface="+mj-lt"/>
                <a:sym typeface="Symbol" panose="05050102010706020507" charset="0"/>
              </a:rPr>
              <a:t>的与门异或门电路，再加上4个异或门就可以构成4位快速加法器，也称并行加法器，其具体逻辑框图如图3.6所示。</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27965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设计4位先行进位电路</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在Logisim中打开alu.circ文件，在对应子电路中利用基本逻辑门实现可级联的4位先行进位电路，其电路封装与引脚功能描述如表2.2所示。</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52070" y="3147060"/>
            <a:ext cx="9037320" cy="303657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63271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设计4位快速加法器</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在4位快速加法器子电路中利用已经设计好的4位先行进位电路以及基本逻辑门实现4位快速加法器，其电路封装与引脚功能描述如表2.3所示。</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6" name="图片 5"/>
          <p:cNvPicPr>
            <a:picLocks noChangeAspect="1"/>
          </p:cNvPicPr>
          <p:nvPr/>
        </p:nvPicPr>
        <p:blipFill>
          <a:blip r:embed="rId3"/>
          <a:stretch>
            <a:fillRect/>
          </a:stretch>
        </p:blipFill>
        <p:spPr>
          <a:xfrm>
            <a:off x="105410" y="3400425"/>
            <a:ext cx="8940165" cy="2740025"/>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95021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设计4位快速加法器</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4位快速加法器电路框架如图2.2所示，请在相应电路中使用对应引脚的隧道标签实现相应的逻辑。注意X、Y、S引脚的每一位均用分线器连接到了对应隧道标签，绘图时可灵活使用。图2.2右侧探测区利用探针组件直观显示了有符号加法和无符号加法的运算结果，方便观察测试。</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67310" y="3779520"/>
            <a:ext cx="9008745" cy="1979295"/>
          </a:xfrm>
          <a:prstGeom prst="rect">
            <a:avLst/>
          </a:prstGeom>
        </p:spPr>
      </p:pic>
      <p:pic>
        <p:nvPicPr>
          <p:cNvPr id="8" name="图片 7"/>
          <p:cNvPicPr>
            <a:picLocks noChangeAspect="1"/>
          </p:cNvPicPr>
          <p:nvPr/>
        </p:nvPicPr>
        <p:blipFill>
          <a:blip r:embed="rId4"/>
          <a:stretch>
            <a:fillRect/>
          </a:stretch>
        </p:blipFill>
        <p:spPr>
          <a:xfrm>
            <a:off x="2867660" y="5854700"/>
            <a:ext cx="3694430" cy="32131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332041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.4位快速加减法设计</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3. </a:t>
            </a:r>
            <a:r>
              <a:rPr lang="zh-CN" sz="2300" dirty="0" smtClean="0">
                <a:solidFill>
                  <a:schemeClr val="tx1"/>
                </a:solidFill>
                <a:latin typeface="+mj-lt"/>
                <a:ea typeface="黑体" panose="02010609060101010101" pitchFamily="49" charset="-122"/>
                <a:cs typeface="+mj-lt"/>
                <a:sym typeface="Symbol" panose="05050102010706020507" charset="0"/>
              </a:rPr>
              <a:t>功能测试</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先行进位电路和快速加法器电路都是组合电路。设计完成后可以利用</a:t>
            </a:r>
            <a:r>
              <a:rPr lang="zh-CN" altLang="en-US" sz="2200" b="0" dirty="0" smtClean="0">
                <a:solidFill>
                  <a:schemeClr val="tx1"/>
                </a:solidFill>
                <a:latin typeface="+mj-lt"/>
                <a:ea typeface="黑体" panose="02010609060101010101" pitchFamily="49" charset="-122"/>
                <a:cs typeface="+mj-lt"/>
                <a:sym typeface="Symbol" panose="05050102010706020507" charset="0"/>
              </a:rPr>
              <a:t>手</a:t>
            </a:r>
            <a:r>
              <a:rPr lang="en-US" altLang="zh-CN" sz="2200" b="0" dirty="0" smtClean="0">
                <a:solidFill>
                  <a:schemeClr val="tx1"/>
                </a:solidFill>
                <a:latin typeface="+mj-lt"/>
                <a:ea typeface="黑体" panose="02010609060101010101" pitchFamily="49" charset="-122"/>
                <a:cs typeface="+mj-lt"/>
                <a:sym typeface="Symbol" panose="05050102010706020507" charset="0"/>
              </a:rPr>
              <a:t>形</a:t>
            </a:r>
            <a:r>
              <a:rPr lang="zh-CN" altLang="en-US" sz="2200" b="0" dirty="0" smtClean="0">
                <a:solidFill>
                  <a:schemeClr val="tx1"/>
                </a:solidFill>
                <a:latin typeface="+mj-lt"/>
                <a:ea typeface="黑体" panose="02010609060101010101" pitchFamily="49" charset="-122"/>
                <a:cs typeface="+mj-lt"/>
                <a:sym typeface="Symbol" panose="05050102010706020507" charset="0"/>
              </a:rPr>
              <a:t>戳</a:t>
            </a:r>
            <a:r>
              <a:rPr lang="en-US" altLang="zh-CN" sz="2200" b="0" dirty="0" smtClean="0">
                <a:solidFill>
                  <a:schemeClr val="tx1"/>
                </a:solidFill>
                <a:latin typeface="+mj-lt"/>
                <a:ea typeface="黑体" panose="02010609060101010101" pitchFamily="49" charset="-122"/>
                <a:cs typeface="+mj-lt"/>
                <a:sym typeface="Symbol" panose="05050102010706020507" charset="0"/>
              </a:rPr>
              <a:t>工具单击输入引脚，设置输入引脚的值，尝试设置不同的输人组合，观察探测区运算结果是否正确。</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35331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实验目的</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理解算术逻辑运算单元（ALU）的基本构成，掌握Logisim中各种运算组件的使用方法，熟悉多路选择器的使用，能利用Logisim中的运算组件构造指定规格的ALU</a:t>
            </a:r>
            <a:r>
              <a:rPr lang="zh-CN"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643755" y="2897505"/>
            <a:ext cx="3830955" cy="3302635"/>
          </a:xfrm>
          <a:prstGeom prst="rect">
            <a:avLst/>
          </a:prstGeom>
        </p:spPr>
      </p:pic>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3"/>
            </p:custDataLst>
          </p:nvPr>
        </p:nvSpPr>
        <p:spPr>
          <a:xfrm>
            <a:off x="42545" y="795655"/>
            <a:ext cx="9034145" cy="212026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算术逻辑运算单元（ALU）是对定点数据进行加工处理的纯组合逻辑电路，其主要功能包括算术运算和逻辑运算，也常作为数据传送的通路。ALU的封装及内部原理如图3.19所示。</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6" name="图片 5"/>
          <p:cNvPicPr>
            <a:picLocks noChangeAspect="1"/>
          </p:cNvPicPr>
          <p:nvPr/>
        </p:nvPicPr>
        <p:blipFill>
          <a:blip r:embed="rId4"/>
          <a:stretch>
            <a:fillRect/>
          </a:stretch>
        </p:blipFill>
        <p:spPr>
          <a:xfrm>
            <a:off x="851535" y="2948940"/>
            <a:ext cx="3486785" cy="3639820"/>
          </a:xfrm>
          <a:prstGeom prst="rect">
            <a:avLst/>
          </a:prstGeom>
        </p:spPr>
      </p:pic>
      <p:pic>
        <p:nvPicPr>
          <p:cNvPr id="7" name="图片 6"/>
          <p:cNvPicPr>
            <a:picLocks noChangeAspect="1"/>
          </p:cNvPicPr>
          <p:nvPr/>
        </p:nvPicPr>
        <p:blipFill>
          <a:blip r:embed="rId5"/>
          <a:stretch>
            <a:fillRect/>
          </a:stretch>
        </p:blipFill>
        <p:spPr>
          <a:xfrm>
            <a:off x="2666365" y="6285230"/>
            <a:ext cx="3564890" cy="372745"/>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313563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n位ALU包括两个n位的输入操作数a、b，一个进位输入Cin，AluOp为运算功能选择操作码，用于选择ALU内部的运算电路，具体如图3.19（b）所示，所有逻辑、算术运算电路并发运行，多个运算结果分别送入多路选择器输入端，由AluOp选择其中一路结果输出。这里的AluOp并不是机器指令中的操作码，而是由指令操作码的运算功能经过特殊的编码电路翻译得到的数据。</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468312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打开</a:t>
            </a:r>
            <a:r>
              <a:rPr sz="2300" dirty="0" smtClean="0">
                <a:latin typeface="+mj-lt"/>
                <a:ea typeface="黑体" panose="02010609060101010101" pitchFamily="49" charset="-122"/>
                <a:cs typeface="+mj-lt"/>
                <a:sym typeface="Symbol" panose="05050102010706020507" charset="0"/>
              </a:rPr>
              <a:t>Logisim</a:t>
            </a:r>
            <a:r>
              <a:rPr lang="zh-CN" sz="2300" dirty="0" smtClean="0">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构建一个32位算术逻辑运算单元，</a:t>
            </a:r>
            <a:r>
              <a:rPr lang="zh-CN" sz="2300" dirty="0" smtClean="0">
                <a:solidFill>
                  <a:schemeClr val="tx1"/>
                </a:solidFill>
                <a:latin typeface="+mj-lt"/>
                <a:ea typeface="黑体" panose="02010609060101010101" pitchFamily="49" charset="-122"/>
                <a:cs typeface="+mj-lt"/>
                <a:sym typeface="Symbol" panose="05050102010706020507" charset="0"/>
              </a:rPr>
              <a:t>具体</a:t>
            </a:r>
            <a:r>
              <a:rPr sz="2300" dirty="0" smtClean="0">
                <a:solidFill>
                  <a:schemeClr val="tx1"/>
                </a:solidFill>
                <a:latin typeface="+mj-lt"/>
                <a:ea typeface="黑体" panose="02010609060101010101" pitchFamily="49" charset="-122"/>
                <a:cs typeface="+mj-lt"/>
                <a:sym typeface="Symbol" panose="05050102010706020507" charset="0"/>
              </a:rPr>
              <a:t>要求</a:t>
            </a:r>
            <a:r>
              <a:rPr lang="zh-CN" sz="2300" dirty="0" smtClean="0">
                <a:solidFill>
                  <a:schemeClr val="tx1"/>
                </a:solidFill>
                <a:latin typeface="+mj-lt"/>
                <a:ea typeface="黑体" panose="02010609060101010101" pitchFamily="49" charset="-122"/>
                <a:cs typeface="+mj-lt"/>
                <a:sym typeface="Symbol" panose="05050102010706020507" charset="0"/>
              </a:rPr>
              <a:t>如下：</a:t>
            </a:r>
            <a:endParaRPr 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Symbol" panose="05050102010706020507" charset="0"/>
              </a:rPr>
              <a:t>       </a:t>
            </a:r>
            <a:r>
              <a:rPr sz="2200" b="0" dirty="0" smtClean="0">
                <a:latin typeface="+mj-lt"/>
                <a:ea typeface="黑体" panose="02010609060101010101" pitchFamily="49" charset="-122"/>
                <a:cs typeface="+mj-lt"/>
                <a:sym typeface="Symbol" panose="05050102010706020507" charset="0"/>
              </a:rPr>
              <a:t>支持算术加、乘、相等</a:t>
            </a:r>
            <a:r>
              <a:rPr lang="zh-CN" sz="2200" b="0" dirty="0" smtClean="0">
                <a:latin typeface="+mj-lt"/>
                <a:ea typeface="黑体" panose="02010609060101010101" pitchFamily="49" charset="-122"/>
                <a:cs typeface="+mj-lt"/>
                <a:sym typeface="Symbol" panose="05050102010706020507" charset="0"/>
              </a:rPr>
              <a:t>比较、以及右移等四种操作；</a:t>
            </a:r>
            <a:endParaRPr 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Symbol" panose="05050102010706020507" charset="0"/>
              </a:rPr>
              <a:t>       </a:t>
            </a:r>
            <a:r>
              <a:rPr lang="zh-CN" altLang="en-US" sz="2200" b="0" dirty="0" smtClean="0">
                <a:latin typeface="+mj-lt"/>
                <a:ea typeface="黑体" panose="02010609060101010101" pitchFamily="49" charset="-122"/>
                <a:cs typeface="+mj-lt"/>
                <a:sym typeface="Symbol" panose="05050102010706020507" charset="0"/>
              </a:rPr>
              <a:t>可以</a:t>
            </a:r>
            <a:r>
              <a:rPr lang="en-US" sz="2200" b="0" dirty="0" smtClean="0">
                <a:latin typeface="+mj-lt"/>
                <a:ea typeface="黑体" panose="02010609060101010101" pitchFamily="49" charset="-122"/>
                <a:cs typeface="+mj-lt"/>
                <a:sym typeface="Symbol" panose="05050102010706020507" charset="0"/>
              </a:rPr>
              <a:t>利用Logisim平台中</a:t>
            </a:r>
            <a:r>
              <a:rPr lang="zh-CN" altLang="en-US" sz="2200" b="0" dirty="0" smtClean="0">
                <a:latin typeface="+mj-lt"/>
                <a:ea typeface="黑体" panose="02010609060101010101" pitchFamily="49" charset="-122"/>
                <a:cs typeface="+mj-lt"/>
                <a:sym typeface="Symbol" panose="05050102010706020507" charset="0"/>
              </a:rPr>
              <a:t>已</a:t>
            </a:r>
            <a:r>
              <a:rPr lang="en-US" sz="2200" b="0" dirty="0" smtClean="0">
                <a:latin typeface="+mj-lt"/>
                <a:ea typeface="黑体" panose="02010609060101010101" pitchFamily="49" charset="-122"/>
                <a:cs typeface="+mj-lt"/>
                <a:sym typeface="Symbol" panose="05050102010706020507" charset="0"/>
              </a:rPr>
              <a:t>有运算部件</a:t>
            </a:r>
            <a:r>
              <a:rPr lang="zh-CN" altLang="en-US" sz="2200" b="0" dirty="0" smtClean="0">
                <a:latin typeface="+mj-lt"/>
                <a:ea typeface="黑体" panose="02010609060101010101" pitchFamily="49" charset="-122"/>
                <a:cs typeface="+mj-lt"/>
                <a:sym typeface="Symbol" panose="05050102010706020507" charset="0"/>
              </a:rPr>
              <a:t>，如加法器、乘法器、比较器、移位器、多路选择器等；</a:t>
            </a:r>
            <a:endParaRPr 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无需封装，但要有所有要求的引脚，这些引脚包括：</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 4</a:t>
            </a:r>
            <a:r>
              <a:rPr lang="zh-CN" altLang="en-US" sz="2100" b="0" dirty="0" smtClean="0">
                <a:latin typeface="+mj-lt"/>
                <a:ea typeface="黑体" panose="02010609060101010101" pitchFamily="49" charset="-122"/>
                <a:cs typeface="+mj-lt"/>
                <a:sym typeface="Symbol" panose="05050102010706020507" charset="0"/>
              </a:rPr>
              <a:t>个输入：X，Y，AluOp，ShiftNum；</a:t>
            </a:r>
            <a:endParaRPr lang="zh-CN" altLang="en-US"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 4</a:t>
            </a:r>
            <a:r>
              <a:rPr lang="zh-CN" altLang="en-US" sz="2100" b="0" dirty="0" smtClean="0">
                <a:latin typeface="+mj-lt"/>
                <a:ea typeface="黑体" panose="02010609060101010101" pitchFamily="49" charset="-122"/>
                <a:cs typeface="+mj-lt"/>
                <a:sym typeface="Symbol" panose="05050102010706020507" charset="0"/>
              </a:rPr>
              <a:t>个输出：R，R2，OF，equal。</a:t>
            </a:r>
            <a:endParaRPr lang="zh-CN" altLang="en-US"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这些引脚的具体含义</a:t>
            </a:r>
            <a:r>
              <a:rPr lang="zh-CN" altLang="en-US" sz="2200" b="0" dirty="0" smtClean="0">
                <a:latin typeface="+mj-lt"/>
                <a:ea typeface="黑体" panose="02010609060101010101" pitchFamily="49" charset="-122"/>
                <a:cs typeface="+mj-lt"/>
                <a:sym typeface="Symbol" panose="05050102010706020507" charset="0"/>
              </a:rPr>
              <a:t>见下页图示。</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153924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r>
              <a:rPr lang="zh-CN" altLang="en-US" dirty="0">
                <a:solidFill>
                  <a:schemeClr val="accent2">
                    <a:lumMod val="75000"/>
                  </a:schemeClr>
                </a:solidFill>
                <a:latin typeface="+mj-lt"/>
                <a:ea typeface="黑体" panose="02010609060101010101" pitchFamily="49" charset="-122"/>
                <a:cs typeface="+mj-lt"/>
                <a:sym typeface="+mn-ea"/>
              </a:rPr>
              <a:t>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en-US" sz="2300" dirty="0" smtClean="0">
                <a:solidFill>
                  <a:schemeClr val="tx1"/>
                </a:solidFill>
                <a:latin typeface="+mj-lt"/>
                <a:ea typeface="黑体" panose="02010609060101010101" pitchFamily="49" charset="-122"/>
                <a:cs typeface="+mj-lt"/>
                <a:sym typeface="Symbol" panose="05050102010706020507" charset="0"/>
              </a:rPr>
              <a:t>ALU</a:t>
            </a:r>
            <a:r>
              <a:rPr lang="zh-CN" altLang="en-US" sz="2300" dirty="0" smtClean="0">
                <a:solidFill>
                  <a:schemeClr val="tx1"/>
                </a:solidFill>
                <a:latin typeface="+mj-lt"/>
                <a:ea typeface="黑体" panose="02010609060101010101" pitchFamily="49" charset="-122"/>
                <a:cs typeface="+mj-lt"/>
                <a:sym typeface="Symbol" panose="05050102010706020507" charset="0"/>
              </a:rPr>
              <a:t>引脚功能描述</a:t>
            </a:r>
            <a:r>
              <a:rPr lang="zh-CN" sz="2300" dirty="0" smtClean="0">
                <a:solidFill>
                  <a:schemeClr val="tx1"/>
                </a:solidFill>
                <a:latin typeface="+mj-lt"/>
                <a:ea typeface="黑体" panose="02010609060101010101" pitchFamily="49" charset="-122"/>
                <a:cs typeface="+mj-lt"/>
                <a:sym typeface="Symbol" panose="05050102010706020507" charset="0"/>
              </a:rPr>
              <a:t>：</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182880" y="2334260"/>
            <a:ext cx="8766175" cy="334518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153924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r>
              <a:rPr lang="zh-CN" altLang="en-US" dirty="0">
                <a:solidFill>
                  <a:schemeClr val="accent2">
                    <a:lumMod val="75000"/>
                  </a:schemeClr>
                </a:solidFill>
                <a:latin typeface="+mj-lt"/>
                <a:ea typeface="黑体" panose="02010609060101010101" pitchFamily="49" charset="-122"/>
                <a:cs typeface="+mj-lt"/>
                <a:sym typeface="+mn-ea"/>
              </a:rPr>
              <a:t>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sz="2300" dirty="0" smtClean="0">
                <a:solidFill>
                  <a:schemeClr val="tx1"/>
                </a:solidFill>
                <a:latin typeface="+mj-lt"/>
                <a:ea typeface="黑体" panose="02010609060101010101" pitchFamily="49" charset="-122"/>
                <a:cs typeface="+mj-lt"/>
                <a:sym typeface="Symbol" panose="05050102010706020507" charset="0"/>
              </a:rPr>
              <a:t>运算符</a:t>
            </a:r>
            <a:r>
              <a:rPr lang="en-US" altLang="zh-CN" sz="2300" dirty="0" smtClean="0">
                <a:solidFill>
                  <a:schemeClr val="tx1"/>
                </a:solidFill>
                <a:latin typeface="+mj-lt"/>
                <a:ea typeface="黑体" panose="02010609060101010101" pitchFamily="49" charset="-122"/>
                <a:cs typeface="+mj-lt"/>
                <a:sym typeface="Symbol" panose="05050102010706020507" charset="0"/>
              </a:rPr>
              <a:t>AluOP</a:t>
            </a:r>
            <a:r>
              <a:rPr lang="zh-CN" altLang="en-US" sz="2300" dirty="0" smtClean="0">
                <a:solidFill>
                  <a:schemeClr val="tx1"/>
                </a:solidFill>
                <a:latin typeface="+mj-lt"/>
                <a:ea typeface="黑体" panose="02010609060101010101" pitchFamily="49" charset="-122"/>
                <a:cs typeface="+mj-lt"/>
                <a:sym typeface="Symbol" panose="05050102010706020507" charset="0"/>
              </a:rPr>
              <a:t>的功能</a:t>
            </a:r>
            <a:r>
              <a:rPr lang="zh-CN" sz="2300" dirty="0" smtClean="0">
                <a:solidFill>
                  <a:schemeClr val="tx1"/>
                </a:solidFill>
                <a:latin typeface="+mj-lt"/>
                <a:ea typeface="黑体" panose="02010609060101010101" pitchFamily="49" charset="-122"/>
                <a:cs typeface="+mj-lt"/>
                <a:sym typeface="Symbol" panose="05050102010706020507" charset="0"/>
              </a:rPr>
              <a:t>：</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pic>
        <p:nvPicPr>
          <p:cNvPr id="2" name="图片 1"/>
          <p:cNvPicPr>
            <a:picLocks noChangeAspect="1"/>
          </p:cNvPicPr>
          <p:nvPr/>
        </p:nvPicPr>
        <p:blipFill>
          <a:blip r:embed="rId3"/>
          <a:stretch>
            <a:fillRect/>
          </a:stretch>
        </p:blipFill>
        <p:spPr>
          <a:xfrm>
            <a:off x="137795" y="2327275"/>
            <a:ext cx="8884920" cy="208153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61595" y="795655"/>
            <a:ext cx="9015095" cy="580136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位</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ALU</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r>
              <a:rPr lang="zh-CN" altLang="en-US" dirty="0">
                <a:solidFill>
                  <a:schemeClr val="accent2">
                    <a:lumMod val="75000"/>
                  </a:schemeClr>
                </a:solidFill>
                <a:latin typeface="+mj-lt"/>
                <a:ea typeface="黑体" panose="02010609060101010101" pitchFamily="49" charset="-122"/>
                <a:cs typeface="+mj-lt"/>
                <a:sym typeface="+mn-ea"/>
              </a:rPr>
              <a:t>续）</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功能测试</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分别设置</a:t>
            </a:r>
            <a:r>
              <a:rPr lang="en-US" altLang="zh-CN" sz="2200" b="0" dirty="0" smtClean="0">
                <a:solidFill>
                  <a:schemeClr val="tx1"/>
                </a:solidFill>
                <a:latin typeface="+mj-lt"/>
                <a:ea typeface="黑体" panose="02010609060101010101" pitchFamily="49" charset="-122"/>
                <a:cs typeface="+mj-lt"/>
                <a:sym typeface="Symbol" panose="05050102010706020507" charset="0"/>
              </a:rPr>
              <a:t>AluOp</a:t>
            </a:r>
            <a:r>
              <a:rPr lang="zh-CN" altLang="en-US" sz="2200" b="0" dirty="0" smtClean="0">
                <a:solidFill>
                  <a:schemeClr val="tx1"/>
                </a:solidFill>
                <a:latin typeface="+mj-lt"/>
                <a:ea typeface="黑体" panose="02010609060101010101" pitchFamily="49" charset="-122"/>
                <a:cs typeface="+mj-lt"/>
                <a:sym typeface="Symbol" panose="05050102010706020507" charset="0"/>
              </a:rPr>
              <a:t>为</a:t>
            </a:r>
            <a:r>
              <a:rPr lang="en-US" altLang="zh-CN" sz="2200" b="0" dirty="0" smtClean="0">
                <a:solidFill>
                  <a:schemeClr val="tx1"/>
                </a:solidFill>
                <a:latin typeface="+mj-lt"/>
                <a:ea typeface="黑体" panose="02010609060101010101" pitchFamily="49" charset="-122"/>
                <a:cs typeface="+mj-lt"/>
                <a:sym typeface="Symbol" panose="05050102010706020507" charset="0"/>
              </a:rPr>
              <a:t>00</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01</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10</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11</a:t>
            </a:r>
            <a:r>
              <a:rPr lang="zh-CN" altLang="en-US" sz="2200" b="0" dirty="0" smtClean="0">
                <a:solidFill>
                  <a:schemeClr val="tx1"/>
                </a:solidFill>
                <a:latin typeface="+mj-lt"/>
                <a:ea typeface="黑体" panose="02010609060101010101" pitchFamily="49" charset="-122"/>
                <a:cs typeface="+mj-lt"/>
                <a:sym typeface="Symbol" panose="05050102010706020507" charset="0"/>
              </a:rPr>
              <a:t>，并展示进行相应的运算后，</a:t>
            </a:r>
            <a:r>
              <a:rPr lang="en-US" altLang="zh-CN" sz="2200" b="0" dirty="0" smtClean="0">
                <a:solidFill>
                  <a:schemeClr val="tx1"/>
                </a:solidFill>
                <a:latin typeface="+mj-lt"/>
                <a:ea typeface="黑体" panose="02010609060101010101" pitchFamily="49" charset="-122"/>
                <a:cs typeface="+mj-lt"/>
                <a:sym typeface="Symbol" panose="05050102010706020507" charset="0"/>
              </a:rPr>
              <a:t>ALU</a:t>
            </a:r>
            <a:r>
              <a:rPr lang="zh-CN" altLang="en-US" sz="2200" b="0" dirty="0" smtClean="0">
                <a:solidFill>
                  <a:schemeClr val="tx1"/>
                </a:solidFill>
                <a:latin typeface="+mj-lt"/>
                <a:ea typeface="黑体" panose="02010609060101010101" pitchFamily="49" charset="-122"/>
                <a:cs typeface="+mj-lt"/>
                <a:sym typeface="Symbol" panose="05050102010706020507" charset="0"/>
              </a:rPr>
              <a:t>给出的结果是正确的。要求用截图展示结果，并辅以文字说明。</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PP_MARK_KEY" val="49d2eca4-30e1-4ef7-9bc7-486bee5195f9"/>
  <p:tag name="COMMONDATA" val="eyJoZGlkIjoiYWU0ZmM3NzM2M2MzNjY4OGU3MWVlODFhMGQ0MTAxM2IifQ=="/>
  <p:tag name="commondata" val="eyJoZGlkIjoiZmI4NTZjMzhhMTQ0YmQ3Nzc5ZGViNjA4MWFmMWE3NTA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3827</Words>
  <Application>WPS 演示</Application>
  <PresentationFormat>信纸(8.5x11 英寸)</PresentationFormat>
  <Paragraphs>180</Paragraphs>
  <Slides>24</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宋体</vt:lpstr>
      <vt:lpstr>Wingdings</vt:lpstr>
      <vt:lpstr>Times New Roman</vt:lpstr>
      <vt:lpstr>华文隶书</vt:lpstr>
      <vt:lpstr>仿宋</vt:lpstr>
      <vt:lpstr>黑体</vt:lpstr>
      <vt:lpstr>Symbol</vt:lpstr>
      <vt:lpstr>微软雅黑</vt:lpstr>
      <vt:lpstr>Arial Unicode MS</vt:lpstr>
      <vt:lpstr>CS152-SP98</vt:lpstr>
      <vt:lpstr>计算机组成原理</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2027</cp:revision>
  <cp:lastPrinted>1999-08-22T22:40:00Z</cp:lastPrinted>
  <dcterms:created xsi:type="dcterms:W3CDTF">1997-08-19T16:58:00Z</dcterms:created>
  <dcterms:modified xsi:type="dcterms:W3CDTF">2024-10-21T04:26:31Z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3E2B1C6E25C54BFF8474069605F54195_13</vt:lpwstr>
  </property>
</Properties>
</file>