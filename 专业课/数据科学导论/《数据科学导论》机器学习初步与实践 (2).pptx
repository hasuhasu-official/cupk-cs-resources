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820" r:id="rId5"/>
    <p:sldId id="834" r:id="rId6"/>
    <p:sldId id="835" r:id="rId7"/>
    <p:sldId id="836" r:id="rId8"/>
    <p:sldId id="837" r:id="rId9"/>
    <p:sldId id="838" r:id="rId10"/>
    <p:sldId id="839" r:id="rId11"/>
    <p:sldId id="840" r:id="rId12"/>
    <p:sldId id="841" r:id="rId13"/>
    <p:sldId id="842" r:id="rId14"/>
    <p:sldId id="843" r:id="rId15"/>
    <p:sldId id="844" r:id="rId16"/>
    <p:sldId id="845" r:id="rId17"/>
    <p:sldId id="846" r:id="rId18"/>
    <p:sldId id="847" r:id="rId19"/>
    <p:sldId id="848" r:id="rId20"/>
    <p:sldId id="849" r:id="rId21"/>
    <p:sldId id="850" r:id="rId22"/>
    <p:sldId id="851" r:id="rId23"/>
    <p:sldId id="852" r:id="rId24"/>
    <p:sldId id="853" r:id="rId25"/>
    <p:sldId id="854" r:id="rId26"/>
    <p:sldId id="855" r:id="rId27"/>
    <p:sldId id="871" r:id="rId28"/>
    <p:sldId id="873" r:id="rId29"/>
    <p:sldId id="874" r:id="rId30"/>
    <p:sldId id="875" r:id="rId31"/>
    <p:sldId id="876" r:id="rId32"/>
    <p:sldId id="872" r:id="rId33"/>
    <p:sldId id="878" r:id="rId34"/>
    <p:sldId id="877" r:id="rId35"/>
    <p:sldId id="880" r:id="rId36"/>
    <p:sldId id="879" r:id="rId37"/>
    <p:sldId id="881" r:id="rId38"/>
    <p:sldId id="882" r:id="rId39"/>
    <p:sldId id="883" r:id="rId40"/>
    <p:sldId id="884" r:id="rId41"/>
    <p:sldId id="885" r:id="rId42"/>
    <p:sldId id="887" r:id="rId43"/>
    <p:sldId id="888" r:id="rId44"/>
    <p:sldId id="889" r:id="rId45"/>
    <p:sldId id="890" r:id="rId46"/>
    <p:sldId id="870" r:id="rId47"/>
    <p:sldId id="856" r:id="rId48"/>
    <p:sldId id="857" r:id="rId49"/>
    <p:sldId id="858" r:id="rId50"/>
    <p:sldId id="859" r:id="rId51"/>
    <p:sldId id="860" r:id="rId52"/>
    <p:sldId id="861" r:id="rId53"/>
    <p:sldId id="862" r:id="rId54"/>
    <p:sldId id="863" r:id="rId55"/>
    <p:sldId id="864" r:id="rId56"/>
    <p:sldId id="865" r:id="rId57"/>
    <p:sldId id="866" r:id="rId58"/>
    <p:sldId id="867" r:id="rId59"/>
    <p:sldId id="868" r:id="rId60"/>
    <p:sldId id="869" r:id="rId61"/>
  </p:sldIdLst>
  <p:sldSz cx="9144000" cy="5143500" type="screen16x9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2"/>
    <a:srgbClr val="ED7D31"/>
    <a:srgbClr val="46BCDE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83638" autoAdjust="0"/>
  </p:normalViewPr>
  <p:slideViewPr>
    <p:cSldViewPr snapToGrid="0">
      <p:cViewPr>
        <p:scale>
          <a:sx n="137" d="100"/>
          <a:sy n="137" d="100"/>
        </p:scale>
        <p:origin x="840" y="-7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gs" Target="tags/tag1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[ 2. -2. -1.][ 2. -4. -1.]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cover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8.emf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emf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emf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7.jpe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3.png"/><Relationship Id="rId1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7.png"/><Relationship Id="rId13" Type="http://schemas.openxmlformats.org/officeDocument/2006/relationships/image" Target="../media/image106.png"/><Relationship Id="rId12" Type="http://schemas.openxmlformats.org/officeDocument/2006/relationships/image" Target="../media/image105.png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1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image" Target="../media/image111.png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5.png"/><Relationship Id="rId8" Type="http://schemas.openxmlformats.org/officeDocument/2006/relationships/image" Target="../media/image124.png"/><Relationship Id="rId7" Type="http://schemas.openxmlformats.org/officeDocument/2006/relationships/image" Target="../media/image123.png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29.png"/><Relationship Id="rId12" Type="http://schemas.openxmlformats.org/officeDocument/2006/relationships/image" Target="../media/image128.png"/><Relationship Id="rId11" Type="http://schemas.openxmlformats.org/officeDocument/2006/relationships/image" Target="../media/image127.png"/><Relationship Id="rId10" Type="http://schemas.openxmlformats.org/officeDocument/2006/relationships/image" Target="../media/image126.png"/><Relationship Id="rId1" Type="http://schemas.openxmlformats.org/officeDocument/2006/relationships/image" Target="../media/image117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png"/><Relationship Id="rId8" Type="http://schemas.openxmlformats.org/officeDocument/2006/relationships/image" Target="../media/image135.png"/><Relationship Id="rId7" Type="http://schemas.openxmlformats.org/officeDocument/2006/relationships/image" Target="../media/image123.png"/><Relationship Id="rId6" Type="http://schemas.openxmlformats.org/officeDocument/2006/relationships/image" Target="../media/image134.png"/><Relationship Id="rId5" Type="http://schemas.openxmlformats.org/officeDocument/2006/relationships/image" Target="../media/image122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3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2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0.png"/><Relationship Id="rId7" Type="http://schemas.openxmlformats.org/officeDocument/2006/relationships/image" Target="../media/image149.png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3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1.png"/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7.png"/><Relationship Id="rId1" Type="http://schemas.openxmlformats.org/officeDocument/2006/relationships/image" Target="../media/image16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en-US" altLang="zh-CN" dirty="0"/>
          </a:p>
        </p:txBody>
      </p:sp>
      <p:grpSp>
        <p:nvGrpSpPr>
          <p:cNvPr id="25" name="Group 91"/>
          <p:cNvGrpSpPr/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/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4"/>
            <p:cNvGrpSpPr/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69137"/>
            <a:ext cx="8945065" cy="646303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科学导论</a:t>
            </a:r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机器学习初步与实践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  <a:endParaRPr lang="zh-CN" altLang="en-US" sz="40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机器学习初步与实践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002938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机器学习介绍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监督学习概览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决策树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支持向量机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/Perceptron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监督学习算法分类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1043608" y="2060848"/>
          <a:ext cx="7327167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880"/>
                <a:gridCol w="1611630"/>
                <a:gridCol w="1783080"/>
                <a:gridCol w="2098577"/>
              </a:tblGrid>
              <a:tr h="640080"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二值</a:t>
                      </a:r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分类</a:t>
                      </a:r>
                      <a:endParaRPr lang="en-US" altLang="zh-CN" sz="1800" b="1" kern="1200" dirty="0" smtClean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为类别集合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回归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为实数集合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结构预测</a:t>
                      </a:r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排序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为结构类型</a:t>
                      </a:r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排列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1"/>
                      <a:stretch>
                        <a:fillRect l="-332" t="-106667" r="-300997" b="-324762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Perceptron, </a:t>
                      </a:r>
                      <a:b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SVM</a:t>
                      </a:r>
                      <a:endParaRPr lang="en-US" altLang="zh-CN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Ridge regression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SVR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Structured SVM, Ranking SVM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树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Decision tree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Regression tree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LambdaMART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神经网络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神经网络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神经网络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RankNet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1"/>
                      <a:stretch>
                        <a:fillRect l="-332" t="-226000" r="-300997" b="-46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AdaBoost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Boosted Regression Tree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RankBoost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572001" y="1162448"/>
            <a:ext cx="53091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任务</a:t>
            </a:r>
            <a:endParaRPr lang="zh-CN" altLang="en-US" sz="135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 rot="5400000">
            <a:off x="1247583" y="2785606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模型函数</a:t>
            </a:r>
            <a:endParaRPr lang="zh-CN" altLang="en-US" sz="135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线性分类器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0550" y="1484668"/>
            <a:ext cx="3278764" cy="2815274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 flipH="1">
            <a:off x="5495274" y="1221600"/>
            <a:ext cx="1362726" cy="3402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4403380" y="2031690"/>
            <a:ext cx="3597620" cy="1583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5064737" y="1221600"/>
            <a:ext cx="2593364" cy="3078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4403380" y="1221600"/>
            <a:ext cx="3597621" cy="3132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155974" y="2760771"/>
            <a:ext cx="3416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所有的模型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分类面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错误率</a:t>
            </a:r>
            <a:b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0,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哪个最好？</a:t>
            </a:r>
            <a:endParaRPr lang="zh-CN" altLang="en-US" sz="2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>
            <a:stCxn id="55" idx="3"/>
            <a:endCxn id="54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/>
          <p:cNvCxnSpPr>
            <a:stCxn id="57" idx="2"/>
            <a:endCxn id="54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54" idx="3"/>
            <a:endCxn id="60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blipFill rotWithShape="0">
                <a:blip r:embed="rId2"/>
                <a:stretch>
                  <a:fillRect l="-2612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简单的学习规则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200150"/>
                <a:ext cx="6172200" cy="374786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线性感知机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(Perceptron)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训练数据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学习步长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感知机模型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)←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随机值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	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选取数据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		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	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convergence</a:t>
                </a: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1200150"/>
                <a:ext cx="6172200" cy="3747864"/>
              </a:xfrm>
              <a:blipFill rotWithShape="0">
                <a:blip r:embed="rId1"/>
                <a:stretch>
                  <a:fillRect l="-692" t="-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465766" y="3505910"/>
            <a:ext cx="2214246" cy="62311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7" name="组合 6"/>
          <p:cNvGrpSpPr/>
          <p:nvPr/>
        </p:nvGrpSpPr>
        <p:grpSpPr>
          <a:xfrm>
            <a:off x="4553087" y="2265578"/>
            <a:ext cx="3500439" cy="2519885"/>
            <a:chOff x="5832999" y="3923454"/>
            <a:chExt cx="3559768" cy="2152734"/>
          </a:xfrm>
        </p:grpSpPr>
        <p:cxnSp>
          <p:nvCxnSpPr>
            <p:cNvPr id="8" name="直接箭头连接符 7"/>
            <p:cNvCxnSpPr/>
            <p:nvPr/>
          </p:nvCxnSpPr>
          <p:spPr>
            <a:xfrm flipV="1">
              <a:off x="5832999" y="5764505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7309412" y="3934414"/>
              <a:ext cx="0" cy="19442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/>
                <p:cNvSpPr/>
                <p:nvPr/>
              </p:nvSpPr>
              <p:spPr>
                <a:xfrm>
                  <a:off x="8524145" y="5819828"/>
                  <a:ext cx="868622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1350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35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4145" y="5819828"/>
                  <a:ext cx="822487" cy="23664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6450266" y="3923454"/>
              <a:ext cx="859145" cy="611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rPr>
                <a:t>单个训练样本损失</a:t>
              </a:r>
              <a:endPara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/>
                <p:cNvSpPr/>
                <p:nvPr/>
              </p:nvSpPr>
              <p:spPr>
                <a:xfrm>
                  <a:off x="7020499" y="5730133"/>
                  <a:ext cx="373635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499" y="5730133"/>
                  <a:ext cx="326686" cy="23664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13" name="直接箭头连接符 12"/>
            <p:cNvCxnSpPr/>
            <p:nvPr/>
          </p:nvCxnSpPr>
          <p:spPr>
            <a:xfrm flipH="1" flipV="1">
              <a:off x="8264787" y="5760370"/>
              <a:ext cx="0" cy="6919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/>
                <p:cNvSpPr/>
                <p:nvPr/>
              </p:nvSpPr>
              <p:spPr>
                <a:xfrm>
                  <a:off x="8097116" y="5789401"/>
                  <a:ext cx="373635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7116" y="5789401"/>
                  <a:ext cx="326686" cy="23664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cxnSp>
        <p:nvCxnSpPr>
          <p:cNvPr id="15" name="直接连接符 14"/>
          <p:cNvCxnSpPr/>
          <p:nvPr/>
        </p:nvCxnSpPr>
        <p:spPr>
          <a:xfrm>
            <a:off x="4680012" y="3651870"/>
            <a:ext cx="1324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13363" y="4380385"/>
            <a:ext cx="19070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关于更新规则的说明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200150"/>
                <a:ext cx="6172200" cy="356711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zh-CN" b="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CN" b="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每次更新都将减少当前的错误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收敛性：在线性可分的数据上，在有限步更新后收敛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Novikoff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(1962))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1200150"/>
                <a:ext cx="6172200" cy="3567112"/>
              </a:xfrm>
              <a:blipFill rotWithShape="0">
                <a:blip r:embed="rId1"/>
                <a:stretch>
                  <a:fillRect l="-889" t="-1026" r="-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0550" y="998614"/>
            <a:ext cx="3278764" cy="281527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1301816">
            <a:off x="6208284" y="629904"/>
            <a:ext cx="78096" cy="331588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6303" y="145703"/>
            <a:ext cx="6172200" cy="85725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分类边距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(Margin)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5509152" y="735546"/>
            <a:ext cx="1362726" cy="3402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217859" y="2859431"/>
            <a:ext cx="365189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分类边距</a:t>
            </a:r>
            <a: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(Margin):</a:t>
            </a:r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对线性分类</a:t>
            </a:r>
            <a:b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器而言，边距是从分类面到</a:t>
            </a:r>
            <a:b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1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最近</a:t>
            </a:r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的训练样本的距离。</a:t>
            </a:r>
            <a:endParaRPr lang="zh-CN" altLang="en-US" sz="2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>
            <a:stCxn id="23" idx="3"/>
            <a:endCxn id="22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6" idx="2"/>
            <a:endCxn id="22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3"/>
            <a:endCxn id="30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带边距感知机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(Perceptron with Margin)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200151"/>
                <a:ext cx="6172200" cy="384095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训练数据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学习步长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边距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感知机模型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)←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随机值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	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选取数据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		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	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convergence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1200151"/>
                <a:ext cx="6172200" cy="3840956"/>
              </a:xfrm>
              <a:blipFill rotWithShape="0">
                <a:blip r:embed="rId1"/>
                <a:stretch>
                  <a:fillRect l="-988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4396" y="1198475"/>
            <a:ext cx="3278764" cy="28152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9034" y="87425"/>
            <a:ext cx="6172200" cy="857250"/>
          </a:xfrm>
        </p:spPr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7" idx="3"/>
            <a:endCxn id="6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11" idx="2"/>
            <a:endCxn id="6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19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52" name="文本框 51"/>
          <p:cNvSpPr txBox="1"/>
          <p:nvPr/>
        </p:nvSpPr>
        <p:spPr>
          <a:xfrm>
            <a:off x="1219508" y="2836504"/>
            <a:ext cx="3986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不同的模型有不同大小的边距。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SVM (support vector machine)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的目标：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最大化分类边距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 rot="1957138">
            <a:off x="6267639" y="718085"/>
            <a:ext cx="195725" cy="38495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166067" y="897564"/>
            <a:ext cx="2324780" cy="3618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883" y="1509741"/>
            <a:ext cx="3278764" cy="28152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支持向量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7" idx="3"/>
            <a:endCxn id="6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11" idx="2"/>
            <a:endCxn id="6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19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 rot="1957138">
            <a:off x="6267639" y="718085"/>
            <a:ext cx="195725" cy="38495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166067" y="897564"/>
            <a:ext cx="2324780" cy="3618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>
          <a:xfrm>
            <a:off x="4310743" y="2841172"/>
            <a:ext cx="1741715" cy="402771"/>
          </a:xfrm>
          <a:custGeom>
            <a:avLst/>
            <a:gdLst>
              <a:gd name="connsiteX0" fmla="*/ 0 w 2452914"/>
              <a:gd name="connsiteY0" fmla="*/ 537028 h 537028"/>
              <a:gd name="connsiteX1" fmla="*/ 2452914 w 2452914"/>
              <a:gd name="connsiteY1" fmla="*/ 0 h 537028"/>
              <a:gd name="connsiteX2" fmla="*/ 2452914 w 2452914"/>
              <a:gd name="connsiteY2" fmla="*/ 0 h 537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2914" h="537028">
                <a:moveTo>
                  <a:pt x="0" y="537028"/>
                </a:moveTo>
                <a:lnTo>
                  <a:pt x="2452914" y="0"/>
                </a:lnTo>
                <a:lnTo>
                  <a:pt x="2452914" y="0"/>
                </a:ln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/>
        </p:nvSpPr>
        <p:spPr>
          <a:xfrm>
            <a:off x="4310743" y="2397147"/>
            <a:ext cx="2111829" cy="682585"/>
          </a:xfrm>
          <a:custGeom>
            <a:avLst/>
            <a:gdLst>
              <a:gd name="connsiteX0" fmla="*/ 0 w 2815772"/>
              <a:gd name="connsiteY0" fmla="*/ 838775 h 838775"/>
              <a:gd name="connsiteX1" fmla="*/ 1959429 w 2815772"/>
              <a:gd name="connsiteY1" fmla="*/ 11461 h 838775"/>
              <a:gd name="connsiteX2" fmla="*/ 2815772 w 2815772"/>
              <a:gd name="connsiteY2" fmla="*/ 432375 h 83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5772" h="838775">
                <a:moveTo>
                  <a:pt x="0" y="838775"/>
                </a:moveTo>
                <a:cubicBezTo>
                  <a:pt x="745067" y="458984"/>
                  <a:pt x="1490134" y="79194"/>
                  <a:pt x="1959429" y="11461"/>
                </a:cubicBezTo>
                <a:cubicBezTo>
                  <a:pt x="2428724" y="-56272"/>
                  <a:pt x="2622248" y="188051"/>
                  <a:pt x="2815772" y="432375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/>
        </p:nvSpPr>
        <p:spPr>
          <a:xfrm>
            <a:off x="4288026" y="3331029"/>
            <a:ext cx="1774371" cy="32657"/>
          </a:xfrm>
          <a:custGeom>
            <a:avLst/>
            <a:gdLst>
              <a:gd name="connsiteX0" fmla="*/ 0 w 2365828"/>
              <a:gd name="connsiteY0" fmla="*/ 43543 h 43543"/>
              <a:gd name="connsiteX1" fmla="*/ 2365828 w 2365828"/>
              <a:gd name="connsiteY1" fmla="*/ 0 h 43543"/>
              <a:gd name="connsiteX2" fmla="*/ 2365828 w 2365828"/>
              <a:gd name="connsiteY2" fmla="*/ 0 h 43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5828" h="43543">
                <a:moveTo>
                  <a:pt x="0" y="43543"/>
                </a:moveTo>
                <a:lnTo>
                  <a:pt x="2365828" y="0"/>
                </a:lnTo>
                <a:lnTo>
                  <a:pt x="2365828" y="0"/>
                </a:ln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矩形 17"/>
          <p:cNvSpPr/>
          <p:nvPr/>
        </p:nvSpPr>
        <p:spPr>
          <a:xfrm>
            <a:off x="3425220" y="3105443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支持向量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71459" y="3612943"/>
            <a:ext cx="31790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支持向量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(support vector):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位于分类边距上的数据点</a:t>
            </a:r>
            <a:endParaRPr lang="en-US" altLang="zh-CN" sz="15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5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支持向量决定了边距的大小和位置</a:t>
            </a:r>
            <a:endParaRPr lang="en-US" altLang="zh-CN" sz="15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给定训练数据集合，</a:t>
            </a:r>
            <a:r>
              <a:rPr lang="en-US" altLang="zh-CN" sz="1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15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</a:rPr>
              <a:t>决定了边距大小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15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6438479" y="1155842"/>
            <a:ext cx="590262" cy="424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6213222" y="977101"/>
                <a:ext cx="36260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296" y="1302802"/>
                <a:ext cx="42351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0550" y="998614"/>
            <a:ext cx="3278764" cy="28152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6164" y="205978"/>
            <a:ext cx="6172200" cy="857250"/>
          </a:xfrm>
        </p:spPr>
        <p:txBody>
          <a:bodyPr/>
          <a:lstStyle/>
          <a:p>
            <a:r>
              <a:rPr lang="zh-CN" altLang="en-US" dirty="0"/>
              <a:t>为什么最大化边距？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7" idx="3"/>
            <a:endCxn id="6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11" idx="2"/>
            <a:endCxn id="6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19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 rot="1957138">
            <a:off x="6267639" y="718085"/>
            <a:ext cx="195725" cy="38495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166067" y="897564"/>
            <a:ext cx="2324780" cy="3618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8862" y="2473619"/>
            <a:ext cx="3637603" cy="25596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直觉上，比其它分类界面更不容易出错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分类面的微小扰动不会导致错误发生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理论上，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理论证明最大边距分类器具有较好的泛化能力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(generalization ability)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实际应用：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在很多应用上取得了很好的效果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边距的表示</a:t>
            </a:r>
            <a:endParaRPr lang="zh-CN" altLang="en-US" dirty="0"/>
          </a:p>
        </p:txBody>
      </p:sp>
      <p:sp>
        <p:nvSpPr>
          <p:cNvPr id="39" name="内容占位符 38"/>
          <p:cNvSpPr>
            <a:spLocks noGrp="1"/>
          </p:cNvSpPr>
          <p:nvPr>
            <p:ph idx="1"/>
          </p:nvPr>
        </p:nvSpPr>
        <p:spPr>
          <a:xfrm>
            <a:off x="2000857" y="3720731"/>
            <a:ext cx="5481086" cy="99252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如何（在高维空间中）计算边距的大小？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4214600">
            <a:off x="3581884" y="492722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161741" y="1363280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161741" y="1495277"/>
            <a:ext cx="864095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503869" y="135677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正边距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3098310" y="2611922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696900" y="3217689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负边距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1993329" y="2561198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591920" y="3166965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3781920" y="1171241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5402100" y="987361"/>
            <a:ext cx="138562" cy="396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5008093" y="1152857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9" name="矩形 48"/>
          <p:cNvSpPr/>
          <p:nvPr/>
        </p:nvSpPr>
        <p:spPr>
          <a:xfrm>
            <a:off x="5605127" y="1410784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边距大小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 49"/>
              <p:cNvSpPr/>
              <p:nvPr/>
            </p:nvSpPr>
            <p:spPr>
              <a:xfrm>
                <a:off x="3599300" y="924658"/>
                <a:ext cx="36260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066" y="1232877"/>
                <a:ext cx="423514" cy="369332"/>
              </a:xfrm>
              <a:prstGeom prst="rect">
                <a:avLst/>
              </a:prstGeom>
              <a:blipFill rotWithShape="0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6065" y="20521"/>
            <a:ext cx="6172200" cy="857250"/>
          </a:xfrm>
        </p:spPr>
        <p:txBody>
          <a:bodyPr/>
          <a:lstStyle/>
          <a:p>
            <a:r>
              <a:rPr lang="zh-CN" altLang="en-US" dirty="0"/>
              <a:t>边距的表示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内容占位符 10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3454130"/>
                <a:ext cx="6172200" cy="1529636"/>
              </a:xfrm>
            </p:spPr>
            <p:txBody>
              <a:bodyPr>
                <a:normAutofit fontScale="85000" lnSpcReduction="10000"/>
              </a:bodyPr>
              <a:lstStyle/>
              <a:p>
                <a:pPr marL="257175" lvl="1" indent="-257175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=−1⇒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1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1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=2⇒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den>
                    </m:f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</m:ra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内容占位符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3454130"/>
                <a:ext cx="6172200" cy="1529636"/>
              </a:xfrm>
              <a:blipFill rotWithShape="0">
                <a:blip r:embed="rId1"/>
                <a:stretch>
                  <a:fillRect l="-494" t="-1195" b="-6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4214600">
            <a:off x="4458131" y="429512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037988" y="1300071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037989" y="1432068"/>
            <a:ext cx="864095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380117" y="129356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正边距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5458812" y="2003866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003707" y="264281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负边距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4422134" y="1974000"/>
            <a:ext cx="180064" cy="71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108309" y="2667717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4658168" y="1108032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4159670" y="878517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26" y="1171356"/>
                <a:ext cx="1329328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43" name="直接箭头连接符 42"/>
          <p:cNvCxnSpPr/>
          <p:nvPr/>
        </p:nvCxnSpPr>
        <p:spPr>
          <a:xfrm>
            <a:off x="6278347" y="924151"/>
            <a:ext cx="299252" cy="83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5902475" y="1219783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9" name="矩形 48"/>
          <p:cNvSpPr/>
          <p:nvPr/>
        </p:nvSpPr>
        <p:spPr>
          <a:xfrm>
            <a:off x="6688585" y="1403488"/>
            <a:ext cx="103105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边距大小</a:t>
            </a:r>
            <a:r>
              <a:rPr lang="en-US" altLang="zh-CN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endParaRPr lang="zh-CN" altLang="en-US" sz="135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3246029" y="1702578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897814" y="897564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669534" y="2001202"/>
                <a:ext cx="126823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44" y="2668270"/>
                <a:ext cx="1633268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1891235" y="2884221"/>
                <a:ext cx="139807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46" y="3845628"/>
                <a:ext cx="180639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1832056" y="2422756"/>
                <a:ext cx="117365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350" dirty="0"/>
                  <a:t>0</a:t>
                </a:r>
                <a:endParaRPr lang="zh-CN" altLang="en-US" sz="135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41" y="3230342"/>
                <a:ext cx="1505027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0000" r="-202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8" name="椭圆 7"/>
          <p:cNvSpPr/>
          <p:nvPr/>
        </p:nvSpPr>
        <p:spPr>
          <a:xfrm>
            <a:off x="5598114" y="105050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7" name="椭圆 26"/>
          <p:cNvSpPr/>
          <p:nvPr/>
        </p:nvSpPr>
        <p:spPr>
          <a:xfrm>
            <a:off x="5900066" y="1919161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946574" y="1952707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764" y="2603610"/>
                <a:ext cx="49981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5488888" y="798679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516" y="1064905"/>
                <a:ext cx="49981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31" name="直接箭头连接符 30"/>
          <p:cNvCxnSpPr/>
          <p:nvPr/>
        </p:nvCxnSpPr>
        <p:spPr>
          <a:xfrm flipH="1" flipV="1">
            <a:off x="5658271" y="1173789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411208" y="1260351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944" y="1680468"/>
                <a:ext cx="1329328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6065" y="20521"/>
            <a:ext cx="6172200" cy="857250"/>
          </a:xfrm>
        </p:spPr>
        <p:txBody>
          <a:bodyPr/>
          <a:lstStyle/>
          <a:p>
            <a:r>
              <a:rPr lang="zh-CN" altLang="en-US" dirty="0"/>
              <a:t>边距的表示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4214600">
            <a:off x="4458131" y="429512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037988" y="1300071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037989" y="1432068"/>
            <a:ext cx="864095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380117" y="129356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正边距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5458812" y="2003866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5003707" y="264281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负边距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4422134" y="1974000"/>
            <a:ext cx="180064" cy="71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4108309" y="2667717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4658168" y="1108032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4159670" y="878517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226" y="1171356"/>
                <a:ext cx="1329328" cy="369332"/>
              </a:xfrm>
              <a:prstGeom prst="rect">
                <a:avLst/>
              </a:prstGeom>
              <a:blipFill rotWithShape="0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43" name="直接箭头连接符 42"/>
          <p:cNvCxnSpPr/>
          <p:nvPr/>
        </p:nvCxnSpPr>
        <p:spPr>
          <a:xfrm>
            <a:off x="6278347" y="924151"/>
            <a:ext cx="299252" cy="83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5902475" y="1219783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6697205" y="1309934"/>
                <a:ext cx="823944" cy="569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607" y="1746578"/>
                <a:ext cx="1038233" cy="72904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 flipV="1">
            <a:off x="3246029" y="1702578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897814" y="897564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669534" y="2001202"/>
                <a:ext cx="126823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44" y="2668270"/>
                <a:ext cx="1633268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1891235" y="2884221"/>
                <a:ext cx="139807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46" y="3845628"/>
                <a:ext cx="1806392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1832056" y="2422756"/>
                <a:ext cx="117365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350" dirty="0"/>
                  <a:t>0</a:t>
                </a:r>
                <a:endParaRPr lang="zh-CN" altLang="en-US" sz="135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41" y="3230342"/>
                <a:ext cx="1505027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0000" r="-202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8" name="椭圆 7"/>
          <p:cNvSpPr/>
          <p:nvPr/>
        </p:nvSpPr>
        <p:spPr>
          <a:xfrm>
            <a:off x="5598114" y="105050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7" name="椭圆 26"/>
          <p:cNvSpPr/>
          <p:nvPr/>
        </p:nvSpPr>
        <p:spPr>
          <a:xfrm>
            <a:off x="5900066" y="1919161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946574" y="1952707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764" y="2603610"/>
                <a:ext cx="49981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/>
              <p:nvPr/>
            </p:nvSpPr>
            <p:spPr>
              <a:xfrm>
                <a:off x="5488888" y="798679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516" y="1064905"/>
                <a:ext cx="49981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31" name="直接箭头连接符 30"/>
          <p:cNvCxnSpPr/>
          <p:nvPr/>
        </p:nvCxnSpPr>
        <p:spPr>
          <a:xfrm flipH="1" flipV="1">
            <a:off x="5658271" y="1173789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1"/>
              <p:nvPr/>
            </p:nvSpPr>
            <p:spPr>
              <a:xfrm>
                <a:off x="5411208" y="1260351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944" y="1680468"/>
                <a:ext cx="1329328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3302146"/>
                <a:ext cx="6172200" cy="166302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SVM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学习过程归结为寻找合适的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所有的训练数据都在正确的分类区域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≥1,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其中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∈{+1, −1}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最大化边距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radPr>
                              <m:deg/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i="1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1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</m:d>
                              </m:e>
                            </m:rad>
                          </m:den>
                        </m:f>
                      </m:e>
                    </m:func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3302146"/>
                <a:ext cx="6172200" cy="1663024"/>
              </a:xfrm>
              <a:blipFill rotWithShape="0">
                <a:blip r:embed="rId9"/>
                <a:stretch>
                  <a:fillRect l="-791" t="-4044" b="-6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zh-CN" altLang="en-US" dirty="0"/>
              <a:t>优化问题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优化目标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sSup>
                      <m:sSup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约束条件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… ,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二次规划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(quadratic programming, QP)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问题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二次的目标函数，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个线性约束条件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有成熟的解法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只适应训练数据可以完全可分的情况！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 l="-1704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上述理想模型存在的问题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训练数据不可分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>
              <a:xfrm>
                <a:off x="4717777" y="1200151"/>
                <a:ext cx="3148589" cy="339447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不存在一个分类面使得训练数据能够被完美分开</a:t>
                </a:r>
                <a:endParaRPr lang="en-US" altLang="zh-CN" dirty="0"/>
              </a:p>
              <a:p>
                <a:r>
                  <a:rPr lang="zh-CN" altLang="en-US" dirty="0"/>
                  <a:t>解决方案：容忍错误的发生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sSup>
                      <m:sSup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错误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惩罚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dirty="0">
                        <a:latin typeface="Cambria Math" panose="02040503050406030204" pitchFamily="18" charset="0"/>
                      </a:rPr>
                      <m:t>错误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惩罚</m:t>
                    </m:r>
                  </m:oMath>
                </a14:m>
                <a:r>
                  <a:rPr lang="zh-CN" altLang="en-US" dirty="0"/>
                  <a:t>：出错的数据点与其正确位置的距离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边距不再是硬性限制条件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软边距</a:t>
                </a:r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17777" y="1200151"/>
                <a:ext cx="3148589" cy="3394472"/>
              </a:xfrm>
              <a:blipFill rotWithShape="0">
                <a:blip r:embed="rId1"/>
                <a:stretch>
                  <a:fillRect l="-1744" t="-1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050379"/>
            <a:ext cx="3386138" cy="4086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6065" y="20521"/>
            <a:ext cx="6172200" cy="857250"/>
          </a:xfrm>
        </p:spPr>
        <p:txBody>
          <a:bodyPr/>
          <a:lstStyle/>
          <a:p>
            <a:r>
              <a:rPr lang="zh-CN" altLang="en-US" dirty="0"/>
              <a:t>软边距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4214600">
            <a:off x="4458131" y="429512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037988" y="1300071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6278347" y="924151"/>
            <a:ext cx="299252" cy="83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5902475" y="1219783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6697205" y="1309934"/>
                <a:ext cx="823944" cy="569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607" y="1746578"/>
                <a:ext cx="1038233" cy="729046"/>
              </a:xfrm>
              <a:prstGeom prst="rect">
                <a:avLst/>
              </a:prstGeom>
              <a:blipFill rotWithShape="0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 flipV="1">
            <a:off x="3246029" y="1702578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897814" y="897564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669534" y="2001202"/>
                <a:ext cx="126823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44" y="2668270"/>
                <a:ext cx="1633268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1891235" y="2884221"/>
                <a:ext cx="139807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646" y="3845628"/>
                <a:ext cx="1806392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1832056" y="2422756"/>
                <a:ext cx="117365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350" dirty="0"/>
                  <a:t>0</a:t>
                </a:r>
                <a:endParaRPr lang="zh-CN" altLang="en-US" sz="135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41" y="3230342"/>
                <a:ext cx="1505027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10000" r="-202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8" name="椭圆 7"/>
          <p:cNvSpPr/>
          <p:nvPr/>
        </p:nvSpPr>
        <p:spPr>
          <a:xfrm>
            <a:off x="5598114" y="105050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7" name="椭圆 26"/>
          <p:cNvSpPr/>
          <p:nvPr/>
        </p:nvSpPr>
        <p:spPr>
          <a:xfrm>
            <a:off x="5900066" y="1919161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946574" y="1952707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764" y="2603610"/>
                <a:ext cx="49981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29356" y="3259501"/>
                <a:ext cx="6172200" cy="17554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优化目标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1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1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sz="21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sSup>
                      <m:sSupPr>
                        <m:ctrlPr>
                          <a:rPr lang="en-US" altLang="zh-CN" sz="21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100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sz="2100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100" dirty="0"/>
                          <m:t> </m:t>
                        </m:r>
                      </m:e>
                    </m:nary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约束条件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100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sz="2100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100" b="1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100" i="1"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1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1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10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CN" sz="21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… ,</a:t>
                </a:r>
                <a:r>
                  <a:rPr lang="en-US" altLang="zh-CN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：权衡边距大小与错误容忍度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变大：牺牲边距，减少训练集合上的错误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141" y="4346001"/>
                <a:ext cx="8229600" cy="2340573"/>
              </a:xfrm>
              <a:blipFill rotWithShape="0">
                <a:blip r:embed="rId6"/>
                <a:stretch>
                  <a:fillRect l="-1185" t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37" name="椭圆 36"/>
          <p:cNvSpPr/>
          <p:nvPr/>
        </p:nvSpPr>
        <p:spPr>
          <a:xfrm>
            <a:off x="4213114" y="1594086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38" name="椭圆 37"/>
          <p:cNvSpPr/>
          <p:nvPr/>
        </p:nvSpPr>
        <p:spPr>
          <a:xfrm>
            <a:off x="5085542" y="2467675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39" name="椭圆 38"/>
          <p:cNvSpPr/>
          <p:nvPr/>
        </p:nvSpPr>
        <p:spPr>
          <a:xfrm>
            <a:off x="3364996" y="1123840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sp>
        <p:nvSpPr>
          <p:cNvPr id="41" name="椭圆 40"/>
          <p:cNvSpPr/>
          <p:nvPr/>
        </p:nvSpPr>
        <p:spPr>
          <a:xfrm>
            <a:off x="4044232" y="1038972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42" name="椭圆 41"/>
          <p:cNvSpPr/>
          <p:nvPr/>
        </p:nvSpPr>
        <p:spPr>
          <a:xfrm>
            <a:off x="4615456" y="1136745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44" name="椭圆 43"/>
          <p:cNvSpPr/>
          <p:nvPr/>
        </p:nvSpPr>
        <p:spPr>
          <a:xfrm>
            <a:off x="5661322" y="2476600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sp>
        <p:nvSpPr>
          <p:cNvPr id="45" name="椭圆 44"/>
          <p:cNvSpPr/>
          <p:nvPr/>
        </p:nvSpPr>
        <p:spPr>
          <a:xfrm>
            <a:off x="4546817" y="2790478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cxnSp>
        <p:nvCxnSpPr>
          <p:cNvPr id="46" name="直接箭头连接符 45"/>
          <p:cNvCxnSpPr/>
          <p:nvPr/>
        </p:nvCxnSpPr>
        <p:spPr>
          <a:xfrm>
            <a:off x="3436449" y="1239576"/>
            <a:ext cx="553264" cy="144355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21" idx="1"/>
            <a:endCxn id="38" idx="1"/>
          </p:cNvCxnSpPr>
          <p:nvPr/>
        </p:nvCxnSpPr>
        <p:spPr>
          <a:xfrm>
            <a:off x="4737205" y="1493941"/>
            <a:ext cx="364156" cy="98879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5363960" y="1787873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cxnSp>
        <p:nvCxnSpPr>
          <p:cNvPr id="51" name="直接箭头连接符 50"/>
          <p:cNvCxnSpPr/>
          <p:nvPr/>
        </p:nvCxnSpPr>
        <p:spPr>
          <a:xfrm>
            <a:off x="5436096" y="1871482"/>
            <a:ext cx="108012" cy="26822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3322324" y="1480161"/>
                <a:ext cx="377604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65" y="1973548"/>
                <a:ext cx="442493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矩形 51"/>
              <p:cNvSpPr/>
              <p:nvPr/>
            </p:nvSpPr>
            <p:spPr>
              <a:xfrm>
                <a:off x="4769491" y="1536861"/>
                <a:ext cx="381643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321" y="2049148"/>
                <a:ext cx="447815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/>
              <p:cNvSpPr/>
              <p:nvPr/>
            </p:nvSpPr>
            <p:spPr>
              <a:xfrm>
                <a:off x="5433473" y="1809309"/>
                <a:ext cx="38856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630" y="2412412"/>
                <a:ext cx="457561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优化目标求解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611151" y="818426"/>
                <a:ext cx="4824333" cy="14252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sSup>
                        <m:sSup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… ,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535" y="1091235"/>
                <a:ext cx="6432444" cy="1869486"/>
              </a:xfrm>
              <a:prstGeom prst="rect">
                <a:avLst/>
              </a:prstGeom>
              <a:blipFill rotWithShape="0">
                <a:blip r:embed="rId1"/>
                <a:stretch>
                  <a:fillRect l="-1422" b="-6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611151" y="2677205"/>
                <a:ext cx="4824333" cy="1163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535" y="3569606"/>
                <a:ext cx="6432444" cy="1520353"/>
              </a:xfrm>
              <a:prstGeom prst="rect">
                <a:avLst/>
              </a:prstGeom>
              <a:blipFill rotWithShape="0">
                <a:blip r:embed="rId2"/>
                <a:stretch>
                  <a:fillRect l="-1422" b="-8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487066" y="15194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原问题：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87066" y="34098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对偶问题：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上下箭头 8"/>
          <p:cNvSpPr/>
          <p:nvPr/>
        </p:nvSpPr>
        <p:spPr>
          <a:xfrm>
            <a:off x="4384146" y="2279149"/>
            <a:ext cx="241861" cy="3980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标注 14"/>
          <p:cNvSpPr/>
          <p:nvPr/>
        </p:nvSpPr>
        <p:spPr>
          <a:xfrm>
            <a:off x="1915632" y="942414"/>
            <a:ext cx="1306218" cy="378042"/>
          </a:xfrm>
          <a:prstGeom prst="wedgeRectCallout">
            <a:avLst>
              <a:gd name="adj1" fmla="val 80164"/>
              <a:gd name="adj2" fmla="val 134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融入</a:t>
            </a:r>
            <a:r>
              <a:rPr lang="en-US" altLang="zh-CN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标注 15"/>
              <p:cNvSpPr/>
              <p:nvPr/>
            </p:nvSpPr>
            <p:spPr>
              <a:xfrm>
                <a:off x="5167233" y="4016852"/>
                <a:ext cx="1781032" cy="444910"/>
              </a:xfrm>
              <a:prstGeom prst="wedgeRectCallout">
                <a:avLst>
                  <a:gd name="adj1" fmla="val -111758"/>
                  <a:gd name="adj2" fmla="val -9723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350" b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35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135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为支持向量</a:t>
                </a:r>
              </a:p>
            </p:txBody>
          </p:sp>
        </mc:Choice>
        <mc:Fallback>
          <p:sp>
            <p:nvSpPr>
              <p:cNvPr id="16" name="矩形标注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643" y="5355802"/>
                <a:ext cx="2374709" cy="593213"/>
              </a:xfrm>
              <a:prstGeom prst="wedgeRectCallout">
                <a:avLst>
                  <a:gd name="adj1" fmla="val -111758"/>
                  <a:gd name="adj2" fmla="val -97235"/>
                </a:avLst>
              </a:prstGeom>
              <a:blipFill rotWithShape="0">
                <a:blip r:embed="rId3"/>
                <a:stretch>
                  <a:fillRect r="-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8013" y="10429"/>
            <a:ext cx="6172200" cy="857250"/>
          </a:xfrm>
        </p:spPr>
        <p:txBody>
          <a:bodyPr/>
          <a:lstStyle/>
          <a:p>
            <a:r>
              <a:rPr lang="zh-CN" altLang="en-US" dirty="0"/>
              <a:t>求解对偶问题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内容占位符 8"/>
              <p:cNvSpPr>
                <a:spLocks noGrp="1"/>
              </p:cNvSpPr>
              <p:nvPr>
                <p:ph idx="1"/>
              </p:nvPr>
            </p:nvSpPr>
            <p:spPr>
              <a:xfrm>
                <a:off x="1488013" y="1997693"/>
                <a:ext cx="6172200" cy="30434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(sequential minimal optimization)</a:t>
                </a: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多维变量优化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一系列单变量优化问题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一次放开</a:t>
                </a:r>
                <a:r>
                  <a:rPr lang="zh-CN" alt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两个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注意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，固定其他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求解后更新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选择另外两个变量继续求解，重复。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内容占位符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8013" y="1997693"/>
                <a:ext cx="6172200" cy="3043414"/>
              </a:xfrm>
              <a:blipFill rotWithShape="0">
                <a:blip r:embed="rId1"/>
                <a:stretch>
                  <a:fillRect l="-987" t="-2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159834" y="841674"/>
                <a:ext cx="4824333" cy="1163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778" y="1122231"/>
                <a:ext cx="6432444" cy="1520353"/>
              </a:xfrm>
              <a:prstGeom prst="rect">
                <a:avLst/>
              </a:prstGeom>
              <a:blipFill rotWithShape="0">
                <a:blip r:embed="rId2"/>
                <a:stretch>
                  <a:fillRect l="-1420" b="-8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355778" y="4293096"/>
          <a:ext cx="406399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518160"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3"/>
                      <a:stretch>
                        <a:fillRect l="-901" t="-10465" r="-505405" b="-32558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3"/>
                      <a:stretch>
                        <a:fillRect l="-100000" t="-10465" r="-400893" b="-32558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3"/>
                      <a:stretch>
                        <a:fillRect l="-201802" t="-10465" r="-304505" b="-32558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3"/>
                      <a:stretch>
                        <a:fillRect l="-301802" t="-10465" r="-204505" b="-32558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…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3"/>
                      <a:stretch>
                        <a:fillRect l="-502703" t="-10465" r="-3604" b="-32558"/>
                      </a:stretch>
                    </a:blipFill>
                  </a:tcPr>
                </a:tc>
              </a:tr>
            </a:tbl>
          </a:graphicData>
        </a:graphic>
      </p:graphicFrame>
      <p:sp>
        <p:nvSpPr>
          <p:cNvPr id="7" name="左大括号 6"/>
          <p:cNvSpPr/>
          <p:nvPr/>
        </p:nvSpPr>
        <p:spPr>
          <a:xfrm rot="16200000">
            <a:off x="2537467" y="3297034"/>
            <a:ext cx="270030" cy="10261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左大括号 7"/>
          <p:cNvSpPr/>
          <p:nvPr/>
        </p:nvSpPr>
        <p:spPr>
          <a:xfrm rot="16200000">
            <a:off x="4073738" y="2807482"/>
            <a:ext cx="270030" cy="20052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3966379" y="3895714"/>
            <a:ext cx="53091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固定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43546" y="3895714"/>
            <a:ext cx="704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可更新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5738946" y="3144754"/>
                <a:ext cx="1951945" cy="7723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 err="1"/>
                  <a:t>s.t.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928" y="4193004"/>
                <a:ext cx="2536335" cy="999056"/>
              </a:xfrm>
              <a:prstGeom prst="rect">
                <a:avLst/>
              </a:prstGeom>
              <a:blipFill rotWithShape="0">
                <a:blip r:embed="rId4"/>
                <a:stretch>
                  <a:fillRect l="-3606" b="-12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学习到的分类函数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其中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融合在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(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 1);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(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, b)</a:t>
                </a: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分类决策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gn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关于参数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可以通过交叉验证或者验证集合确定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的值。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值越大，越可能出现过拟合。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 l="-1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044280"/>
                <a:ext cx="6172200" cy="379572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sz="2100" dirty="0"/>
                  <a:t>很多机器学习</a:t>
                </a:r>
                <a:r>
                  <a:rPr lang="en-US" altLang="zh-CN" sz="2100" dirty="0"/>
                  <a:t>/</a:t>
                </a:r>
                <a:r>
                  <a:rPr lang="zh-CN" altLang="en-US" sz="2100" dirty="0"/>
                  <a:t>数据挖掘算法都可以归结为优化损失函数</a:t>
                </a:r>
                <a:endParaRPr lang="en-US" altLang="zh-CN" sz="2100" dirty="0"/>
              </a:p>
              <a:p>
                <a:r>
                  <a:rPr lang="zh-CN" altLang="en-US" sz="2100" dirty="0"/>
                  <a:t>步骤</a:t>
                </a:r>
                <a:r>
                  <a:rPr lang="en-US" altLang="zh-CN" sz="2100" dirty="0"/>
                  <a:t>1</a:t>
                </a:r>
                <a:r>
                  <a:rPr lang="zh-CN" altLang="en-US" sz="2100" dirty="0"/>
                  <a:t>：损失函数的定义</a:t>
                </a:r>
                <a:endParaRPr lang="en-US" altLang="zh-CN" sz="2100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l-GR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342900" lvl="1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sz="2100" dirty="0"/>
              </a:p>
              <a:p>
                <a:r>
                  <a:rPr lang="zh-CN" altLang="en-US" sz="2100" dirty="0"/>
                  <a:t>步骤</a:t>
                </a:r>
                <a:r>
                  <a:rPr lang="en-US" altLang="zh-CN" sz="2100" dirty="0"/>
                  <a:t>2</a:t>
                </a:r>
                <a:r>
                  <a:rPr lang="zh-CN" altLang="en-US" sz="2100" dirty="0"/>
                  <a:t>：损失函数优化</a:t>
                </a:r>
                <a:endParaRPr lang="en-US" altLang="zh-CN" sz="2100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优点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目标定义和优化算法分开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是分析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提出新算法的有效手段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92372"/>
                <a:ext cx="8229600" cy="5060963"/>
              </a:xfrm>
              <a:blipFill rotWithShape="0">
                <a:blip r:embed="rId1"/>
                <a:stretch>
                  <a:fillRect l="-1481" t="-1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标注 4"/>
          <p:cNvSpPr/>
          <p:nvPr/>
        </p:nvSpPr>
        <p:spPr>
          <a:xfrm>
            <a:off x="3329862" y="2489076"/>
            <a:ext cx="1566174" cy="486054"/>
          </a:xfrm>
          <a:prstGeom prst="wedgeRectCallout">
            <a:avLst>
              <a:gd name="adj1" fmla="val 4189"/>
              <a:gd name="adj2" fmla="val -844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在每一个训练样本上的“损失”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5250954" y="2489076"/>
            <a:ext cx="1026114" cy="486054"/>
          </a:xfrm>
          <a:prstGeom prst="wedgeRectCallout">
            <a:avLst>
              <a:gd name="adj1" fmla="val -20540"/>
              <a:gd name="adj2" fmla="val -888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对复杂函数</a:t>
            </a:r>
            <a:r>
              <a:rPr lang="en-US" altLang="zh-CN" sz="135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进行惩罚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5436096" y="1549738"/>
            <a:ext cx="1026114" cy="305730"/>
          </a:xfrm>
          <a:prstGeom prst="wedgeRectCallout">
            <a:avLst>
              <a:gd name="adj1" fmla="val -51305"/>
              <a:gd name="adj2" fmla="val 1170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权衡参数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常用的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b="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1"/>
                <a:stretch>
                  <a:fillRect b="-6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43000" y="1724528"/>
                <a:ext cx="5653073" cy="3745767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回归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Square loss: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二值分类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0-1 loss: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1,   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 &lt;0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&amp;0,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Hinge loss: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0, 1−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𝑦𝑓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𝑦𝑓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Logistic loss: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unc>
                              <m:func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𝑦𝑓</m:t>
                                    </m:r>
                                    <m:d>
                                      <m:dPr>
                                        <m:ctrlPr>
                                          <a:rPr lang="en-US" altLang="zh-CN" i="1"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1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299370"/>
                <a:ext cx="7537430" cy="4994356"/>
              </a:xfrm>
              <a:blipFill rotWithShape="0">
                <a:blip r:embed="rId2"/>
                <a:stretch>
                  <a:fillRect l="-1456" t="-1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870" y="1116238"/>
            <a:ext cx="2528930" cy="20479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8076152" y="3164205"/>
                <a:ext cx="65409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152" y="3164205"/>
                <a:ext cx="654090" cy="300082"/>
              </a:xfrm>
              <a:prstGeom prst="rect">
                <a:avLst/>
              </a:prstGeom>
              <a:blipFill rotWithShape="0">
                <a:blip r:embed="rId4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5365812" y="1116237"/>
                <a:ext cx="924933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35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812" y="1116237"/>
                <a:ext cx="924933" cy="300082"/>
              </a:xfrm>
              <a:prstGeom prst="rect">
                <a:avLst/>
              </a:prstGeom>
              <a:blipFill rotWithShape="0">
                <a:blip r:embed="rId5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损失函数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i="1" smtClean="0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altLang="zh-CN" smtClean="0">
                                      <a:latin typeface="Cambria Math" panose="02040503050406030204" pitchFamily="18" charset="0"/>
                                    </a:rPr>
                                    <m:t>, 0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880118" y="2255218"/>
            <a:ext cx="3500439" cy="2519885"/>
            <a:chOff x="5832999" y="3923454"/>
            <a:chExt cx="3559768" cy="2152734"/>
          </a:xfrm>
        </p:grpSpPr>
        <p:cxnSp>
          <p:nvCxnSpPr>
            <p:cNvPr id="6" name="直接箭头连接符 5"/>
            <p:cNvCxnSpPr/>
            <p:nvPr/>
          </p:nvCxnSpPr>
          <p:spPr>
            <a:xfrm flipV="1">
              <a:off x="5832999" y="5764505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V="1">
              <a:off x="7309412" y="3934414"/>
              <a:ext cx="0" cy="19442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8524145" y="5819828"/>
                  <a:ext cx="868622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1350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35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4145" y="5819828"/>
                  <a:ext cx="822487" cy="23664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sp>
          <p:nvSpPr>
            <p:cNvPr id="12" name="矩形 11"/>
            <p:cNvSpPr/>
            <p:nvPr/>
          </p:nvSpPr>
          <p:spPr>
            <a:xfrm>
              <a:off x="6450266" y="3923454"/>
              <a:ext cx="859145" cy="611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rPr>
                <a:t>单个训练样本损失</a:t>
              </a:r>
              <a:endPara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/>
                <p:cNvSpPr/>
                <p:nvPr/>
              </p:nvSpPr>
              <p:spPr>
                <a:xfrm>
                  <a:off x="7020499" y="5730133"/>
                  <a:ext cx="373635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499" y="5730133"/>
                  <a:ext cx="326686" cy="23664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  <p:cxnSp>
          <p:nvCxnSpPr>
            <p:cNvPr id="21" name="直接箭头连接符 20"/>
            <p:cNvCxnSpPr/>
            <p:nvPr/>
          </p:nvCxnSpPr>
          <p:spPr>
            <a:xfrm flipH="1" flipV="1">
              <a:off x="8264787" y="5760370"/>
              <a:ext cx="0" cy="6919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矩形 22"/>
                <p:cNvSpPr/>
                <p:nvPr/>
              </p:nvSpPr>
              <p:spPr>
                <a:xfrm>
                  <a:off x="8097116" y="5789401"/>
                  <a:ext cx="373635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7116" y="5789401"/>
                  <a:ext cx="326686" cy="23664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  <a:endParaRPr lang="zh-CN" altLang="en-US">
                    <a:noFill/>
                  </a:endParaRPr>
                </a:p>
              </p:txBody>
            </p:sp>
          </mc:Fallback>
        </mc:AlternateContent>
      </p:grpSp>
      <p:cxnSp>
        <p:nvCxnSpPr>
          <p:cNvPr id="16" name="直接连接符 15"/>
          <p:cNvCxnSpPr/>
          <p:nvPr/>
        </p:nvCxnSpPr>
        <p:spPr>
          <a:xfrm>
            <a:off x="2487098" y="2761141"/>
            <a:ext cx="1762929" cy="1608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4250027" y="4370024"/>
            <a:ext cx="976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1163927" y="2859102"/>
                <a:ext cx="1687193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35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), 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2" y="3812136"/>
                <a:ext cx="219169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内容占位符 2"/>
              <p:cNvSpPr txBox="1">
                <a:spLocks/>
              </p:cNvSpPr>
              <p:nvPr/>
            </p:nvSpPr>
            <p:spPr>
              <a:xfrm>
                <a:off x="5215091" y="2268045"/>
                <a:ext cx="2607886" cy="1761868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400" dirty="0"/>
                  <a:t>可以证明，当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zh-CN" altLang="en-US" sz="2400" dirty="0"/>
                  <a:t>时，最小化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</m:d>
                  </m:oMath>
                </a14:m>
                <a:r>
                  <a:rPr lang="zh-CN" altLang="en-US" sz="2400" dirty="0"/>
                  <a:t>与线性</a:t>
                </a:r>
                <a:r>
                  <a:rPr lang="en-US" altLang="zh-CN" sz="2400" dirty="0"/>
                  <a:t>SVM</a:t>
                </a:r>
                <a:r>
                  <a:rPr lang="zh-CN" altLang="en-US" sz="2400" dirty="0"/>
                  <a:t>学习等价</a:t>
                </a:r>
              </a:p>
            </p:txBody>
          </p:sp>
        </mc:Choice>
        <mc:Fallback>
          <p:sp>
            <p:nvSpPr>
              <p:cNvPr id="32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454" y="3024059"/>
                <a:ext cx="3477181" cy="2349157"/>
              </a:xfrm>
              <a:prstGeom prst="rect">
                <a:avLst/>
              </a:prstGeom>
              <a:blipFill rotWithShape="0">
                <a:blip r:embed="rId6"/>
                <a:stretch>
                  <a:fillRect l="-4035" t="-3377" b="-4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  <a:endParaRPr lang="zh-CN" altLang="en-US" sz="40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机器学习初步与实践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4357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ct val="160000"/>
              </a:lnSpc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 机器学习介绍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监督学习概览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决策树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 支持向量机</a:t>
            </a:r>
            <a:r>
              <a:rPr lang="en-US" altLang="zh-CN" dirty="0"/>
              <a:t>/Perceptron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5.</a:t>
            </a:r>
            <a:r>
              <a:rPr lang="zh-CN" altLang="en-US" dirty="0">
                <a:solidFill>
                  <a:srgbClr val="C00000"/>
                </a:solidFill>
              </a:rPr>
              <a:t> 深入理解</a:t>
            </a:r>
            <a:r>
              <a:rPr lang="en-US" altLang="zh-CN" dirty="0">
                <a:solidFill>
                  <a:srgbClr val="C00000"/>
                </a:solidFill>
              </a:rPr>
              <a:t>Perceptron</a:t>
            </a:r>
            <a:r>
              <a:rPr lang="zh-CN" altLang="en-US" dirty="0">
                <a:solidFill>
                  <a:srgbClr val="C00000"/>
                </a:solidFill>
              </a:rPr>
              <a:t>与</a:t>
            </a:r>
            <a:r>
              <a:rPr lang="en-US" altLang="zh-CN" dirty="0">
                <a:solidFill>
                  <a:srgbClr val="C00000"/>
                </a:solidFill>
              </a:rPr>
              <a:t>SVM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分析案例</a:t>
            </a:r>
            <a:endParaRPr lang="en-US" dirty="0"/>
          </a:p>
        </p:txBody>
      </p:sp>
      <p:grpSp>
        <p:nvGrpSpPr>
          <p:cNvPr id="87" name="Group 86"/>
          <p:cNvGrpSpPr/>
          <p:nvPr/>
        </p:nvGrpSpPr>
        <p:grpSpPr>
          <a:xfrm>
            <a:off x="240339" y="1159934"/>
            <a:ext cx="4619528" cy="3347307"/>
            <a:chOff x="45605" y="1261534"/>
            <a:chExt cx="4619528" cy="3347307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41995" y="4343560"/>
              <a:ext cx="4023138" cy="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41995" y="1261534"/>
              <a:ext cx="0" cy="3091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1402033" y="4259168"/>
              <a:ext cx="806824" cy="87408"/>
              <a:chOff x="2655099" y="4293034"/>
              <a:chExt cx="806824" cy="8740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2208856" y="4256153"/>
              <a:ext cx="806824" cy="87408"/>
              <a:chOff x="2655099" y="4293034"/>
              <a:chExt cx="806824" cy="87408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3015678" y="4256153"/>
              <a:ext cx="806824" cy="87408"/>
              <a:chOff x="2655099" y="4293034"/>
              <a:chExt cx="806824" cy="87408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 rot="5400000">
              <a:off x="332561" y="3209133"/>
              <a:ext cx="706276" cy="87408"/>
              <a:chOff x="2755647" y="4293034"/>
              <a:chExt cx="706276" cy="87408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/>
            <p:cNvGrpSpPr/>
            <p:nvPr/>
          </p:nvGrpSpPr>
          <p:grpSpPr>
            <a:xfrm rot="5400000">
              <a:off x="332561" y="2502857"/>
              <a:ext cx="706276" cy="87408"/>
              <a:chOff x="2755647" y="4293034"/>
              <a:chExt cx="706276" cy="87408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/>
            <p:cNvSpPr/>
            <p:nvPr/>
          </p:nvSpPr>
          <p:spPr>
            <a:xfrm>
              <a:off x="2111489" y="4242534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2909060" y="4242535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64214" y="4250226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=(0,0)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blipFill rotWithShape="0">
                  <a:blip r:embed="rId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p:cxnSp>
          <p:nvCxnSpPr>
            <p:cNvPr id="71" name="Straight Connector 70"/>
            <p:cNvCxnSpPr/>
            <p:nvPr/>
          </p:nvCxnSpPr>
          <p:spPr>
            <a:xfrm flipV="1">
              <a:off x="806667" y="1744133"/>
              <a:ext cx="3072699" cy="2864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2125566" y="2815032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=(3,0)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/>
              <p:cNvSpPr txBox="1"/>
              <p:nvPr/>
            </p:nvSpPr>
            <p:spPr>
              <a:xfrm>
                <a:off x="5841871" y="1466861"/>
                <a:ext cx="119083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1" y="1466861"/>
                <a:ext cx="1190839" cy="102047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/>
              <p:cNvSpPr txBox="1"/>
              <p:nvPr/>
            </p:nvSpPr>
            <p:spPr>
              <a:xfrm>
                <a:off x="7475938" y="1466861"/>
                <a:ext cx="99527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+1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938" y="1466861"/>
                <a:ext cx="995272" cy="102047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88" name="Content Placeholder 2"/>
          <p:cNvSpPr>
            <a:spLocks noGrp="1"/>
          </p:cNvSpPr>
          <p:nvPr>
            <p:ph idx="1"/>
          </p:nvPr>
        </p:nvSpPr>
        <p:spPr>
          <a:xfrm>
            <a:off x="5106840" y="819150"/>
            <a:ext cx="3579959" cy="3937000"/>
          </a:xfrm>
        </p:spPr>
        <p:txBody>
          <a:bodyPr/>
          <a:lstStyle/>
          <a:p>
            <a:r>
              <a:rPr lang="zh-CN" altLang="en-US" dirty="0" smtClean="0"/>
              <a:t>训练样本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训练目标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angle 88"/>
              <p:cNvSpPr/>
              <p:nvPr/>
            </p:nvSpPr>
            <p:spPr>
              <a:xfrm>
                <a:off x="5841871" y="3088947"/>
                <a:ext cx="29868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1" y="3088947"/>
                <a:ext cx="2986843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pic>
        <p:nvPicPr>
          <p:cNvPr id="97" name="Picture 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217" y="3461439"/>
            <a:ext cx="2216150" cy="1196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学习模型的损失函数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学习目标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在训练集上，减少错误的分类，最终实现所有分类正确（线性可分）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dirty="0" smtClean="0"/>
                  <a:t>针对任一训练样本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，分类错误表示为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𝐰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&gt;0</m:t>
                    </m:r>
                  </m:oMath>
                </a14:m>
                <a:endParaRPr lang="en-US" altLang="zh-CN" i="1" dirty="0">
                  <a:solidFill>
                    <a:srgbClr val="C00000"/>
                  </a:solidFill>
                  <a:latin typeface="Cambria Math" charset="0"/>
                </a:endParaRP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针对整个训练集，损失函数</a:t>
                </a:r>
                <a:r>
                  <a:rPr lang="en-US" altLang="zh-CN" dirty="0" smtClean="0"/>
                  <a:t>Loss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可以定义为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 smtClean="0">
                  <a:solidFill>
                    <a:srgbClr val="C00000"/>
                  </a:solidFill>
                </a:endParaRPr>
              </a:p>
              <a:p>
                <a:pPr lvl="1">
                  <a:buFont typeface="Arial" charset="0"/>
                  <a:buChar char="•"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zh-CN" altLang="en-US" dirty="0" smtClean="0"/>
                  <a:t>为所有错误分类实例的集合</a:t>
                </a:r>
                <a:endParaRPr lang="en-US" altLang="zh-CN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如何训练感知机模型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6273800" cy="246591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计算损失函数对于参数的梯度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 smtClean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观察感知机的训练算法</a:t>
                </a:r>
                <a:endParaRPr lang="en-US" altLang="zh-CN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6273800" cy="2465917"/>
              </a:xfrm>
              <a:blipFill rotWithShape="0">
                <a:blip r:embed="rId1"/>
                <a:stretch>
                  <a:fillRect l="-875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051596" y="3645723"/>
                <a:ext cx="2470537" cy="1161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请计算梯度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r>
                      <a:rPr lang="en-US" altLang="zh-CN" sz="16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sz="1600" b="1" dirty="0" smtClean="0">
                  <a:solidFill>
                    <a:srgbClr val="C00000"/>
                  </a:solidFill>
                  <a:latin typeface="Helvetica Neue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1" dirty="0" smtClean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1600" b="1" dirty="0" smtClean="0">
                  <a:solidFill>
                    <a:srgbClr val="C00000"/>
                  </a:solidFill>
                  <a:latin typeface="Helvetica Neue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1" dirty="0" smtClean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96" y="3645723"/>
                <a:ext cx="2470537" cy="1161472"/>
              </a:xfrm>
              <a:prstGeom prst="rect">
                <a:avLst/>
              </a:prstGeom>
              <a:blipFill rotWithShape="0">
                <a:blip r:embed="rId2"/>
                <a:stretch>
                  <a:fillRect l="-1481" t="-2094" b="-43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24412" y="3678107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545" y="819150"/>
            <a:ext cx="3810000" cy="4152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随机梯度下降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9"/>
                <a:ext cx="4140200" cy="178755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随机梯度下降（</a:t>
                </a:r>
                <a:r>
                  <a:rPr lang="en-US" altLang="zh-CN" dirty="0" smtClean="0"/>
                  <a:t>Stochastic Gradient Descent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选择任意分类错误实例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按照梯度的负方向更新参数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𝜂</m:t>
                    </m:r>
                  </m:oMath>
                </a14:m>
                <a:r>
                  <a:rPr lang="zh-CN" altLang="en-US" dirty="0" smtClean="0"/>
                  <a:t>：学习率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Learning</a:t>
                </a:r>
                <a:r>
                  <a:rPr lang="zh-CN" altLang="en-US" dirty="0" smtClean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Rate</a:t>
                </a:r>
                <a:r>
                  <a:rPr lang="zh-CN" altLang="en-US" dirty="0" smtClean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endParaRPr lang="en-US" altLang="zh-CN" dirty="0" smtClean="0">
                  <a:latin typeface="Calibri" charset="0"/>
                  <a:ea typeface="Calibri" charset="0"/>
                  <a:cs typeface="Calibri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9"/>
                <a:ext cx="4140200" cy="1787551"/>
              </a:xfrm>
              <a:blipFill rotWithShape="0">
                <a:blip r:embed="rId1"/>
                <a:stretch>
                  <a:fillRect l="-1325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30200" y="2434166"/>
                <a:ext cx="40351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" y="2434166"/>
                <a:ext cx="4035144" cy="64633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330200" y="3540151"/>
                <a:ext cx="365561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" y="3540151"/>
                <a:ext cx="3655616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545" y="819150"/>
            <a:ext cx="3810000" cy="41529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365344" y="3080497"/>
            <a:ext cx="2374123" cy="610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985816" y="3976594"/>
            <a:ext cx="2753651" cy="62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随机梯度下降</a:t>
            </a:r>
            <a:r>
              <a:rPr lang="en-US" altLang="zh-CN" dirty="0" smtClean="0"/>
              <a:t>SGD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4922328" cy="3937000"/>
          </a:xfrm>
        </p:spPr>
        <p:txBody>
          <a:bodyPr/>
          <a:lstStyle/>
          <a:p>
            <a:r>
              <a:rPr lang="zh-CN" altLang="en-US" dirty="0" smtClean="0"/>
              <a:t>深度学习训练算法的基础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5" y="1264775"/>
            <a:ext cx="4567766" cy="34216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68620" y="1264775"/>
            <a:ext cx="24705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如果损失函数为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41436" y="129715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605552" y="1759835"/>
                <a:ext cx="3433697" cy="7323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6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600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sz="1600" i="1" dirty="0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600" b="0" i="1" dirty="0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sz="16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𝐰</m:t>
                                          </m:r>
                                          <m:r>
                                            <a:rPr lang="en-US" altLang="zh-CN" sz="1600" b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1600" b="1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b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552" y="1759835"/>
                <a:ext cx="3433697" cy="73231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5736906" y="2571213"/>
                <a:ext cx="268742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请计算参数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应该如何更新</a:t>
                </a:r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906" y="2571213"/>
                <a:ext cx="2687427" cy="338554"/>
              </a:xfrm>
              <a:prstGeom prst="rect">
                <a:avLst/>
              </a:prstGeom>
              <a:blipFill rotWithShape="0">
                <a:blip r:embed="rId3"/>
                <a:stretch>
                  <a:fillRect l="-1134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5379528" y="2988829"/>
                <a:ext cx="217803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28" y="2988829"/>
                <a:ext cx="2178032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379528" y="3432836"/>
                <a:ext cx="38857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28" y="3432836"/>
                <a:ext cx="3885744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5379528" y="3903717"/>
                <a:ext cx="38857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28" y="3903717"/>
                <a:ext cx="3885744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475855" y="3184213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smtClean="0">
                <a:solidFill>
                  <a:srgbClr val="C00000"/>
                </a:solidFill>
                <a:latin typeface="Helvetica Neue" charset="0"/>
              </a:rPr>
              <a:t>A</a:t>
            </a:r>
            <a:r>
              <a:rPr lang="en-US" altLang="zh-CN" b="1">
                <a:solidFill>
                  <a:srgbClr val="C00000"/>
                </a:solidFill>
                <a:latin typeface="Helvetica Neue" charset="0"/>
              </a:rPr>
              <a:t>.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75855" y="3635160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B.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475855" y="4084890"/>
            <a:ext cx="420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C.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感知机训练算法的实现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869267" cy="3937000"/>
              </a:xfrm>
            </p:spPr>
            <p:txBody>
              <a:bodyPr/>
              <a:lstStyle/>
              <a:p>
                <a:r>
                  <a:rPr lang="zh-CN" altLang="en-US" dirty="0" smtClean="0"/>
                  <a:t>使用</a:t>
                </a:r>
                <a:r>
                  <a:rPr lang="en-US" altLang="zh-CN" dirty="0" err="1" smtClean="0"/>
                  <a:t>NumPy</a:t>
                </a:r>
                <a:r>
                  <a:rPr lang="zh-CN" altLang="en-US" dirty="0" smtClean="0"/>
                  <a:t>实现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输入变量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训练特征：</a:t>
                </a:r>
                <a:r>
                  <a:rPr lang="en-US" altLang="zh-CN" dirty="0" err="1" smtClean="0"/>
                  <a:t>X_train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训练标签：</a:t>
                </a:r>
                <a:r>
                  <a:rPr lang="en-US" altLang="zh-CN" dirty="0" err="1" smtClean="0"/>
                  <a:t>y_train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学习率：</a:t>
                </a:r>
                <a:r>
                  <a:rPr lang="en-US" altLang="zh-CN" dirty="0" smtClean="0"/>
                  <a:t>eta</a:t>
                </a:r>
              </a:p>
              <a:p>
                <a:pPr lvl="1"/>
                <a:r>
                  <a:rPr lang="zh-CN" altLang="en-US" dirty="0" smtClean="0"/>
                  <a:t>输出变量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参数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 smtClean="0"/>
              </a:p>
              <a:p>
                <a:pPr lvl="1"/>
                <a:endParaRPr lang="en-US" altLang="zh-CN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869267" cy="3937000"/>
              </a:xfrm>
              <a:blipFill rotWithShape="0">
                <a:blip r:embed="rId1"/>
                <a:stretch>
                  <a:fillRect l="-141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467" y="897467"/>
            <a:ext cx="4618567" cy="412954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91863" y="3576451"/>
            <a:ext cx="24705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请填写</a:t>
            </a:r>
            <a:r>
              <a:rPr lang="zh-CN" altLang="en-US" sz="1600" b="1" smtClean="0">
                <a:solidFill>
                  <a:srgbClr val="C00000"/>
                </a:solidFill>
                <a:latin typeface="Helvetica Neue" charset="0"/>
              </a:rPr>
              <a:t>右侧的代码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2503" y="352389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感知机的对偶形式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了解内容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970867" cy="91651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如果初始化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参数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←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𝟎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，而实例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被分错的次数是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次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970867" cy="916517"/>
              </a:xfrm>
              <a:blipFill rotWithShape="0">
                <a:blip r:embed="rId1"/>
                <a:stretch>
                  <a:fillRect l="-1382" t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24731" y="1860551"/>
                <a:ext cx="3635803" cy="670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𝜂</m:t>
                          </m:r>
                        </m:e>
                      </m:nary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31" y="1860551"/>
                <a:ext cx="3635803" cy="67031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457200" y="3147484"/>
                <a:ext cx="3141133" cy="11027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训练的目标变为寻找每个实例的“权重”：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147484"/>
                <a:ext cx="3141133" cy="1102783"/>
              </a:xfrm>
              <a:prstGeom prst="rect">
                <a:avLst/>
              </a:prstGeom>
              <a:blipFill rotWithShape="0">
                <a:blip r:embed="rId3"/>
                <a:stretch>
                  <a:fillRect l="-1748" t="-2762" r="-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4373918" y="1092200"/>
            <a:ext cx="4499150" cy="3465988"/>
            <a:chOff x="4373918" y="1092200"/>
            <a:chExt cx="4499150" cy="346598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920"/>
            <a:stretch>
              <a:fillRect/>
            </a:stretch>
          </p:blipFill>
          <p:spPr>
            <a:xfrm>
              <a:off x="4373918" y="1092200"/>
              <a:ext cx="4499150" cy="3465988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8221133" y="4131733"/>
              <a:ext cx="651934" cy="2963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感知机训练算法</a:t>
            </a:r>
            <a:r>
              <a:rPr lang="zh-CN" altLang="en-US" dirty="0" smtClean="0"/>
              <a:t>的实验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6155267" cy="3937000"/>
          </a:xfrm>
        </p:spPr>
        <p:txBody>
          <a:bodyPr/>
          <a:lstStyle/>
          <a:p>
            <a:r>
              <a:rPr lang="zh-CN" altLang="en-US" dirty="0" smtClean="0"/>
              <a:t>请按照不同的顺序输入实例，观察最后的结果</a:t>
            </a:r>
            <a:endParaRPr lang="en-US" altLang="zh-CN" dirty="0" smtClean="0"/>
          </a:p>
          <a:p>
            <a:pPr lvl="1"/>
            <a:r>
              <a:rPr lang="pt-BR" dirty="0" err="1"/>
              <a:t>X</a:t>
            </a:r>
            <a:r>
              <a:rPr lang="pt-BR" dirty="0"/>
              <a:t>=[[0,0],[2,2],[2,0],[3,0</a:t>
            </a:r>
            <a:r>
              <a:rPr lang="pt-BR" dirty="0" smtClean="0"/>
              <a:t>]]</a:t>
            </a:r>
            <a:r>
              <a:rPr lang="zh-CN" altLang="en-US" dirty="0" smtClean="0"/>
              <a:t> </a:t>
            </a:r>
            <a:r>
              <a:rPr lang="en-US" altLang="zh-CN" dirty="0" smtClean="0"/>
              <a:t>;</a:t>
            </a:r>
            <a:r>
              <a:rPr lang="zh-CN" altLang="en-US" dirty="0" smtClean="0"/>
              <a:t> </a:t>
            </a:r>
            <a:r>
              <a:rPr lang="en-US" altLang="zh-CN" dirty="0" err="1"/>
              <a:t>y</a:t>
            </a:r>
            <a:r>
              <a:rPr lang="en-US" altLang="zh-CN" dirty="0"/>
              <a:t>=[-1,-1,1,1]</a:t>
            </a:r>
            <a:endParaRPr lang="pt-BR" dirty="0" smtClean="0"/>
          </a:p>
          <a:p>
            <a:pPr lvl="1"/>
            <a:r>
              <a:rPr lang="pt-BR" dirty="0" err="1"/>
              <a:t>X</a:t>
            </a:r>
            <a:r>
              <a:rPr lang="pt-BR" dirty="0"/>
              <a:t>=[[0,0],[2,0],[3,0],[2,2</a:t>
            </a:r>
            <a:r>
              <a:rPr lang="pt-BR" dirty="0" smtClean="0"/>
              <a:t>]]</a:t>
            </a:r>
            <a:r>
              <a:rPr lang="en-US" altLang="zh-CN" dirty="0" smtClean="0"/>
              <a:t>;</a:t>
            </a:r>
            <a:r>
              <a:rPr lang="zh-CN" altLang="en-US" dirty="0" smtClean="0"/>
              <a:t> </a:t>
            </a:r>
            <a:r>
              <a:rPr lang="en-US" altLang="zh-CN" dirty="0" err="1"/>
              <a:t>y</a:t>
            </a:r>
            <a:r>
              <a:rPr lang="en-US" altLang="zh-CN" dirty="0"/>
              <a:t>=[-1,1,1,-1]</a:t>
            </a:r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0" y="1617134"/>
            <a:ext cx="6095200" cy="3347307"/>
            <a:chOff x="0" y="1617134"/>
            <a:chExt cx="6095200" cy="3347307"/>
          </a:xfrm>
        </p:grpSpPr>
        <p:grpSp>
          <p:nvGrpSpPr>
            <p:cNvPr id="4" name="Group 3"/>
            <p:cNvGrpSpPr/>
            <p:nvPr/>
          </p:nvGrpSpPr>
          <p:grpSpPr>
            <a:xfrm>
              <a:off x="0" y="1617134"/>
              <a:ext cx="4619528" cy="3347307"/>
              <a:chOff x="45605" y="1261534"/>
              <a:chExt cx="4619528" cy="334730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 flipV="1">
                <a:off x="641995" y="4343560"/>
                <a:ext cx="4023138" cy="90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/>
              <p:nvPr/>
            </p:nvCxnSpPr>
            <p:spPr>
              <a:xfrm flipV="1">
                <a:off x="641995" y="1261534"/>
                <a:ext cx="0" cy="30910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" name="Group 6"/>
              <p:cNvGrpSpPr/>
              <p:nvPr/>
            </p:nvGrpSpPr>
            <p:grpSpPr>
              <a:xfrm>
                <a:off x="1402033" y="4259168"/>
                <a:ext cx="806824" cy="87408"/>
                <a:chOff x="2655099" y="4293034"/>
                <a:chExt cx="806824" cy="87408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655099" y="4380441"/>
                  <a:ext cx="80682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flipV="1">
                  <a:off x="2655099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/>
              <p:cNvGrpSpPr/>
              <p:nvPr/>
            </p:nvGrpSpPr>
            <p:grpSpPr>
              <a:xfrm>
                <a:off x="2208856" y="4256153"/>
                <a:ext cx="806824" cy="87408"/>
                <a:chOff x="2655099" y="4293034"/>
                <a:chExt cx="806824" cy="87408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>
                  <a:off x="2655099" y="4380441"/>
                  <a:ext cx="80682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2655099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/>
              <p:cNvGrpSpPr/>
              <p:nvPr/>
            </p:nvGrpSpPr>
            <p:grpSpPr>
              <a:xfrm>
                <a:off x="3015678" y="4256153"/>
                <a:ext cx="806824" cy="87408"/>
                <a:chOff x="2655099" y="4293034"/>
                <a:chExt cx="806824" cy="87408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655099" y="4380441"/>
                  <a:ext cx="80682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V="1">
                  <a:off x="2655099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 rot="5400000">
                <a:off x="332561" y="3209133"/>
                <a:ext cx="706276" cy="87408"/>
                <a:chOff x="2755647" y="4293034"/>
                <a:chExt cx="706276" cy="87408"/>
              </a:xfrm>
            </p:grpSpPr>
            <p:cxnSp>
              <p:nvCxnSpPr>
                <p:cNvPr id="24" name="Straight Connector 23"/>
                <p:cNvCxnSpPr/>
                <p:nvPr/>
              </p:nvCxnSpPr>
              <p:spPr>
                <a:xfrm rot="16200000">
                  <a:off x="3114139" y="4032657"/>
                  <a:ext cx="0" cy="69556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flipV="1">
                  <a:off x="2755647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/>
              <p:cNvGrpSpPr/>
              <p:nvPr/>
            </p:nvGrpSpPr>
            <p:grpSpPr>
              <a:xfrm rot="5400000">
                <a:off x="332561" y="2502857"/>
                <a:ext cx="706276" cy="87408"/>
                <a:chOff x="2755647" y="4293034"/>
                <a:chExt cx="706276" cy="87408"/>
              </a:xfrm>
            </p:grpSpPr>
            <p:cxnSp>
              <p:nvCxnSpPr>
                <p:cNvPr id="21" name="Straight Connector 20"/>
                <p:cNvCxnSpPr/>
                <p:nvPr/>
              </p:nvCxnSpPr>
              <p:spPr>
                <a:xfrm rot="16200000">
                  <a:off x="3114139" y="4032657"/>
                  <a:ext cx="0" cy="69556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 flipV="1">
                  <a:off x="2755647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/>
              <p:cNvSpPr/>
              <p:nvPr/>
            </p:nvSpPr>
            <p:spPr>
              <a:xfrm>
                <a:off x="2111489" y="4242534"/>
                <a:ext cx="194733" cy="194733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909060" y="4242535"/>
                <a:ext cx="194733" cy="194733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64214" y="4250226"/>
                <a:ext cx="169333" cy="1693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45605" y="3900041"/>
                    <a:ext cx="125906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=(0,0)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05" y="3900041"/>
                    <a:ext cx="1259063" cy="369332"/>
                  </a:xfrm>
                  <a:prstGeom prst="rect">
                    <a:avLst/>
                  </a:prstGeom>
                  <a:blipFill rotWithShape="0">
                    <a:blip r:embed="rId1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  <a:endParaRPr 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1839408" y="2238513"/>
                    <a:ext cx="1264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=(2,2)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9408" y="2238513"/>
                    <a:ext cx="1264385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  <a:endParaRPr lang="en-US">
                      <a:noFill/>
                    </a:endParaRP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674029" y="3745859"/>
                    <a:ext cx="1264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=(2,0)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4029" y="3745859"/>
                    <a:ext cx="1264385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  <a:endParaRPr lang="en-US">
                      <a:noFill/>
                    </a:endParaRPr>
                  </a:p>
                </p:txBody>
              </p:sp>
            </mc:Fallback>
          </mc:AlternateContent>
          <p:cxnSp>
            <p:nvCxnSpPr>
              <p:cNvPr id="18" name="Straight Connector 17"/>
              <p:cNvCxnSpPr/>
              <p:nvPr/>
            </p:nvCxnSpPr>
            <p:spPr>
              <a:xfrm flipV="1">
                <a:off x="806667" y="1744133"/>
                <a:ext cx="3072699" cy="28647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2125566" y="2815032"/>
                <a:ext cx="169333" cy="1693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3015678" y="3709120"/>
                    <a:ext cx="1264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=(3,0)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15678" y="3709120"/>
                    <a:ext cx="1264385" cy="369332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  <a:endParaRPr lang="en-US">
                      <a:noFill/>
                    </a:endParaRPr>
                  </a:p>
                </p:txBody>
              </p:sp>
            </mc:Fallback>
          </mc:AlternateContent>
        </p:grpSp>
        <p:sp>
          <p:nvSpPr>
            <p:cNvPr id="36" name="Rectangle 35"/>
            <p:cNvSpPr/>
            <p:nvPr/>
          </p:nvSpPr>
          <p:spPr>
            <a:xfrm>
              <a:off x="4945526" y="2363280"/>
              <a:ext cx="1149674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[ 2. -2. -1</a:t>
              </a:r>
              <a:r>
                <a:rPr lang="en-US" dirty="0" smtClean="0">
                  <a:solidFill>
                    <a:srgbClr val="FF0000"/>
                  </a:solidFill>
                </a:rPr>
                <a:t>.]</a:t>
              </a:r>
              <a:endParaRPr lang="en-US" dirty="0" smtClean="0">
                <a:solidFill>
                  <a:srgbClr val="FF0000"/>
                </a:solidFill>
              </a:endParaRPr>
            </a:p>
            <a:p>
              <a:endParaRPr lang="en-US" dirty="0">
                <a:solidFill>
                  <a:srgbClr val="FF0000"/>
                </a:solidFill>
              </a:endParaRPr>
            </a:p>
            <a:p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smtClean="0">
                  <a:solidFill>
                    <a:srgbClr val="FF0000"/>
                  </a:solidFill>
                </a:rPr>
                <a:t>[ </a:t>
              </a:r>
              <a:r>
                <a:rPr lang="en-US" dirty="0">
                  <a:solidFill>
                    <a:srgbClr val="FF0000"/>
                  </a:solidFill>
                </a:rPr>
                <a:t>2. -4. -1.]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>
            <a:xfrm flipV="1">
              <a:off x="574196" y="3114996"/>
              <a:ext cx="3968725" cy="179381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 flipV="1">
              <a:off x="4013200" y="2269067"/>
              <a:ext cx="821267" cy="203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 flipV="1">
              <a:off x="4423833" y="3339965"/>
              <a:ext cx="521694" cy="774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/>
          <p:cNvSpPr/>
          <p:nvPr/>
        </p:nvSpPr>
        <p:spPr>
          <a:xfrm>
            <a:off x="7033264" y="2088712"/>
            <a:ext cx="20229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你觉得那个结果好？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506080" y="202688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4396" y="1198475"/>
            <a:ext cx="3278764" cy="28152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9034" y="87425"/>
            <a:ext cx="6172200" cy="857250"/>
          </a:xfrm>
        </p:spPr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7" idx="3"/>
            <a:endCxn id="6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11" idx="2"/>
            <a:endCxn id="6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19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52" name="文本框 51"/>
          <p:cNvSpPr txBox="1"/>
          <p:nvPr/>
        </p:nvSpPr>
        <p:spPr>
          <a:xfrm>
            <a:off x="600972" y="2642878"/>
            <a:ext cx="3986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不同的模型有不同大小的边距。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SVM (support vector machine)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的目标：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最大化分类边距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 rot="1957138">
            <a:off x="6267639" y="718085"/>
            <a:ext cx="195725" cy="38495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166067" y="897564"/>
            <a:ext cx="2324780" cy="3618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00972" y="4013749"/>
            <a:ext cx="4128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直观含义：寻找正确划分数据的最“胖”的分界</a:t>
            </a: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9228" y="829598"/>
            <a:ext cx="3471333" cy="1177002"/>
          </a:xfrm>
        </p:spPr>
        <p:txBody>
          <a:bodyPr/>
          <a:lstStyle/>
          <a:p>
            <a:r>
              <a:rPr lang="zh-CN" altLang="en-US" dirty="0" smtClean="0"/>
              <a:t>优化目标：最大边距</a:t>
            </a:r>
            <a:endParaRPr lang="en-US" altLang="zh-CN" dirty="0" smtClean="0"/>
          </a:p>
          <a:p>
            <a:r>
              <a:rPr lang="zh-CN" altLang="en-US" dirty="0" smtClean="0"/>
              <a:t>约束条件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所有样本分类正确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40339" y="1159934"/>
            <a:ext cx="4619528" cy="3175734"/>
            <a:chOff x="45605" y="1261534"/>
            <a:chExt cx="4619528" cy="3175734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41995" y="4343560"/>
              <a:ext cx="4023138" cy="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V="1">
              <a:off x="641995" y="1261534"/>
              <a:ext cx="0" cy="3091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1402033" y="4259168"/>
              <a:ext cx="806824" cy="87408"/>
              <a:chOff x="2655099" y="4293034"/>
              <a:chExt cx="806824" cy="87408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2208856" y="4256153"/>
              <a:ext cx="806824" cy="87408"/>
              <a:chOff x="2655099" y="4293034"/>
              <a:chExt cx="806824" cy="87408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3015678" y="4256153"/>
              <a:ext cx="806824" cy="87408"/>
              <a:chOff x="2655099" y="4293034"/>
              <a:chExt cx="806824" cy="87408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 rot="5400000">
              <a:off x="332561" y="3209133"/>
              <a:ext cx="706276" cy="87408"/>
              <a:chOff x="2755647" y="4293034"/>
              <a:chExt cx="706276" cy="87408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 rot="5400000">
              <a:off x="332561" y="2502857"/>
              <a:ext cx="706276" cy="87408"/>
              <a:chOff x="2755647" y="4293034"/>
              <a:chExt cx="706276" cy="87408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/>
            <p:cNvSpPr/>
            <p:nvPr/>
          </p:nvSpPr>
          <p:spPr>
            <a:xfrm>
              <a:off x="2111489" y="4242534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909060" y="4242535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4214" y="4250226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=(0,0)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blipFill rotWithShape="0">
                  <a:blip r:embed="rId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  <p:sp>
          <p:nvSpPr>
            <p:cNvPr id="19" name="Rectangle 18"/>
            <p:cNvSpPr/>
            <p:nvPr/>
          </p:nvSpPr>
          <p:spPr>
            <a:xfrm>
              <a:off x="2125566" y="2815032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=(3,0)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  <a:endParaRPr lang="en-US">
                    <a:noFill/>
                  </a:endParaRP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5493562" y="2004461"/>
                <a:ext cx="1941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a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zh-CN" altLang="en-US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margin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562" y="2004461"/>
                <a:ext cx="1941172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98333" b="-1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5497921" y="2506245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921" y="2506245"/>
                <a:ext cx="2933945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5806829" y="3008029"/>
                <a:ext cx="3132845" cy="4530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charset="0"/>
                        </a:rPr>
                        <m:t>margin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lim>
                      </m:limLow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dist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829" y="3008029"/>
                <a:ext cx="3132845" cy="453009"/>
              </a:xfrm>
              <a:prstGeom prst="rect">
                <a:avLst/>
              </a:prstGeom>
              <a:blipFill rotWithShape="0">
                <a:blip r:embed="rId7"/>
                <a:stretch>
                  <a:fillRect t="-76000" b="-8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7213600" y="2506245"/>
            <a:ext cx="69426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ine Callout 1 40"/>
          <p:cNvSpPr/>
          <p:nvPr/>
        </p:nvSpPr>
        <p:spPr>
          <a:xfrm>
            <a:off x="5806829" y="3885263"/>
            <a:ext cx="3040838" cy="369332"/>
          </a:xfrm>
          <a:prstGeom prst="borderCallout1">
            <a:avLst>
              <a:gd name="adj1" fmla="val -15636"/>
              <a:gd name="adj2" fmla="val 35659"/>
              <a:gd name="adj3" fmla="val -125912"/>
              <a:gd name="adj4" fmla="val 649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实例到达分界面的最近距离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490016"/>
              </a:xfrm>
            </p:spPr>
            <p:txBody>
              <a:bodyPr/>
              <a:lstStyle/>
              <a:p>
                <a:r>
                  <a:rPr lang="zh-CN" altLang="en-US" dirty="0" smtClean="0"/>
                  <a:t>怎么度量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dist</m:t>
                    </m:r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，考虑分界面上任意点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b="1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490016"/>
              </a:xfrm>
              <a:blipFill rotWithShape="0">
                <a:blip r:embed="rId1"/>
                <a:stretch>
                  <a:fillRect l="-667" t="-6173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矩形 20"/>
          <p:cNvSpPr/>
          <p:nvPr/>
        </p:nvSpPr>
        <p:spPr>
          <a:xfrm rot="4214600">
            <a:off x="2017517" y="1369313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5" name="直接连接符 9"/>
          <p:cNvCxnSpPr/>
          <p:nvPr/>
        </p:nvCxnSpPr>
        <p:spPr>
          <a:xfrm flipV="1">
            <a:off x="597374" y="2239872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33"/>
          <p:cNvCxnSpPr/>
          <p:nvPr/>
        </p:nvCxnSpPr>
        <p:spPr>
          <a:xfrm flipV="1">
            <a:off x="1981520" y="2913801"/>
            <a:ext cx="180064" cy="71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34"/>
          <p:cNvSpPr txBox="1"/>
          <p:nvPr/>
        </p:nvSpPr>
        <p:spPr>
          <a:xfrm>
            <a:off x="1667695" y="360751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35"/>
          <p:cNvCxnSpPr/>
          <p:nvPr/>
        </p:nvCxnSpPr>
        <p:spPr>
          <a:xfrm flipH="1" flipV="1">
            <a:off x="2217554" y="2047833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39"/>
              <p:cNvSpPr txBox="1"/>
              <p:nvPr/>
            </p:nvSpPr>
            <p:spPr>
              <a:xfrm>
                <a:off x="1719056" y="1818318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056" y="1818318"/>
                <a:ext cx="996996" cy="3000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17" name="直接连接符 19"/>
          <p:cNvCxnSpPr/>
          <p:nvPr/>
        </p:nvCxnSpPr>
        <p:spPr>
          <a:xfrm flipV="1">
            <a:off x="805415" y="2642379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21"/>
          <p:cNvCxnSpPr/>
          <p:nvPr/>
        </p:nvCxnSpPr>
        <p:spPr>
          <a:xfrm flipV="1">
            <a:off x="457200" y="1837365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椭圆 7"/>
          <p:cNvSpPr/>
          <p:nvPr/>
        </p:nvSpPr>
        <p:spPr>
          <a:xfrm>
            <a:off x="3157500" y="1990309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3" name="椭圆 26"/>
          <p:cNvSpPr/>
          <p:nvPr/>
        </p:nvSpPr>
        <p:spPr>
          <a:xfrm>
            <a:off x="3459452" y="2858962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8"/>
              <p:cNvSpPr/>
              <p:nvPr/>
            </p:nvSpPr>
            <p:spPr>
              <a:xfrm>
                <a:off x="3505960" y="2892508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4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960" y="2892508"/>
                <a:ext cx="419795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8"/>
              <p:cNvSpPr/>
              <p:nvPr/>
            </p:nvSpPr>
            <p:spPr>
              <a:xfrm>
                <a:off x="3048274" y="1738480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5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274" y="1738480"/>
                <a:ext cx="419795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26" name="直接箭头连接符 30"/>
          <p:cNvCxnSpPr/>
          <p:nvPr/>
        </p:nvCxnSpPr>
        <p:spPr>
          <a:xfrm flipH="1" flipV="1">
            <a:off x="3217657" y="2113590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/>
              <p:cNvSpPr/>
              <p:nvPr/>
            </p:nvSpPr>
            <p:spPr>
              <a:xfrm>
                <a:off x="4667982" y="1254376"/>
                <a:ext cx="3199401" cy="68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charset="0"/>
                        </a:rPr>
                        <m:t>dist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=|</m:t>
                      </m:r>
                      <m:f>
                        <m:fPr>
                          <m:ctrlPr>
                            <a:rPr lang="mr-IN" altLang="zh-CN" b="1" i="1" smtClean="0">
                              <a:latin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charset="0"/>
                        </a:rPr>
                        <m:t>)|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982" y="1254376"/>
                <a:ext cx="3199401" cy="68544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29" name="直接箭头连接符 33"/>
          <p:cNvCxnSpPr/>
          <p:nvPr/>
        </p:nvCxnSpPr>
        <p:spPr>
          <a:xfrm>
            <a:off x="1718581" y="2149450"/>
            <a:ext cx="464209" cy="17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34"/>
          <p:cNvSpPr txBox="1"/>
          <p:nvPr/>
        </p:nvSpPr>
        <p:spPr>
          <a:xfrm>
            <a:off x="1014542" y="2003706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法向量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椭圆 26"/>
          <p:cNvSpPr/>
          <p:nvPr/>
        </p:nvSpPr>
        <p:spPr>
          <a:xfrm>
            <a:off x="3146184" y="2494892"/>
            <a:ext cx="108012" cy="102832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28"/>
              <p:cNvSpPr/>
              <p:nvPr/>
            </p:nvSpPr>
            <p:spPr>
              <a:xfrm>
                <a:off x="2864080" y="2569155"/>
                <a:ext cx="373307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 b="0" i="0" smtClean="0">
                              <a:latin typeface="Cambria Math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34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080" y="2569155"/>
                <a:ext cx="373307" cy="3000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5856255" y="1909200"/>
                <a:ext cx="2857250" cy="68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|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255" y="1909200"/>
                <a:ext cx="2857250" cy="68544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/>
              <p:cNvSpPr/>
              <p:nvPr/>
            </p:nvSpPr>
            <p:spPr>
              <a:xfrm>
                <a:off x="4973695" y="3003592"/>
                <a:ext cx="1941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a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zh-CN" altLang="en-US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margin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695" y="3003592"/>
                <a:ext cx="1941172" cy="369332"/>
              </a:xfrm>
              <a:prstGeom prst="rect">
                <a:avLst/>
              </a:prstGeom>
              <a:blipFill rotWithShape="0">
                <a:blip r:embed="rId8"/>
                <a:stretch>
                  <a:fillRect t="-98333" b="-1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4978054" y="3505376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054" y="3505376"/>
                <a:ext cx="2933945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5286962" y="4007160"/>
                <a:ext cx="3523209" cy="649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charset="0"/>
                        </a:rPr>
                        <m:t>margin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lim>
                      </m:limLow>
                      <m:f>
                        <m:fPr>
                          <m:ctrlPr>
                            <a:rPr lang="mr-IN" altLang="zh-CN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962" y="4007160"/>
                <a:ext cx="3523209" cy="64992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7100088" y="1968359"/>
            <a:ext cx="1539415" cy="674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4627984" cy="966941"/>
          </a:xfrm>
        </p:spPr>
        <p:txBody>
          <a:bodyPr/>
          <a:lstStyle/>
          <a:p>
            <a:r>
              <a:rPr lang="zh-CN" altLang="en-US" dirty="0" smtClean="0"/>
              <a:t>为了简化计算，对系数进行放缩使得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576838" y="1366838"/>
                <a:ext cx="2111219" cy="4530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i="1" smtClean="0">
                              <a:latin typeface="Cambria Math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i="1">
                              <a:latin typeface="Cambria Math" charset="0"/>
                            </a:rPr>
                            <m:t>𝑖</m:t>
                          </m:r>
                        </m:lim>
                      </m:limLow>
                      <m:r>
                        <a:rPr lang="zh-CN" altLang="en-US" b="0" i="1" smtClean="0"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latin typeface="Cambria Math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838" y="1366838"/>
                <a:ext cx="2111219" cy="453009"/>
              </a:xfrm>
              <a:prstGeom prst="rect">
                <a:avLst/>
              </a:prstGeom>
              <a:blipFill rotWithShape="0">
                <a:blip r:embed="rId1"/>
                <a:stretch>
                  <a:fillRect t="-76000" b="-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5" name="矩形 20"/>
          <p:cNvSpPr/>
          <p:nvPr/>
        </p:nvSpPr>
        <p:spPr>
          <a:xfrm rot="4214600">
            <a:off x="2759759" y="1627759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6" name="直接连接符 9"/>
          <p:cNvCxnSpPr/>
          <p:nvPr/>
        </p:nvCxnSpPr>
        <p:spPr>
          <a:xfrm flipV="1">
            <a:off x="1339616" y="2498318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24"/>
          <p:cNvCxnSpPr/>
          <p:nvPr/>
        </p:nvCxnSpPr>
        <p:spPr>
          <a:xfrm>
            <a:off x="1339617" y="2630315"/>
            <a:ext cx="864095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27"/>
          <p:cNvSpPr txBox="1"/>
          <p:nvPr/>
        </p:nvSpPr>
        <p:spPr>
          <a:xfrm>
            <a:off x="681745" y="2491815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正边距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29"/>
          <p:cNvCxnSpPr/>
          <p:nvPr/>
        </p:nvCxnSpPr>
        <p:spPr>
          <a:xfrm flipV="1">
            <a:off x="3760440" y="3202113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32"/>
          <p:cNvSpPr txBox="1"/>
          <p:nvPr/>
        </p:nvSpPr>
        <p:spPr>
          <a:xfrm>
            <a:off x="3305335" y="3841065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负边距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33"/>
          <p:cNvCxnSpPr/>
          <p:nvPr/>
        </p:nvCxnSpPr>
        <p:spPr>
          <a:xfrm flipV="1">
            <a:off x="2723762" y="3172247"/>
            <a:ext cx="180064" cy="71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34"/>
          <p:cNvSpPr txBox="1"/>
          <p:nvPr/>
        </p:nvSpPr>
        <p:spPr>
          <a:xfrm>
            <a:off x="2409937" y="3865964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35"/>
          <p:cNvCxnSpPr/>
          <p:nvPr/>
        </p:nvCxnSpPr>
        <p:spPr>
          <a:xfrm flipH="1" flipV="1">
            <a:off x="2959796" y="2306279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39"/>
              <p:cNvSpPr txBox="1"/>
              <p:nvPr/>
            </p:nvSpPr>
            <p:spPr>
              <a:xfrm>
                <a:off x="2461298" y="2076764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98" y="2076764"/>
                <a:ext cx="996996" cy="3000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15" name="直接箭头连接符 42"/>
          <p:cNvCxnSpPr/>
          <p:nvPr/>
        </p:nvCxnSpPr>
        <p:spPr>
          <a:xfrm>
            <a:off x="4579975" y="2122398"/>
            <a:ext cx="299252" cy="83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弧形 47"/>
          <p:cNvSpPr/>
          <p:nvPr/>
        </p:nvSpPr>
        <p:spPr>
          <a:xfrm rot="2548443">
            <a:off x="4250188" y="2662058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48"/>
          <p:cNvSpPr/>
          <p:nvPr/>
        </p:nvSpPr>
        <p:spPr>
          <a:xfrm>
            <a:off x="4677316" y="3221812"/>
            <a:ext cx="103105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边距大小</a:t>
            </a:r>
            <a:r>
              <a:rPr lang="en-US" altLang="zh-CN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endParaRPr lang="zh-CN" altLang="en-US" sz="135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19"/>
          <p:cNvCxnSpPr/>
          <p:nvPr/>
        </p:nvCxnSpPr>
        <p:spPr>
          <a:xfrm flipV="1">
            <a:off x="1547657" y="2900825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21"/>
          <p:cNvCxnSpPr/>
          <p:nvPr/>
        </p:nvCxnSpPr>
        <p:spPr>
          <a:xfrm flipV="1">
            <a:off x="1199442" y="2095811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5"/>
              <p:cNvSpPr/>
              <p:nvPr/>
            </p:nvSpPr>
            <p:spPr>
              <a:xfrm>
                <a:off x="-28838" y="3199449"/>
                <a:ext cx="126823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0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838" y="3199449"/>
                <a:ext cx="1268232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2"/>
              <p:cNvSpPr/>
              <p:nvPr/>
            </p:nvSpPr>
            <p:spPr>
              <a:xfrm>
                <a:off x="192863" y="4082468"/>
                <a:ext cx="139807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1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63" y="4082468"/>
                <a:ext cx="1398075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3"/>
              <p:cNvSpPr/>
              <p:nvPr/>
            </p:nvSpPr>
            <p:spPr>
              <a:xfrm>
                <a:off x="133684" y="3621003"/>
                <a:ext cx="117365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350" dirty="0"/>
                  <a:t>0</a:t>
                </a:r>
                <a:endParaRPr lang="zh-CN" altLang="en-US" sz="1350" dirty="0"/>
              </a:p>
            </p:txBody>
          </p:sp>
        </mc:Choice>
        <mc:Fallback>
          <p:sp>
            <p:nvSpPr>
              <p:cNvPr id="22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84" y="3621003"/>
                <a:ext cx="1173655" cy="300082"/>
              </a:xfrm>
              <a:prstGeom prst="rect">
                <a:avLst/>
              </a:prstGeom>
              <a:blipFill rotWithShape="0">
                <a:blip r:embed="rId5"/>
                <a:stretch>
                  <a:fillRect t="-4082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23" name="椭圆 7"/>
          <p:cNvSpPr/>
          <p:nvPr/>
        </p:nvSpPr>
        <p:spPr>
          <a:xfrm>
            <a:off x="3899742" y="2248755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4" name="椭圆 26"/>
          <p:cNvSpPr/>
          <p:nvPr/>
        </p:nvSpPr>
        <p:spPr>
          <a:xfrm>
            <a:off x="4201694" y="311740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8"/>
              <p:cNvSpPr/>
              <p:nvPr/>
            </p:nvSpPr>
            <p:spPr>
              <a:xfrm>
                <a:off x="4248202" y="3150954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5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202" y="3150954"/>
                <a:ext cx="419795" cy="3000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8"/>
              <p:cNvSpPr/>
              <p:nvPr/>
            </p:nvSpPr>
            <p:spPr>
              <a:xfrm>
                <a:off x="3790516" y="1996926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6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516" y="1996926"/>
                <a:ext cx="419795" cy="3000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27" name="直接箭头连接符 30"/>
          <p:cNvCxnSpPr/>
          <p:nvPr/>
        </p:nvCxnSpPr>
        <p:spPr>
          <a:xfrm flipH="1" flipV="1">
            <a:off x="3959899" y="2372036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31"/>
              <p:cNvSpPr txBox="1"/>
              <p:nvPr/>
            </p:nvSpPr>
            <p:spPr>
              <a:xfrm>
                <a:off x="3712836" y="2458598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836" y="2458598"/>
                <a:ext cx="996996" cy="30008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5889560" y="930767"/>
                <a:ext cx="1273233" cy="649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a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f>
                        <m:fPr>
                          <m:ctrlPr>
                            <a:rPr lang="mr-IN" altLang="zh-CN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560" y="930767"/>
                <a:ext cx="1273233" cy="64992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/>
              <p:cNvSpPr/>
              <p:nvPr/>
            </p:nvSpPr>
            <p:spPr>
              <a:xfrm>
                <a:off x="5902207" y="1746798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207" y="1746798"/>
                <a:ext cx="2933945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6273339" y="2158692"/>
                <a:ext cx="2111219" cy="4530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lim>
                      </m:limLow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339" y="2158692"/>
                <a:ext cx="2111219" cy="453009"/>
              </a:xfrm>
              <a:prstGeom prst="rect">
                <a:avLst/>
              </a:prstGeom>
              <a:blipFill rotWithShape="0">
                <a:blip r:embed="rId11"/>
                <a:stretch>
                  <a:fillRect t="-78378" b="-8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5684684" y="3521894"/>
                <a:ext cx="1273233" cy="649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a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f>
                        <m:fPr>
                          <m:ctrlPr>
                            <a:rPr lang="mr-IN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684" y="3521894"/>
                <a:ext cx="1273233" cy="64992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5684684" y="4248577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684" y="4248577"/>
                <a:ext cx="2933945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5" name="Down Arrow 34"/>
          <p:cNvSpPr/>
          <p:nvPr/>
        </p:nvSpPr>
        <p:spPr>
          <a:xfrm>
            <a:off x="6239970" y="2986965"/>
            <a:ext cx="617178" cy="3848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6869805" y="2897358"/>
            <a:ext cx="16209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条件放松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可用反证法证明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7366708" y="3650602"/>
                <a:ext cx="1404936" cy="491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in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f>
                      <m:fPr>
                        <m:ctrlPr>
                          <a:rPr lang="mr-IN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𝑻</m:t>
                        </m:r>
                      </m:sup>
                    </m:sSup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708" y="3650602"/>
                <a:ext cx="1404936" cy="491096"/>
              </a:xfrm>
              <a:prstGeom prst="rect">
                <a:avLst/>
              </a:prstGeom>
              <a:blipFill rotWithShape="0">
                <a:blip r:embed="rId1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8" name="Right Arrow 37"/>
          <p:cNvSpPr/>
          <p:nvPr/>
        </p:nvSpPr>
        <p:spPr>
          <a:xfrm>
            <a:off x="7097194" y="3778902"/>
            <a:ext cx="221055" cy="200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34472" y="1959429"/>
                <a:ext cx="3452327" cy="105435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请根据左例计算</a:t>
                </a:r>
                <a14:m>
                  <m:oMath xmlns:m="http://schemas.openxmlformats.org/officeDocument/2006/math">
                    <m:r>
                      <a:rPr lang="en-US" altLang="zh-CN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zh-CN" altLang="en-US" dirty="0" smtClean="0"/>
                  <a:t>请在讨论区给出结果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格式 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2,2,-1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34472" y="1959429"/>
                <a:ext cx="3452327" cy="1054359"/>
              </a:xfrm>
              <a:blipFill rotWithShape="0">
                <a:blip r:embed="rId1"/>
                <a:stretch>
                  <a:fillRect l="-1590" t="-5780" b="-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V="1">
            <a:off x="836729" y="4241960"/>
            <a:ext cx="4023138" cy="9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836729" y="1159934"/>
            <a:ext cx="0" cy="3091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596767" y="4157568"/>
            <a:ext cx="806824" cy="87408"/>
            <a:chOff x="2655099" y="4293034"/>
            <a:chExt cx="806824" cy="87408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2655099" y="4380441"/>
              <a:ext cx="8068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2655099" y="4293035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3461923" y="4293034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2403590" y="4154553"/>
            <a:ext cx="806824" cy="87408"/>
            <a:chOff x="2655099" y="4293034"/>
            <a:chExt cx="806824" cy="87408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2655099" y="4380441"/>
              <a:ext cx="8068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2655099" y="4293035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3461923" y="4293034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3210412" y="4154553"/>
            <a:ext cx="806824" cy="87408"/>
            <a:chOff x="2655099" y="4293034"/>
            <a:chExt cx="806824" cy="87408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2655099" y="4380441"/>
              <a:ext cx="80682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655099" y="4293035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3461923" y="4293034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 rot="5400000">
            <a:off x="527295" y="3107533"/>
            <a:ext cx="706276" cy="87408"/>
            <a:chOff x="2755647" y="4293034"/>
            <a:chExt cx="706276" cy="87408"/>
          </a:xfrm>
        </p:grpSpPr>
        <p:cxnSp>
          <p:nvCxnSpPr>
            <p:cNvPr id="24" name="Straight Connector 23"/>
            <p:cNvCxnSpPr/>
            <p:nvPr/>
          </p:nvCxnSpPr>
          <p:spPr>
            <a:xfrm rot="16200000">
              <a:off x="3114139" y="4032657"/>
              <a:ext cx="0" cy="695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2755647" y="4293035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3461923" y="4293034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 rot="5400000">
            <a:off x="527295" y="2401257"/>
            <a:ext cx="706276" cy="87408"/>
            <a:chOff x="2755647" y="4293034"/>
            <a:chExt cx="706276" cy="87408"/>
          </a:xfrm>
        </p:grpSpPr>
        <p:cxnSp>
          <p:nvCxnSpPr>
            <p:cNvPr id="21" name="Straight Connector 20"/>
            <p:cNvCxnSpPr/>
            <p:nvPr/>
          </p:nvCxnSpPr>
          <p:spPr>
            <a:xfrm rot="16200000">
              <a:off x="3114139" y="4032657"/>
              <a:ext cx="0" cy="695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2755647" y="4293035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3461923" y="4293034"/>
              <a:ext cx="0" cy="874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Oval 11"/>
          <p:cNvSpPr/>
          <p:nvPr/>
        </p:nvSpPr>
        <p:spPr>
          <a:xfrm>
            <a:off x="2306223" y="4140934"/>
            <a:ext cx="194733" cy="19473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103794" y="4140935"/>
            <a:ext cx="194733" cy="19473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58948" y="4148626"/>
            <a:ext cx="169333" cy="1693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40339" y="3798441"/>
                <a:ext cx="12590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=(0,0)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39" y="3798441"/>
                <a:ext cx="1259063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034142" y="2136913"/>
                <a:ext cx="1264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=(2,2)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142" y="2136913"/>
                <a:ext cx="126438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868763" y="3644259"/>
                <a:ext cx="1264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=(2,0)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763" y="3644259"/>
                <a:ext cx="1264385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 flipV="1">
            <a:off x="1111111" y="1159934"/>
            <a:ext cx="3770482" cy="351525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320300" y="2713432"/>
            <a:ext cx="169333" cy="1693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3210412" y="3607520"/>
                <a:ext cx="1264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=(3,0)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412" y="3607520"/>
                <a:ext cx="1264385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5599839" y="1412673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839" y="1412673"/>
                <a:ext cx="2933945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5599839" y="910923"/>
                <a:ext cx="1404936" cy="491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in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f>
                      <m:fPr>
                        <m:ctrlPr>
                          <a:rPr lang="mr-IN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𝑻</m:t>
                        </m:r>
                      </m:sup>
                    </m:sSup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839" y="910923"/>
                <a:ext cx="1404936" cy="49109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/>
              <p:cNvSpPr/>
              <p:nvPr/>
            </p:nvSpPr>
            <p:spPr>
              <a:xfrm>
                <a:off x="4892663" y="3303752"/>
                <a:ext cx="2368084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</m:oMath>
                  </m:oMathPara>
                </a14:m>
                <a:endParaRPr lang="en-US" altLang="zh-CN" b="0" dirty="0" smtClean="0">
                  <a:solidFill>
                    <a:srgbClr val="C00000"/>
                  </a:solidFill>
                  <a:ea typeface="Cambria Math" charset="0"/>
                  <a:cs typeface="Cambria Math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−2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≥1</m:t>
                      </m:r>
                    </m:oMath>
                  </m:oMathPara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≥1</m:t>
                      </m:r>
                    </m:oMath>
                  </m:oMathPara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3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663" y="3303752"/>
                <a:ext cx="2368084" cy="120032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7674892" y="3145855"/>
                <a:ext cx="110985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</m:oMath>
                  </m:oMathPara>
                </a14:m>
                <a:endParaRPr lang="en-US" altLang="zh-CN" b="0" dirty="0" smtClean="0">
                  <a:solidFill>
                    <a:srgbClr val="C00000"/>
                  </a:solidFill>
                  <a:ea typeface="Cambria Math" charset="0"/>
                  <a:cs typeface="Cambria Math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≤−1</m:t>
                      </m:r>
                    </m:oMath>
                  </m:oMathPara>
                </a14:m>
                <a:endParaRPr lang="en-US" dirty="0" smtClean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92" y="3145855"/>
                <a:ext cx="1109855" cy="64633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1" name="Right Arrow 40"/>
          <p:cNvSpPr/>
          <p:nvPr/>
        </p:nvSpPr>
        <p:spPr>
          <a:xfrm>
            <a:off x="7271804" y="3284158"/>
            <a:ext cx="283320" cy="3697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260747" y="4167773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CN" smtClean="0">
                <a:solidFill>
                  <a:srgbClr val="FF0000"/>
                </a:solidFill>
              </a:rPr>
              <a:t>1,-1,-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3" name="Right Arrow 42"/>
          <p:cNvSpPr/>
          <p:nvPr/>
        </p:nvSpPr>
        <p:spPr>
          <a:xfrm rot="5400000">
            <a:off x="7935947" y="3799708"/>
            <a:ext cx="283320" cy="3697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 animBg="1"/>
      <p:bldP spid="42" grpId="0"/>
      <p:bldP spid="4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zh-CN" altLang="en-US" dirty="0"/>
              <a:t>优化问题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优化目标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b="0" i="1" smtClean="0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sSup>
                      <m:sSup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约束条件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… ,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二次规划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(quadratic programming, QP)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问题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二次的目标函数，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个线性约束条件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有成熟的解法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只适应训练数据可以完全可分的情况！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 l="-1704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上述理想模型存在的问题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训练数据不可分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4717777" y="967561"/>
            <a:ext cx="3969023" cy="1085965"/>
          </a:xfrm>
        </p:spPr>
        <p:txBody>
          <a:bodyPr>
            <a:normAutofit/>
          </a:bodyPr>
          <a:lstStyle/>
          <a:p>
            <a:r>
              <a:rPr lang="zh-CN" altLang="en-US" dirty="0"/>
              <a:t>不存在一个分类面使得训练数据能够被完美分开</a:t>
            </a:r>
            <a:endParaRPr lang="en-US" altLang="zh-CN" dirty="0"/>
          </a:p>
          <a:p>
            <a:r>
              <a:rPr lang="zh-CN" altLang="en-US" dirty="0" smtClean="0"/>
              <a:t>解决</a:t>
            </a:r>
            <a:r>
              <a:rPr lang="zh-CN" altLang="en-US" dirty="0"/>
              <a:t>方案：容忍错误的</a:t>
            </a:r>
            <a:r>
              <a:rPr lang="zh-CN" altLang="en-US" dirty="0" smtClean="0"/>
              <a:t>发生</a:t>
            </a:r>
            <a:r>
              <a:rPr lang="zh-CN" altLang="en-US" dirty="0"/>
              <a:t>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000" y="967561"/>
            <a:ext cx="3175824" cy="38324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158809" y="2592456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809" y="2592456"/>
                <a:ext cx="2933945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158809" y="2077443"/>
                <a:ext cx="1404936" cy="491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in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f>
                      <m:fPr>
                        <m:ctrlPr>
                          <a:rPr lang="mr-IN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𝑻</m:t>
                        </m:r>
                      </m:sup>
                    </m:sSup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809" y="2077443"/>
                <a:ext cx="1404936" cy="491096"/>
              </a:xfrm>
              <a:prstGeom prst="rect">
                <a:avLst/>
              </a:prstGeom>
              <a:blipFill rotWithShape="0"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915652" y="3988795"/>
                <a:ext cx="434503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charset="0"/>
                      </a:rPr>
                      <m:t>s</m:t>
                    </m:r>
                    <m:r>
                      <a:rPr lang="en-US" altLang="zh-CN" b="0" i="0" smtClean="0">
                        <a:solidFill>
                          <a:srgbClr val="C00000"/>
                        </a:solidFill>
                        <a:latin typeface="Cambria Math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C00000"/>
                        </a:solidFill>
                        <a:latin typeface="Cambria Math" charset="0"/>
                      </a:rPr>
                      <m:t>t</m:t>
                    </m:r>
                    <m:r>
                      <a:rPr lang="en-US" altLang="zh-CN" b="0" i="0" smtClean="0">
                        <a:solidFill>
                          <a:srgbClr val="C00000"/>
                        </a:solidFill>
                        <a:latin typeface="Cambria Math" charset="0"/>
                      </a:rPr>
                      <m:t>.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1</m:t>
                    </m:r>
                  </m:oMath>
                </a14:m>
                <a:r>
                  <a:rPr lang="en-US" altLang="zh-CN" dirty="0" smtClean="0">
                    <a:solidFill>
                      <a:srgbClr val="C00000"/>
                    </a:solidFill>
                  </a:rPr>
                  <a:t>,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for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correct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instances</a:t>
                </a:r>
              </a:p>
              <a:p>
                <a:r>
                  <a:rPr lang="zh-CN" altLang="en-US" dirty="0" smtClean="0">
                    <a:solidFill>
                      <a:srgbClr val="C00000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y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−∞</m:t>
                    </m:r>
                  </m:oMath>
                </a14:m>
                <a:r>
                  <a:rPr lang="en-US" altLang="zh-CN" dirty="0" smtClean="0">
                    <a:solidFill>
                      <a:srgbClr val="C00000"/>
                    </a:solidFill>
                  </a:rPr>
                  <a:t>,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for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incorrect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rgbClr val="C00000"/>
                    </a:solidFill>
                  </a:rPr>
                  <a:t>instances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5652" y="3988795"/>
                <a:ext cx="4345036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4717777" y="3484356"/>
                <a:ext cx="4231479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b="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in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f>
                      <m:fPr>
                        <m:ctrlPr>
                          <a:rPr lang="mr-IN" altLang="zh-CN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𝑻</m:t>
                        </m:r>
                      </m:sup>
                    </m:sSup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b="0" i="0" smtClean="0">
                        <a:solidFill>
                          <a:srgbClr val="C00000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𝐶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|[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sign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]|</m:t>
                        </m:r>
                      </m:e>
                    </m:nary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777" y="3484356"/>
                <a:ext cx="4231479" cy="483466"/>
              </a:xfrm>
              <a:prstGeom prst="rect">
                <a:avLst/>
              </a:prstGeom>
              <a:blipFill rotWithShape="0"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 rot="5400000">
            <a:off x="6691856" y="2946236"/>
            <a:ext cx="283320" cy="6057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上述模型的局限性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965324"/>
              </a:xfrm>
            </p:spPr>
            <p:txBody>
              <a:bodyPr/>
              <a:lstStyle/>
              <a:p>
                <a:r>
                  <a:rPr lang="zh-CN" altLang="en-US" dirty="0" smtClean="0"/>
                  <a:t>对所有的错误一视同仁，不区分犯错的数据点离分界面的远近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  <m:r>
                      <a:rPr lang="en-US" altLang="zh-CN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错误记录在一个变量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/>
                  <a:t>中（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 </m:t>
                    </m:r>
                    <m:r>
                      <a:rPr lang="en-US" altLang="zh-CN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≥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0</m:t>
                    </m:r>
                  </m:oMath>
                </a14:m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965324"/>
              </a:xfrm>
              <a:blipFill rotWithShape="0">
                <a:blip r:embed="rId1"/>
                <a:stretch>
                  <a:fillRect l="-667" t="-3145"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矩形 20"/>
          <p:cNvSpPr/>
          <p:nvPr/>
        </p:nvSpPr>
        <p:spPr>
          <a:xfrm rot="4214600">
            <a:off x="5951497" y="1446675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5" name="直接连接符 9"/>
          <p:cNvCxnSpPr/>
          <p:nvPr/>
        </p:nvCxnSpPr>
        <p:spPr>
          <a:xfrm flipV="1">
            <a:off x="4531354" y="2317234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42"/>
          <p:cNvCxnSpPr/>
          <p:nvPr/>
        </p:nvCxnSpPr>
        <p:spPr>
          <a:xfrm>
            <a:off x="7771713" y="1941314"/>
            <a:ext cx="299252" cy="83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弧形 47"/>
          <p:cNvSpPr/>
          <p:nvPr/>
        </p:nvSpPr>
        <p:spPr>
          <a:xfrm>
            <a:off x="7395841" y="2236946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48"/>
              <p:cNvSpPr/>
              <p:nvPr/>
            </p:nvSpPr>
            <p:spPr>
              <a:xfrm>
                <a:off x="8190571" y="2327097"/>
                <a:ext cx="823944" cy="569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571" y="2327097"/>
                <a:ext cx="823944" cy="569900"/>
              </a:xfrm>
              <a:prstGeom prst="rect">
                <a:avLst/>
              </a:prstGeom>
              <a:blipFill rotWithShape="0">
                <a:blip r:embed="rId2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9" name="直接连接符 19"/>
          <p:cNvCxnSpPr/>
          <p:nvPr/>
        </p:nvCxnSpPr>
        <p:spPr>
          <a:xfrm flipV="1">
            <a:off x="4739395" y="2719741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21"/>
          <p:cNvCxnSpPr/>
          <p:nvPr/>
        </p:nvCxnSpPr>
        <p:spPr>
          <a:xfrm flipV="1">
            <a:off x="4391180" y="1914727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5"/>
              <p:cNvSpPr/>
              <p:nvPr/>
            </p:nvSpPr>
            <p:spPr>
              <a:xfrm>
                <a:off x="3162900" y="3018365"/>
                <a:ext cx="126823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1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900" y="3018365"/>
                <a:ext cx="1268232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22"/>
              <p:cNvSpPr/>
              <p:nvPr/>
            </p:nvSpPr>
            <p:spPr>
              <a:xfrm>
                <a:off x="3384601" y="3901384"/>
                <a:ext cx="139807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2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601" y="3901384"/>
                <a:ext cx="1398075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23"/>
              <p:cNvSpPr/>
              <p:nvPr/>
            </p:nvSpPr>
            <p:spPr>
              <a:xfrm>
                <a:off x="3325422" y="3439919"/>
                <a:ext cx="117365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350" dirty="0"/>
                  <a:t>0</a:t>
                </a:r>
                <a:endParaRPr lang="zh-CN" altLang="en-US" sz="1350" dirty="0"/>
              </a:p>
            </p:txBody>
          </p:sp>
        </mc:Choice>
        <mc:Fallback>
          <p:sp>
            <p:nvSpPr>
              <p:cNvPr id="13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422" y="3439919"/>
                <a:ext cx="1173655" cy="300082"/>
              </a:xfrm>
              <a:prstGeom prst="rect">
                <a:avLst/>
              </a:prstGeom>
              <a:blipFill rotWithShape="0">
                <a:blip r:embed="rId5"/>
                <a:stretch>
                  <a:fillRect t="-2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14" name="椭圆 7"/>
          <p:cNvSpPr/>
          <p:nvPr/>
        </p:nvSpPr>
        <p:spPr>
          <a:xfrm>
            <a:off x="7091480" y="2067671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15" name="椭圆 26"/>
          <p:cNvSpPr/>
          <p:nvPr/>
        </p:nvSpPr>
        <p:spPr>
          <a:xfrm>
            <a:off x="7393432" y="2936324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8"/>
              <p:cNvSpPr/>
              <p:nvPr/>
            </p:nvSpPr>
            <p:spPr>
              <a:xfrm>
                <a:off x="7439940" y="2969870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6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940" y="2969870"/>
                <a:ext cx="419795" cy="3000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17" name="椭圆 36"/>
          <p:cNvSpPr/>
          <p:nvPr/>
        </p:nvSpPr>
        <p:spPr>
          <a:xfrm>
            <a:off x="5706480" y="2611249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18" name="椭圆 37"/>
          <p:cNvSpPr/>
          <p:nvPr/>
        </p:nvSpPr>
        <p:spPr>
          <a:xfrm>
            <a:off x="6578908" y="348483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19" name="椭圆 38"/>
          <p:cNvSpPr/>
          <p:nvPr/>
        </p:nvSpPr>
        <p:spPr>
          <a:xfrm>
            <a:off x="4858362" y="2141003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sp>
        <p:nvSpPr>
          <p:cNvPr id="20" name="椭圆 40"/>
          <p:cNvSpPr/>
          <p:nvPr/>
        </p:nvSpPr>
        <p:spPr>
          <a:xfrm>
            <a:off x="5537598" y="2056135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1" name="椭圆 41"/>
          <p:cNvSpPr/>
          <p:nvPr/>
        </p:nvSpPr>
        <p:spPr>
          <a:xfrm>
            <a:off x="6108822" y="215390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2" name="椭圆 43"/>
          <p:cNvSpPr/>
          <p:nvPr/>
        </p:nvSpPr>
        <p:spPr>
          <a:xfrm>
            <a:off x="7154688" y="3493763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sp>
        <p:nvSpPr>
          <p:cNvPr id="23" name="椭圆 44"/>
          <p:cNvSpPr/>
          <p:nvPr/>
        </p:nvSpPr>
        <p:spPr>
          <a:xfrm>
            <a:off x="6040183" y="3807641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cxnSp>
        <p:nvCxnSpPr>
          <p:cNvPr id="24" name="直接箭头连接符 45"/>
          <p:cNvCxnSpPr/>
          <p:nvPr/>
        </p:nvCxnSpPr>
        <p:spPr>
          <a:xfrm>
            <a:off x="4929815" y="2256739"/>
            <a:ext cx="553264" cy="144355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46"/>
          <p:cNvCxnSpPr>
            <a:stCxn id="23" idx="1"/>
          </p:cNvCxnSpPr>
          <p:nvPr/>
        </p:nvCxnSpPr>
        <p:spPr>
          <a:xfrm>
            <a:off x="6230571" y="2511104"/>
            <a:ext cx="364156" cy="98879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椭圆 49"/>
          <p:cNvSpPr/>
          <p:nvPr/>
        </p:nvSpPr>
        <p:spPr>
          <a:xfrm>
            <a:off x="6857326" y="2805036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cxnSp>
        <p:nvCxnSpPr>
          <p:cNvPr id="27" name="直接箭头连接符 50"/>
          <p:cNvCxnSpPr/>
          <p:nvPr/>
        </p:nvCxnSpPr>
        <p:spPr>
          <a:xfrm>
            <a:off x="6929462" y="2888645"/>
            <a:ext cx="108012" cy="26822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13"/>
              <p:cNvSpPr/>
              <p:nvPr/>
            </p:nvSpPr>
            <p:spPr>
              <a:xfrm>
                <a:off x="4815690" y="2497324"/>
                <a:ext cx="377604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8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690" y="2497324"/>
                <a:ext cx="377604" cy="300082"/>
              </a:xfrm>
              <a:prstGeom prst="rect">
                <a:avLst/>
              </a:prstGeom>
              <a:blipFill rotWithShape="0">
                <a:blip r:embed="rId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51"/>
              <p:cNvSpPr/>
              <p:nvPr/>
            </p:nvSpPr>
            <p:spPr>
              <a:xfrm>
                <a:off x="6262857" y="2554024"/>
                <a:ext cx="381643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9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857" y="2554024"/>
                <a:ext cx="381643" cy="300082"/>
              </a:xfrm>
              <a:prstGeom prst="rect">
                <a:avLst/>
              </a:prstGeom>
              <a:blipFill rotWithShape="0">
                <a:blip r:embed="rId8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52"/>
              <p:cNvSpPr/>
              <p:nvPr/>
            </p:nvSpPr>
            <p:spPr>
              <a:xfrm>
                <a:off x="6926839" y="2826472"/>
                <a:ext cx="38856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30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839" y="2826472"/>
                <a:ext cx="388568" cy="300082"/>
              </a:xfrm>
              <a:prstGeom prst="rect">
                <a:avLst/>
              </a:prstGeom>
              <a:blipFill rotWithShape="0">
                <a:blip r:embed="rId9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752440" y="2253024"/>
                <a:ext cx="25404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40" y="2253024"/>
                <a:ext cx="2540439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98333" b="-1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/>
              <p:cNvSpPr/>
              <p:nvPr/>
            </p:nvSpPr>
            <p:spPr>
              <a:xfrm>
                <a:off x="786562" y="1682542"/>
                <a:ext cx="2308581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in</m:t>
                        </m:r>
                      </m:e>
                      <m:sub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f>
                      <m:fPr>
                        <m:ctrlPr>
                          <a:rPr lang="mr-IN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𝑻</m:t>
                        </m:r>
                      </m:sup>
                    </m:sSup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𝐶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62" y="1682542"/>
                <a:ext cx="2308581" cy="483466"/>
              </a:xfrm>
              <a:prstGeom prst="rect">
                <a:avLst/>
              </a:prstGeom>
              <a:blipFill rotWithShape="0">
                <a:blip r:embed="rId11"/>
                <a:stretch>
                  <a:fillRect t="-79747" r="-20053" b="-13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/>
              <p:cNvSpPr/>
              <p:nvPr/>
            </p:nvSpPr>
            <p:spPr>
              <a:xfrm>
                <a:off x="391340" y="3192450"/>
                <a:ext cx="255380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400" b="1" dirty="0" smtClean="0">
                    <a:solidFill>
                      <a:srgbClr val="C00000"/>
                    </a:solidFill>
                  </a:rPr>
                  <a:t>1.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,</m:t>
                    </m:r>
                    <m:r>
                      <a:rPr lang="en-US" altLang="zh-CN" sz="140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sz="1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1</m:t>
                    </m:r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，如果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=10</m:t>
                    </m:r>
                  </m:oMath>
                </a14:m>
                <a:r>
                  <a:rPr lang="zh-CN" altLang="en-US" sz="1600" dirty="0" smtClean="0">
                    <a:solidFill>
                      <a:srgbClr val="C00000"/>
                    </a:solidFill>
                    <a:latin typeface="Helvetica Neue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𝜉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rgbClr val="C00000"/>
                    </a:solidFill>
                    <a:latin typeface="Helvetica Neue" charset="0"/>
                  </a:rPr>
                  <a:t>是多少？</a:t>
                </a:r>
                <a:endParaRPr lang="zh-CN" altLang="en-US" sz="1600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40" y="3192450"/>
                <a:ext cx="2553809" cy="584775"/>
              </a:xfrm>
              <a:prstGeom prst="rect">
                <a:avLst/>
              </a:prstGeom>
              <a:blipFill rotWithShape="0">
                <a:blip r:embed="rId12"/>
                <a:stretch>
                  <a:fillRect l="-716" t="-4167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973467" y="2711395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34"/>
              <p:cNvSpPr/>
              <p:nvPr/>
            </p:nvSpPr>
            <p:spPr>
              <a:xfrm>
                <a:off x="358305" y="3773651"/>
                <a:ext cx="255380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400" b="1" dirty="0" smtClean="0">
                    <a:solidFill>
                      <a:srgbClr val="C00000"/>
                    </a:solidFill>
                  </a:rPr>
                  <a:t>2.</a:t>
                </a:r>
                <a:r>
                  <a:rPr lang="zh-CN" altLang="en-US" sz="1400" b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−1</m:t>
                    </m:r>
                    <m:r>
                      <a:rPr lang="en-US" altLang="zh-CN" sz="1400" b="1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，如果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=10</m:t>
                    </m:r>
                  </m:oMath>
                </a14:m>
                <a:r>
                  <a:rPr lang="zh-CN" altLang="en-US" sz="1600" dirty="0" smtClean="0">
                    <a:solidFill>
                      <a:srgbClr val="C00000"/>
                    </a:solidFill>
                    <a:latin typeface="Helvetica Neue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𝜉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solidFill>
                      <a:srgbClr val="C00000"/>
                    </a:solidFill>
                    <a:latin typeface="Helvetica Neue" charset="0"/>
                  </a:rPr>
                  <a:t>是多少？</a:t>
                </a:r>
                <a:endParaRPr lang="zh-CN" altLang="en-US" sz="1600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05" y="3773651"/>
                <a:ext cx="2553809" cy="584775"/>
              </a:xfrm>
              <a:prstGeom prst="rect">
                <a:avLst/>
              </a:prstGeom>
              <a:blipFill rotWithShape="0">
                <a:blip r:embed="rId13"/>
                <a:stretch>
                  <a:fillRect l="-716" t="-4167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597902" y="4427205"/>
            <a:ext cx="1872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A.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-10</a:t>
            </a:r>
            <a:r>
              <a:rPr lang="zh-CN" altLang="en-US" dirty="0" smtClean="0">
                <a:solidFill>
                  <a:srgbClr val="C00000"/>
                </a:solidFill>
              </a:rPr>
              <a:t>   </a:t>
            </a:r>
            <a:r>
              <a:rPr lang="en-US" altLang="zh-CN" dirty="0" smtClean="0">
                <a:solidFill>
                  <a:srgbClr val="C00000"/>
                </a:solidFill>
              </a:rPr>
              <a:t>B.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  </a:t>
            </a:r>
            <a:r>
              <a:rPr lang="en-US" altLang="zh-CN" dirty="0" smtClean="0">
                <a:solidFill>
                  <a:srgbClr val="C00000"/>
                </a:solidFill>
              </a:rPr>
              <a:t>C.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10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6065" y="20521"/>
            <a:ext cx="6172200" cy="857250"/>
          </a:xfrm>
        </p:spPr>
        <p:txBody>
          <a:bodyPr/>
          <a:lstStyle/>
          <a:p>
            <a:r>
              <a:rPr lang="zh-CN" altLang="en-US" dirty="0"/>
              <a:t>软边距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4214600">
            <a:off x="4535247" y="307264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115104" y="1177823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6355463" y="801903"/>
            <a:ext cx="299252" cy="830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5979591" y="1097535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6774321" y="1187686"/>
                <a:ext cx="823944" cy="5699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350" b="1"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321" y="1187686"/>
                <a:ext cx="823944" cy="569900"/>
              </a:xfrm>
              <a:prstGeom prst="rect">
                <a:avLst/>
              </a:prstGeom>
              <a:blipFill rotWithShape="0">
                <a:blip r:embed="rId1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 flipV="1">
            <a:off x="3323145" y="1580330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974930" y="775316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746650" y="1878954"/>
                <a:ext cx="126823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650" y="1878954"/>
                <a:ext cx="1268232" cy="30008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1968351" y="2761973"/>
                <a:ext cx="139807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351" y="2761973"/>
                <a:ext cx="1398075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/>
              <p:nvPr/>
            </p:nvSpPr>
            <p:spPr>
              <a:xfrm>
                <a:off x="1909172" y="2300508"/>
                <a:ext cx="117365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350" dirty="0"/>
                  <a:t>0</a:t>
                </a:r>
                <a:endParaRPr lang="zh-CN" altLang="en-US" sz="1350" dirty="0"/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172" y="2300508"/>
                <a:ext cx="1173655" cy="300082"/>
              </a:xfrm>
              <a:prstGeom prst="rect">
                <a:avLst/>
              </a:prstGeom>
              <a:blipFill rotWithShape="0">
                <a:blip r:embed="rId4"/>
                <a:stretch>
                  <a:fillRect t="-2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8" name="椭圆 7"/>
          <p:cNvSpPr/>
          <p:nvPr/>
        </p:nvSpPr>
        <p:spPr>
          <a:xfrm>
            <a:off x="5675230" y="928260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7" name="椭圆 26"/>
          <p:cNvSpPr/>
          <p:nvPr/>
        </p:nvSpPr>
        <p:spPr>
          <a:xfrm>
            <a:off x="5977182" y="1796913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6023690" y="1830459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690" y="1830459"/>
                <a:ext cx="419795" cy="3000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13066" y="3159366"/>
                <a:ext cx="7959011" cy="172778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优化目标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lim>
                    </m:limLow>
                    <m:sSup>
                      <m:sSup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</m:e>
                    </m:nary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约束条件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b="1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… ,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：权衡边距大小与错误容忍度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C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变大：牺牲边距，减少训练集合上的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错误</a:t>
                </a:r>
                <a:endPara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3066" y="3159366"/>
                <a:ext cx="7959011" cy="1727788"/>
              </a:xfrm>
              <a:blipFill rotWithShape="0">
                <a:blip r:embed="rId6"/>
                <a:stretch>
                  <a:fillRect l="-689" t="-27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7" name="椭圆 36"/>
          <p:cNvSpPr/>
          <p:nvPr/>
        </p:nvSpPr>
        <p:spPr>
          <a:xfrm>
            <a:off x="4290230" y="1471838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38" name="椭圆 37"/>
          <p:cNvSpPr/>
          <p:nvPr/>
        </p:nvSpPr>
        <p:spPr>
          <a:xfrm>
            <a:off x="5162658" y="2345427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39" name="椭圆 38"/>
          <p:cNvSpPr/>
          <p:nvPr/>
        </p:nvSpPr>
        <p:spPr>
          <a:xfrm>
            <a:off x="3442112" y="1001592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sp>
        <p:nvSpPr>
          <p:cNvPr id="41" name="椭圆 40"/>
          <p:cNvSpPr/>
          <p:nvPr/>
        </p:nvSpPr>
        <p:spPr>
          <a:xfrm>
            <a:off x="4121348" y="916724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42" name="椭圆 41"/>
          <p:cNvSpPr/>
          <p:nvPr/>
        </p:nvSpPr>
        <p:spPr>
          <a:xfrm>
            <a:off x="4692572" y="1014497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44" name="椭圆 43"/>
          <p:cNvSpPr/>
          <p:nvPr/>
        </p:nvSpPr>
        <p:spPr>
          <a:xfrm>
            <a:off x="5738438" y="2354352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sp>
        <p:nvSpPr>
          <p:cNvPr id="45" name="椭圆 44"/>
          <p:cNvSpPr/>
          <p:nvPr/>
        </p:nvSpPr>
        <p:spPr>
          <a:xfrm>
            <a:off x="4623933" y="2668230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cxnSp>
        <p:nvCxnSpPr>
          <p:cNvPr id="46" name="直接箭头连接符 45"/>
          <p:cNvCxnSpPr/>
          <p:nvPr/>
        </p:nvCxnSpPr>
        <p:spPr>
          <a:xfrm>
            <a:off x="3513565" y="1117328"/>
            <a:ext cx="553264" cy="144355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21" idx="1"/>
            <a:endCxn id="38" idx="1"/>
          </p:cNvCxnSpPr>
          <p:nvPr/>
        </p:nvCxnSpPr>
        <p:spPr>
          <a:xfrm>
            <a:off x="4814321" y="1371693"/>
            <a:ext cx="364156" cy="988793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5441076" y="1665625"/>
            <a:ext cx="108012" cy="1028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p:cxnSp>
        <p:nvCxnSpPr>
          <p:cNvPr id="51" name="直接箭头连接符 50"/>
          <p:cNvCxnSpPr/>
          <p:nvPr/>
        </p:nvCxnSpPr>
        <p:spPr>
          <a:xfrm>
            <a:off x="5513212" y="1749234"/>
            <a:ext cx="108012" cy="26822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3399440" y="1357913"/>
                <a:ext cx="377604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440" y="1357913"/>
                <a:ext cx="377604" cy="300082"/>
              </a:xfrm>
              <a:prstGeom prst="rect">
                <a:avLst/>
              </a:prstGeom>
              <a:blipFill rotWithShape="0">
                <a:blip r:embed="rId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矩形 51"/>
              <p:cNvSpPr/>
              <p:nvPr/>
            </p:nvSpPr>
            <p:spPr>
              <a:xfrm>
                <a:off x="4846607" y="1414613"/>
                <a:ext cx="381643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607" y="1414613"/>
                <a:ext cx="381643" cy="300082"/>
              </a:xfrm>
              <a:prstGeom prst="rect">
                <a:avLst/>
              </a:prstGeom>
              <a:blipFill rotWithShape="0"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/>
              <p:cNvSpPr/>
              <p:nvPr/>
            </p:nvSpPr>
            <p:spPr>
              <a:xfrm>
                <a:off x="5510589" y="1687061"/>
                <a:ext cx="38856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135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589" y="1687061"/>
                <a:ext cx="388568" cy="300082"/>
              </a:xfrm>
              <a:prstGeom prst="rect">
                <a:avLst/>
              </a:prstGeom>
              <a:blipFill rotWithShape="0">
                <a:blip r:embed="rId9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优化目标求解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592490" y="1014369"/>
                <a:ext cx="4824333" cy="14252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lim>
                      </m:limLow>
                      <m:sSup>
                        <m:sSup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zh-CN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=1, … ,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90" y="1014369"/>
                <a:ext cx="4824333" cy="1425262"/>
              </a:xfrm>
              <a:prstGeom prst="rect">
                <a:avLst/>
              </a:prstGeom>
              <a:blipFill rotWithShape="0">
                <a:blip r:embed="rId1"/>
                <a:stretch>
                  <a:fillRect l="-1010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592490" y="2873148"/>
                <a:ext cx="4824333" cy="1163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,⋯,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zh-CN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90" y="2873148"/>
                <a:ext cx="4824333" cy="1163395"/>
              </a:xfrm>
              <a:prstGeom prst="rect">
                <a:avLst/>
              </a:prstGeom>
              <a:blipFill rotWithShape="0">
                <a:blip r:embed="rId2"/>
                <a:stretch>
                  <a:fillRect l="-1010" b="-58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1468405" y="17154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原问题：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68405" y="360580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对偶问题：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上下箭头 8"/>
          <p:cNvSpPr/>
          <p:nvPr/>
        </p:nvSpPr>
        <p:spPr>
          <a:xfrm>
            <a:off x="4365485" y="2475092"/>
            <a:ext cx="290491" cy="39805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标注 14"/>
          <p:cNvSpPr/>
          <p:nvPr/>
        </p:nvSpPr>
        <p:spPr>
          <a:xfrm>
            <a:off x="1896971" y="1138357"/>
            <a:ext cx="1306218" cy="378042"/>
          </a:xfrm>
          <a:prstGeom prst="wedgeRectCallout">
            <a:avLst>
              <a:gd name="adj1" fmla="val 80164"/>
              <a:gd name="adj2" fmla="val 134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融入</a:t>
            </a:r>
            <a:r>
              <a:rPr lang="en-US" altLang="zh-CN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标注 15"/>
              <p:cNvSpPr/>
              <p:nvPr/>
            </p:nvSpPr>
            <p:spPr>
              <a:xfrm>
                <a:off x="5148572" y="4212795"/>
                <a:ext cx="1781032" cy="444910"/>
              </a:xfrm>
              <a:prstGeom prst="wedgeRectCallout">
                <a:avLst>
                  <a:gd name="adj1" fmla="val -111758"/>
                  <a:gd name="adj2" fmla="val -97235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350" b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35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1350" b="1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为支持向量</a:t>
                </a:r>
              </a:p>
            </p:txBody>
          </p:sp>
        </mc:Choice>
        <mc:Fallback>
          <p:sp>
            <p:nvSpPr>
              <p:cNvPr id="16" name="矩形标注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572" y="4212795"/>
                <a:ext cx="1781032" cy="444910"/>
              </a:xfrm>
              <a:prstGeom prst="wedgeRectCallout">
                <a:avLst>
                  <a:gd name="adj1" fmla="val -111758"/>
                  <a:gd name="adj2" fmla="val -97235"/>
                </a:avLst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核函数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</a:t>
            </a:r>
            <a:r>
              <a:rPr lang="en-US" altLang="zh-CN" dirty="0" smtClean="0"/>
              <a:t>Kernel</a:t>
            </a:r>
            <a:r>
              <a:rPr lang="zh-CN" altLang="en-US" dirty="0" smtClean="0"/>
              <a:t> </a:t>
            </a:r>
            <a:r>
              <a:rPr lang="en-US" altLang="zh-CN" dirty="0" smtClean="0"/>
              <a:t>Function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88826"/>
            <a:ext cx="6903851" cy="3937000"/>
          </a:xfrm>
        </p:spPr>
      </p:pic>
      <p:sp>
        <p:nvSpPr>
          <p:cNvPr id="5" name="TextBox 4"/>
          <p:cNvSpPr txBox="1"/>
          <p:nvPr/>
        </p:nvSpPr>
        <p:spPr>
          <a:xfrm>
            <a:off x="5840963" y="4105469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请参考教材，或在</a:t>
            </a:r>
            <a:r>
              <a:rPr lang="zh-CN" altLang="en-US" smtClean="0"/>
              <a:t>上机课研讨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  <a:endParaRPr lang="zh-CN" altLang="en-US" sz="40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机器学习初步与实践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0029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机器学习介绍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监督学习概览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决策树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支持向量机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Perceptron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AdaBoost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监督学习算法分类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1043608" y="2060848"/>
          <a:ext cx="7327167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880"/>
                <a:gridCol w="1611630"/>
                <a:gridCol w="1783080"/>
                <a:gridCol w="2098577"/>
              </a:tblGrid>
              <a:tr h="640080"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二值</a:t>
                      </a:r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分类</a:t>
                      </a:r>
                      <a:endParaRPr lang="en-US" altLang="zh-CN" sz="1800" b="1" kern="1200" dirty="0" smtClean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为类别集合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回归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为实数集合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结构预测</a:t>
                      </a:r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排序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为结构类型</a:t>
                      </a:r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排列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1"/>
                      <a:stretch>
                        <a:fillRect l="-332" t="-106667" r="-300997" b="-324762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Perceptron, </a:t>
                      </a:r>
                      <a:br>
                        <a:rPr lang="en-US" altLang="zh-C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</a:br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SVM</a:t>
                      </a:r>
                      <a:endParaRPr lang="en-US" altLang="zh-CN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Ridge regression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SVR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Structured SVM, Ranking SVM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树</a:t>
                      </a:r>
                      <a:endParaRPr lang="zh-CN" altLang="en-US" sz="18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Decision tree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Regression tree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LambdaMART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b="1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神经网络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神经网络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神经网络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RankNet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blipFill rotWithShape="0">
                      <a:blip r:embed="rId1"/>
                      <a:stretch>
                        <a:fillRect l="-332" t="-226000" r="-300997" b="-46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AdaBoost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Boosted Regression Tree</a:t>
                      </a:r>
                      <a:endParaRPr lang="en-US" altLang="zh-CN" dirty="0" smtClean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RankBoost</a:t>
                      </a:r>
                      <a:endParaRPr lang="zh-CN" altLang="en-US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572001" y="1162448"/>
            <a:ext cx="53091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任务</a:t>
            </a:r>
            <a:endParaRPr lang="zh-CN" altLang="en-US" sz="135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 rot="5400000">
            <a:off x="1247583" y="2785606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模型函数</a:t>
            </a:r>
            <a:endParaRPr lang="zh-CN" altLang="en-US" sz="135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method of converting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thumb into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accurate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rule.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组合弱分类器可以得到强分类器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不同的弱分类器可以通过不同的算法、特征、数据训练而得到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弱分类器的预测精度强于随机预测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 rules of thumb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的研究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718" y="1009104"/>
            <a:ext cx="5076564" cy="412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的基本训练过程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椭圆 5"/>
              <p:cNvSpPr/>
              <p:nvPr/>
            </p:nvSpPr>
            <p:spPr>
              <a:xfrm>
                <a:off x="2465766" y="1275606"/>
                <a:ext cx="605748" cy="48605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6" name="椭圆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700808"/>
                <a:ext cx="807664" cy="648072"/>
              </a:xfrm>
              <a:prstGeom prst="ellipse">
                <a:avLst/>
              </a:prstGeom>
              <a:blipFill rotWithShape="0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椭圆 6"/>
              <p:cNvSpPr/>
              <p:nvPr/>
            </p:nvSpPr>
            <p:spPr>
              <a:xfrm>
                <a:off x="3491880" y="1290551"/>
                <a:ext cx="605748" cy="48605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7" name="椭圆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720734"/>
                <a:ext cx="807664" cy="648072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517994" y="1233659"/>
                <a:ext cx="820738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3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3300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1644878"/>
                <a:ext cx="1093248" cy="6771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椭圆 8"/>
              <p:cNvSpPr/>
              <p:nvPr/>
            </p:nvSpPr>
            <p:spPr>
              <a:xfrm>
                <a:off x="5755026" y="1244547"/>
                <a:ext cx="605748" cy="486054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9" name="椭圆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368" y="1659396"/>
                <a:ext cx="807664" cy="648072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11" name="直接箭头连接符 10"/>
          <p:cNvCxnSpPr>
            <a:stCxn id="6" idx="4"/>
          </p:cNvCxnSpPr>
          <p:nvPr/>
        </p:nvCxnSpPr>
        <p:spPr>
          <a:xfrm>
            <a:off x="2768640" y="1761660"/>
            <a:ext cx="0" cy="756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2465766" y="2517744"/>
                <a:ext cx="605748" cy="37804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356992"/>
                <a:ext cx="807664" cy="50405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3491880" y="2517744"/>
                <a:ext cx="605748" cy="37804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356992"/>
                <a:ext cx="807664" cy="50405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5755026" y="2517744"/>
                <a:ext cx="605748" cy="37804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368" y="3356992"/>
                <a:ext cx="807664" cy="50405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17" name="直接箭头连接符 16"/>
          <p:cNvCxnSpPr>
            <a:endCxn id="7" idx="3"/>
          </p:cNvCxnSpPr>
          <p:nvPr/>
        </p:nvCxnSpPr>
        <p:spPr>
          <a:xfrm flipV="1">
            <a:off x="2968413" y="1705424"/>
            <a:ext cx="612177" cy="797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4"/>
            <a:endCxn id="15" idx="0"/>
          </p:cNvCxnSpPr>
          <p:nvPr/>
        </p:nvCxnSpPr>
        <p:spPr>
          <a:xfrm>
            <a:off x="3794754" y="1776604"/>
            <a:ext cx="0" cy="741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4008062" y="1725077"/>
            <a:ext cx="612177" cy="797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9" idx="3"/>
          </p:cNvCxnSpPr>
          <p:nvPr/>
        </p:nvCxnSpPr>
        <p:spPr>
          <a:xfrm flipV="1">
            <a:off x="5254770" y="1659420"/>
            <a:ext cx="588967" cy="858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9" idx="4"/>
            <a:endCxn id="16" idx="0"/>
          </p:cNvCxnSpPr>
          <p:nvPr/>
        </p:nvCxnSpPr>
        <p:spPr>
          <a:xfrm>
            <a:off x="6057900" y="1730601"/>
            <a:ext cx="0" cy="787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3" idx="2"/>
          </p:cNvCxnSpPr>
          <p:nvPr/>
        </p:nvCxnSpPr>
        <p:spPr>
          <a:xfrm>
            <a:off x="2768640" y="2895786"/>
            <a:ext cx="1239422" cy="885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矩形 34"/>
              <p:cNvSpPr/>
              <p:nvPr/>
            </p:nvSpPr>
            <p:spPr>
              <a:xfrm>
                <a:off x="3394514" y="3801083"/>
                <a:ext cx="2401491" cy="100104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100" dirty="0"/>
              </a:p>
            </p:txBody>
          </p:sp>
        </mc:Choice>
        <mc:Fallback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019" y="5068110"/>
                <a:ext cx="3139962" cy="130388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cxnSp>
        <p:nvCxnSpPr>
          <p:cNvPr id="38" name="直接箭头连接符 37"/>
          <p:cNvCxnSpPr>
            <a:stCxn id="15" idx="2"/>
          </p:cNvCxnSpPr>
          <p:nvPr/>
        </p:nvCxnSpPr>
        <p:spPr>
          <a:xfrm>
            <a:off x="3794754" y="2895786"/>
            <a:ext cx="542831" cy="905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6" idx="2"/>
          </p:cNvCxnSpPr>
          <p:nvPr/>
        </p:nvCxnSpPr>
        <p:spPr>
          <a:xfrm flipH="1">
            <a:off x="5201553" y="2895786"/>
            <a:ext cx="856348" cy="905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4508318" y="2435675"/>
                <a:ext cx="820738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 sz="33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zh-CN" altLang="en-US" sz="3300" dirty="0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091" y="3247566"/>
                <a:ext cx="1093248" cy="67710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6" name="文本框 45"/>
          <p:cNvSpPr txBox="1"/>
          <p:nvPr/>
        </p:nvSpPr>
        <p:spPr>
          <a:xfrm>
            <a:off x="1153904" y="1382421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训练数据权重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327028" y="2568265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弱分类器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327028" y="4151539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强分类器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3" grpId="0" animBg="1"/>
      <p:bldP spid="15" grpId="0" animBg="1"/>
      <p:bldP spid="16" grpId="0" animBg="1"/>
      <p:bldP spid="35" grpId="0" animBg="1"/>
      <p:bldP spid="4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AdaBoost: </a:t>
                </a:r>
                <a:r>
                  <a:rPr lang="en-US" altLang="zh-C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ptive </a:t>
                </a:r>
                <a:r>
                  <a:rPr lang="en-US" altLang="zh-C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Boost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ing</a:t>
                </a:r>
              </a:p>
              <a:p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训练数据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100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b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100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  <m:r>
                      <a:rPr lang="en-US" altLang="zh-CN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+1, −1</m:t>
                        </m:r>
                      </m:e>
                    </m:d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分类模型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1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初始化训练数据的权重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, ⋯,</m:t>
                        </m:r>
                        <m:f>
                          <m:f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altLang="zh-C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t=1 </a:t>
                </a:r>
                <a:r>
                  <a:rPr lang="en-US" altLang="zh-C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	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基于权重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训练弱分类器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1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	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计算弱分类器的分类错误率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⟦"/>
                            <m:endChr m:val="⟧"/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100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b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	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计算弱分类器的权重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1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	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重新估计训练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10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1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100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100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100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1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100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100" i="1">
                                            <a:latin typeface="Cambria Math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100" b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sz="21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</a:t>
                </a:r>
                <a:r>
                  <a:rPr lang="en-US" altLang="zh-C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for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</a:t>
                </a:r>
                <a:r>
                  <a:rPr lang="en-US" altLang="zh-CN" sz="2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1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1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100">
                        <a:latin typeface="Cambria Math" panose="02040503050406030204" pitchFamily="18" charset="0"/>
                      </a:rPr>
                      <m:t>sgn</m:t>
                    </m:r>
                    <m:d>
                      <m:dPr>
                        <m:ctrlPr>
                          <a:rPr lang="en-US" altLang="zh-CN" sz="2100" b="1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1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100" b="1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1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</m:d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100">
                        <a:latin typeface="Cambria Math" panose="02040503050406030204" pitchFamily="18" charset="0"/>
                      </a:rPr>
                      <m:t>sgn</m:t>
                    </m:r>
                    <m:d>
                      <m:dPr>
                        <m:ctrlPr>
                          <a:rPr lang="en-US" altLang="zh-CN" sz="2100" b="1" i="1">
                            <a:latin typeface="Cambria Math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altLang="zh-CN" sz="21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2100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100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zh-CN" alt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 l="-593" t="-2167" b="-15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4889745" y="956741"/>
            <a:ext cx="1242138" cy="432048"/>
          </a:xfrm>
          <a:prstGeom prst="wedgeRectCallout">
            <a:avLst>
              <a:gd name="adj1" fmla="val -52668"/>
              <a:gd name="adj2" fmla="val 2282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开始时所有数据一样重要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标注 5"/>
              <p:cNvSpPr/>
              <p:nvPr/>
            </p:nvSpPr>
            <p:spPr>
              <a:xfrm>
                <a:off x="5826210" y="1636803"/>
                <a:ext cx="1794782" cy="446806"/>
              </a:xfrm>
              <a:prstGeom prst="wedgeRectCallout">
                <a:avLst>
                  <a:gd name="adj1" fmla="val -105171"/>
                  <a:gd name="adj2" fmla="val 21740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可为任何分类器，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∈{+1, −1}</m:t>
                    </m:r>
                  </m:oMath>
                </a14:m>
                <a:endPara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矩形标注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280" y="2182403"/>
                <a:ext cx="2393042" cy="595741"/>
              </a:xfrm>
              <a:prstGeom prst="wedgeRectCallout">
                <a:avLst>
                  <a:gd name="adj1" fmla="val -105171"/>
                  <a:gd name="adj2" fmla="val 217407"/>
                </a:avLst>
              </a:prstGeom>
              <a:blipFill rotWithShape="0">
                <a:blip r:embed="rId2"/>
                <a:stretch>
                  <a:fillRect t="-2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标注 6"/>
              <p:cNvSpPr/>
              <p:nvPr/>
            </p:nvSpPr>
            <p:spPr>
              <a:xfrm>
                <a:off x="6396214" y="2272343"/>
                <a:ext cx="1577450" cy="432048"/>
              </a:xfrm>
              <a:prstGeom prst="wedgeRectCallout">
                <a:avLst>
                  <a:gd name="adj1" fmla="val -127627"/>
                  <a:gd name="adj2" fmla="val 102182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弱分类器在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意义下的错误率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&lt;0.5</a:t>
                </a:r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标注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285" y="3029791"/>
                <a:ext cx="2103267" cy="576064"/>
              </a:xfrm>
              <a:prstGeom prst="wedgeRectCallout">
                <a:avLst>
                  <a:gd name="adj1" fmla="val -127627"/>
                  <a:gd name="adj2" fmla="val 102182"/>
                </a:avLst>
              </a:prstGeom>
              <a:blipFill rotWithShape="0">
                <a:blip r:embed="rId3"/>
                <a:stretch>
                  <a:fillRect t="-7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标注 7"/>
              <p:cNvSpPr/>
              <p:nvPr/>
            </p:nvSpPr>
            <p:spPr>
              <a:xfrm>
                <a:off x="6399134" y="3185406"/>
                <a:ext cx="1592795" cy="432048"/>
              </a:xfrm>
              <a:prstGeom prst="wedgeRectCallout">
                <a:avLst>
                  <a:gd name="adj1" fmla="val -130015"/>
                  <a:gd name="adj2" fmla="val -14532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分类器越强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越大。注意：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3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&lt;0.5</m:t>
                    </m:r>
                  </m:oMath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标注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178" y="4247208"/>
                <a:ext cx="2123727" cy="576064"/>
              </a:xfrm>
              <a:prstGeom prst="wedgeRectCallout">
                <a:avLst>
                  <a:gd name="adj1" fmla="val -130015"/>
                  <a:gd name="adj2" fmla="val -14532"/>
                </a:avLst>
              </a:prstGeom>
              <a:blipFill rotWithShape="0">
                <a:blip r:embed="rId4"/>
                <a:stretch>
                  <a:fillRect t="-11224" r="-3803" b="-17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标注 8"/>
              <p:cNvSpPr/>
              <p:nvPr/>
            </p:nvSpPr>
            <p:spPr>
              <a:xfrm>
                <a:off x="5883336" y="4022001"/>
                <a:ext cx="2486223" cy="701871"/>
              </a:xfrm>
              <a:prstGeom prst="wedgeRectCallout">
                <a:avLst>
                  <a:gd name="adj1" fmla="val -62461"/>
                  <a:gd name="adj2" fmla="val -6875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35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预测不准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d>
                      <m:dPr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增大，下一轮重点关注本轮出错的数据点！</a:t>
                </a:r>
              </a:p>
            </p:txBody>
          </p:sp>
        </mc:Choice>
        <mc:Fallback>
          <p:sp>
            <p:nvSpPr>
              <p:cNvPr id="9" name="矩形标注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336" y="4022001"/>
                <a:ext cx="2486223" cy="701871"/>
              </a:xfrm>
              <a:prstGeom prst="wedgeRectCallout">
                <a:avLst>
                  <a:gd name="adj1" fmla="val -62461"/>
                  <a:gd name="adj2" fmla="val -68750"/>
                </a:avLst>
              </a:prstGeom>
              <a:blipFill rotWithShape="0">
                <a:blip r:embed="rId5"/>
                <a:stretch>
                  <a:fillRect r="-6479" b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标注 9"/>
              <p:cNvSpPr/>
              <p:nvPr/>
            </p:nvSpPr>
            <p:spPr>
              <a:xfrm>
                <a:off x="3789094" y="4589173"/>
                <a:ext cx="1415432" cy="527938"/>
              </a:xfrm>
              <a:prstGeom prst="wedgeRectCallout">
                <a:avLst>
                  <a:gd name="adj1" fmla="val -93240"/>
                  <a:gd name="adj2" fmla="val -6579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35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35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zh-CN" altLang="en-US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为加性函数</a:t>
                </a:r>
                <a:r>
                  <a:rPr lang="en-US" altLang="zh-CN" sz="135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(additive model)</a:t>
                </a:r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标注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125" y="6118897"/>
                <a:ext cx="1887243" cy="703917"/>
              </a:xfrm>
              <a:prstGeom prst="wedgeRectCallout">
                <a:avLst>
                  <a:gd name="adj1" fmla="val -93240"/>
                  <a:gd name="adj2" fmla="val -65793"/>
                </a:avLst>
              </a:prstGeom>
              <a:blipFill rotWithShape="0">
                <a:blip r:embed="rId6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5900" y="103389"/>
            <a:ext cx="6172200" cy="524145"/>
          </a:xfrm>
        </p:spPr>
        <p:txBody>
          <a:bodyPr>
            <a:normAutofit/>
          </a:bodyPr>
          <a:lstStyle/>
          <a:p>
            <a:r>
              <a:rPr lang="zh-CN" altLang="en-US" dirty="0"/>
              <a:t>算法运行举例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151" y="1063228"/>
            <a:ext cx="1944216" cy="25347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593" y="1027569"/>
            <a:ext cx="1890210" cy="39016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514" y="1063229"/>
            <a:ext cx="1957388" cy="392191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1150605"/>
            <a:ext cx="1191446" cy="109710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19663" y="786229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7315" y="786229"/>
            <a:ext cx="6174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35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轮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0" y="750570"/>
            <a:ext cx="6174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35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轮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18333" y="786229"/>
            <a:ext cx="6174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35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轮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学习到的分类器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285" y="1132880"/>
            <a:ext cx="4593431" cy="35647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在训练集上错误率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007706"/>
                <a:ext cx="6650394" cy="3886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0&lt;</m:t>
                    </m:r>
                    <m:sSub>
                      <m:sSub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AdaBoost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算法得到的分类模型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pitchFamily="18" charset="0"/>
                      </a:rPr>
                      <m:t>sgn</m:t>
                    </m:r>
                    <m:d>
                      <m:d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b="1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80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在训练数据上的错误率</a:t>
                </a: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7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7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7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n-US" altLang="zh-CN" sz="17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7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7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7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700" b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sz="17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700" i="1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∏"/>
                          <m:ctrlPr>
                            <a:rPr lang="en-US" altLang="zh-CN" sz="17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17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1700" i="1">
                                      <a:latin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17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700" i="1"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700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700" i="1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7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rad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7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17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7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US" altLang="zh-CN" sz="1700" i="1">
                                  <a:latin typeface="Cambria Math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700" i="1">
                                  <a:latin typeface="Cambria Math" panose="02040503050406030204" pitchFamily="18" charset="0"/>
                                </a:rPr>
                                <m:t>1−4</m:t>
                              </m:r>
                              <m:sSubSup>
                                <m:sSubSupPr>
                                  <m:ctrlPr>
                                    <a:rPr lang="en-US" altLang="zh-CN" sz="1700" i="1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1700" i="1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170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7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7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7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1700" i="1">
                                      <a:latin typeface="Cambria Math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7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1700" i="1">
                                          <a:latin typeface="Cambria Math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altLang="zh-CN" sz="17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1007706"/>
                <a:ext cx="6650394" cy="3886302"/>
              </a:xfrm>
              <a:blipFill rotWithShape="0">
                <a:blip r:embed="rId1"/>
                <a:stretch>
                  <a:fillRect l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3" name="矩形标注 2"/>
          <p:cNvSpPr/>
          <p:nvPr/>
        </p:nvSpPr>
        <p:spPr>
          <a:xfrm>
            <a:off x="6057900" y="2193708"/>
            <a:ext cx="1843962" cy="465323"/>
          </a:xfrm>
          <a:prstGeom prst="wedgeRectCallout">
            <a:avLst>
              <a:gd name="adj1" fmla="val -79639"/>
              <a:gd name="adj2" fmla="val 1171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随着</a:t>
            </a:r>
            <a:r>
              <a:rPr lang="en-US" altLang="zh-CN" sz="135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35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增大，训练集合上的错误率逐渐减少</a:t>
            </a:r>
            <a:endParaRPr lang="zh-CN" altLang="en-US" sz="135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证明步骤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200150"/>
                <a:ext cx="6380466" cy="394335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</m:d>
                      </m:e>
                    </m:nary>
                  </m:oMath>
                </a14:m>
                <a:endParaRPr lang="en-US" altLang="zh-CN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800" dirty="0">
                    <a:latin typeface="Cambria Math" panose="02040503050406030204" pitchFamily="18" charset="0"/>
                  </a:rPr>
                  <a:t>Step 1: </a:t>
                </a:r>
                <a:r>
                  <a:rPr lang="zh-CN" altLang="en-US" sz="1800" dirty="0">
                    <a:latin typeface="Cambria Math" panose="02040503050406030204" pitchFamily="18" charset="0"/>
                  </a:rPr>
                  <a:t>展开最后的数据权重分布</a:t>
                </a: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f>
                        <m:f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b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=⋯=</m:t>
                      </m:r>
                      <m:f>
                        <m:f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800" i="1">
                                                  <a:latin typeface="Cambria Math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800" b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800" i="1"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800" dirty="0">
                    <a:latin typeface="Cambria Math" panose="02040503050406030204" pitchFamily="18" charset="0"/>
                  </a:rPr>
                  <a:t>Step 2</a:t>
                </a:r>
                <a:r>
                  <a:rPr lang="zh-CN" altLang="en-US" sz="1800" dirty="0">
                    <a:latin typeface="Cambria Math" panose="02040503050406030204" pitchFamily="18" charset="0"/>
                  </a:rPr>
                  <a:t>：训练集错误率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18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</m:e>
                      </m:nary>
                      <m:f>
                        <m:fPr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800" i="1">
                                          <a:solidFill>
                                            <a:srgbClr val="FF0000"/>
                                          </a:solidFill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b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nary>
                            <m:naryPr>
                              <m:chr m:val="∏"/>
                              <m:limLoc m:val="subSup"/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07288" cy="5257800"/>
              </a:xfrm>
              <a:blipFill rotWithShape="0">
                <a:blip r:embed="rId1"/>
                <a:stretch>
                  <a:fillRect l="-931" t="-11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证明步骤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altLang="zh-CN" sz="1800" i="1">
                            <a:latin typeface="Cambria Math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zh-CN" sz="18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rad>
                  </m:oMath>
                </a14:m>
                <a:endParaRPr lang="en-US" altLang="zh-C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b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unc>
                        <m:func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unc>
                        <m:func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CN" sz="18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8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1800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80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800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8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1"/>
                <a:stretch>
                  <a:fillRect l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的损失函数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192057" y="1063229"/>
                <a:ext cx="4082021" cy="339447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指数损失函数</a:t>
                </a:r>
                <a:endParaRPr lang="en-US" altLang="zh-CN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0−1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n-US" altLang="zh-CN" i="1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指数损失是</a:t>
                </a:r>
                <a:r>
                  <a:rPr lang="en-US" altLang="zh-CN" dirty="0"/>
                  <a:t>0-1</a:t>
                </a:r>
                <a:r>
                  <a:rPr lang="zh-CN" altLang="en-US" dirty="0"/>
                  <a:t>损失的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上界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(upper bound)</a:t>
                </a:r>
              </a:p>
              <a:p>
                <a:r>
                  <a:rPr lang="zh-CN" altLang="en-US" dirty="0"/>
                  <a:t>在训练的每一个步骤，</a:t>
                </a:r>
                <a:r>
                  <a:rPr lang="en-US" altLang="zh-CN" dirty="0" err="1"/>
                  <a:t>AdaBoost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贪心</a:t>
                </a:r>
                <a:r>
                  <a:rPr lang="zh-CN" altLang="en-US" dirty="0"/>
                  <a:t>选择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和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最小化损失函数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加性模型，不再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改变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2057" y="1063229"/>
                <a:ext cx="4082021" cy="3394472"/>
              </a:xfrm>
              <a:blipFill rotWithShape="0">
                <a:blip r:embed="rId1"/>
                <a:stretch>
                  <a:fillRect l="-1196" t="-2693" r="-1196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742" y="1063229"/>
            <a:ext cx="2677865" cy="22597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的其他话题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1200151"/>
            <a:ext cx="6326460" cy="3394472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为多类分类、回归、排序等任务设计的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为一种算法框架，其弱分类器可以为任何其他分类模型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LambdaMART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排序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可以看成函数空间的梯度下降，由此可以导出多种不同的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Mason et al., Boosting Algorithms as Gradient Descent, NIPS 1999.</a:t>
            </a: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Friedman, J. H. Greedy Function Approximation: A Gradient Boosting 	Machine. 1999. </a:t>
            </a: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监督学习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1200150"/>
            <a:ext cx="6172200" cy="3639852"/>
          </a:xfrm>
        </p:spPr>
        <p:txBody>
          <a:bodyPr>
            <a:normAutofit/>
          </a:bodyPr>
          <a:lstStyle/>
          <a:p>
            <a:r>
              <a:rPr lang="zh-CN" altLang="en-US" dirty="0"/>
              <a:t>监督学习是数据挖掘</a:t>
            </a:r>
            <a:r>
              <a:rPr lang="en-US" altLang="zh-CN" dirty="0"/>
              <a:t>/</a:t>
            </a:r>
            <a:r>
              <a:rPr lang="zh-CN" altLang="en-US" dirty="0"/>
              <a:t>机器学习中</a:t>
            </a:r>
            <a:r>
              <a:rPr lang="zh-CN" altLang="en-US" dirty="0">
                <a:solidFill>
                  <a:srgbClr val="C00000"/>
                </a:solidFill>
              </a:rPr>
              <a:t>最重要</a:t>
            </a:r>
            <a:r>
              <a:rPr lang="zh-CN" altLang="en-US" dirty="0"/>
              <a:t>的一类学习任务和算法，本次课程只覆盖了很少的一部分</a:t>
            </a:r>
            <a:endParaRPr lang="en-US" altLang="zh-CN" dirty="0"/>
          </a:p>
          <a:p>
            <a:pPr lvl="1"/>
            <a:r>
              <a:rPr lang="zh-CN" altLang="en-US" dirty="0"/>
              <a:t>监督学习的背景和问题定义</a:t>
            </a:r>
            <a:endParaRPr lang="en-US" altLang="zh-CN" dirty="0"/>
          </a:p>
          <a:p>
            <a:pPr lvl="1"/>
            <a:r>
              <a:rPr lang="zh-CN" altLang="en-US" dirty="0"/>
              <a:t>具有代表性的分类算法</a:t>
            </a:r>
            <a:endParaRPr lang="en-US" altLang="zh-CN" dirty="0"/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本节课未涉及到的重要内容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排序学习、神经网络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深度学习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模型泛化能力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最优化技术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(SVM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涉及到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半监督学习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强化学习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(reinforcement learning)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监督学习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5900" y="1200151"/>
            <a:ext cx="6380466" cy="339447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监督学习算法应用广泛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人工标注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数据中学习模型，有的放矢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不仅可以预测简单标签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数值，也可以预测相对复杂的结构化标签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(Structured output prediction)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任务相关的特征，融合人的知识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在未知数据上的预测能力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有效的评价方法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3037</Words>
  <Application>WPS 演示</Application>
  <PresentationFormat>On-screen Show (16:9)</PresentationFormat>
  <Paragraphs>984</Paragraphs>
  <Slides>58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1" baseType="lpstr">
      <vt:lpstr>Arial</vt:lpstr>
      <vt:lpstr>宋体</vt:lpstr>
      <vt:lpstr>Wingdings</vt:lpstr>
      <vt:lpstr>微软雅黑</vt:lpstr>
      <vt:lpstr>方正超粗黑简体</vt:lpstr>
      <vt:lpstr>方正兰亭细黑_GBK</vt:lpstr>
      <vt:lpstr>黑体</vt:lpstr>
      <vt:lpstr>Times New Roman</vt:lpstr>
      <vt:lpstr>楷体</vt:lpstr>
      <vt:lpstr>Calibri</vt:lpstr>
      <vt:lpstr>Arial Unicode MS</vt:lpstr>
      <vt:lpstr>Helvetica Neue</vt:lpstr>
      <vt:lpstr>清风素材 https://12sc.taobao.com/</vt:lpstr>
      <vt:lpstr>PowerPoint 演示文稿</vt:lpstr>
      <vt:lpstr>PowerPoint 演示文稿</vt:lpstr>
      <vt:lpstr>监督学习算法分类</vt:lpstr>
      <vt:lpstr>线性分类器</vt:lpstr>
      <vt:lpstr>简单的学习规则</vt:lpstr>
      <vt:lpstr>关于更新规则的说明</vt:lpstr>
      <vt:lpstr>分类边距(Margin)</vt:lpstr>
      <vt:lpstr>带边距感知机 (Perceptron with Margin)</vt:lpstr>
      <vt:lpstr>SVM：最大边距分类器</vt:lpstr>
      <vt:lpstr>支持向量</vt:lpstr>
      <vt:lpstr>为什么最大化边距？</vt:lpstr>
      <vt:lpstr>边距的表示</vt:lpstr>
      <vt:lpstr>边距的表示</vt:lpstr>
      <vt:lpstr>边距的表示</vt:lpstr>
      <vt:lpstr>SVM优化问题</vt:lpstr>
      <vt:lpstr>上述理想模型存在的问题 ——训练数据不可分</vt:lpstr>
      <vt:lpstr>软边距</vt:lpstr>
      <vt:lpstr>优化目标求解</vt:lpstr>
      <vt:lpstr>求解对偶问题</vt:lpstr>
      <vt:lpstr>学习到的分类函数</vt:lpstr>
      <vt:lpstr>损失函数</vt:lpstr>
      <vt:lpstr> </vt:lpstr>
      <vt:lpstr>SVM损失函数</vt:lpstr>
      <vt:lpstr>PowerPoint 演示文稿</vt:lpstr>
      <vt:lpstr>分析案例</vt:lpstr>
      <vt:lpstr>学习模型的损失函数</vt:lpstr>
      <vt:lpstr>如何训练感知机模型</vt:lpstr>
      <vt:lpstr>随机梯度下降</vt:lpstr>
      <vt:lpstr>随机梯度下降SGD</vt:lpstr>
      <vt:lpstr>感知机训练算法的实现</vt:lpstr>
      <vt:lpstr>感知机的对偶形式 – 了解内容</vt:lpstr>
      <vt:lpstr>感知机训练算法的实验</vt:lpstr>
      <vt:lpstr>SVM：最大边距分类器</vt:lpstr>
      <vt:lpstr>SVM：最大边距分类器</vt:lpstr>
      <vt:lpstr>SVM：最大边距分类器</vt:lpstr>
      <vt:lpstr>SVM：最大边距分类器</vt:lpstr>
      <vt:lpstr>课堂练习</vt:lpstr>
      <vt:lpstr>SVM优化问题</vt:lpstr>
      <vt:lpstr>上述理想模型存在的问题 ——训练数据不可分</vt:lpstr>
      <vt:lpstr>上述模型的局限性</vt:lpstr>
      <vt:lpstr>软边距</vt:lpstr>
      <vt:lpstr>优化目标求解</vt:lpstr>
      <vt:lpstr>核函数 – Kernel Function</vt:lpstr>
      <vt:lpstr>PowerPoint 演示文稿</vt:lpstr>
      <vt:lpstr>监督学习算法分类</vt:lpstr>
      <vt:lpstr>Boosting</vt:lpstr>
      <vt:lpstr>对Boosting的研究</vt:lpstr>
      <vt:lpstr>AdaBoost的基本训练过程</vt:lpstr>
      <vt:lpstr>AdaBoost算法</vt:lpstr>
      <vt:lpstr>算法运行举例</vt:lpstr>
      <vt:lpstr>学习到的分类器</vt:lpstr>
      <vt:lpstr>AdaBoost在训练集上错误率</vt:lpstr>
      <vt:lpstr>证明步骤</vt:lpstr>
      <vt:lpstr>证明步骤</vt:lpstr>
      <vt:lpstr>AdaBoost的损失函数</vt:lpstr>
      <vt:lpstr>关于Boosting的其他话题</vt:lpstr>
      <vt:lpstr>监督学习</vt:lpstr>
      <vt:lpstr>监督学习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冬景瞳</cp:lastModifiedBy>
  <cp:revision>393</cp:revision>
  <cp:lastPrinted>2020-04-10T09:33:00Z</cp:lastPrinted>
  <dcterms:created xsi:type="dcterms:W3CDTF">2015-01-23T04:02:00Z</dcterms:created>
  <dcterms:modified xsi:type="dcterms:W3CDTF">2021-03-05T03:19:20Z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