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259" r:id="rId3"/>
    <p:sldId id="257" r:id="rId4"/>
    <p:sldId id="280" r:id="rId5"/>
    <p:sldId id="258" r:id="rId6"/>
    <p:sldId id="260" r:id="rId7"/>
    <p:sldId id="261" r:id="rId8"/>
    <p:sldId id="282" r:id="rId9"/>
    <p:sldId id="283" r:id="rId10"/>
    <p:sldId id="262" r:id="rId11"/>
    <p:sldId id="269" r:id="rId12"/>
    <p:sldId id="271" r:id="rId13"/>
    <p:sldId id="272" r:id="rId14"/>
    <p:sldId id="273" r:id="rId15"/>
    <p:sldId id="279" r:id="rId16"/>
    <p:sldId id="278" r:id="rId17"/>
    <p:sldId id="27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E227-80DC-4A87-9CEA-F4CC01F880C1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ADCF-B889-4353-AD96-83FCF5003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7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E180E-5D7D-4A6E-820C-92D78CF64EF1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947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E180E-5D7D-4A6E-820C-92D78CF64EF1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348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E180E-5D7D-4A6E-820C-92D78CF64EF1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298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2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32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93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2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55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55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46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7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3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43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20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0D4CE-DEB2-4D9E-AD3E-1077D290BF63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2E47-09D1-438A-A893-2D1C9D3E6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09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512" y="1691640"/>
            <a:ext cx="9187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</a:rPr>
              <a:t>大作业二（集合论）参考解答</a:t>
            </a:r>
            <a:endParaRPr lang="zh-CN" altLang="en-US" sz="5400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7600" y="4032504"/>
            <a:ext cx="4801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/>
              <a:t>说明：批注未必到位</a:t>
            </a:r>
            <a:endParaRPr lang="en-US" altLang="zh-CN" sz="4000" dirty="0" smtClean="0"/>
          </a:p>
          <a:p>
            <a:r>
              <a:rPr lang="en-US" altLang="zh-CN" sz="4000" dirty="0"/>
              <a:t> </a:t>
            </a:r>
            <a:r>
              <a:rPr lang="en-US" altLang="zh-CN" sz="4000" dirty="0" smtClean="0"/>
              <a:t>          </a:t>
            </a:r>
            <a:r>
              <a:rPr lang="zh-CN" altLang="en-US" sz="4000" dirty="0" smtClean="0"/>
              <a:t>批改</a:t>
            </a:r>
            <a:r>
              <a:rPr lang="zh-CN" altLang="en-US" sz="4000" dirty="0"/>
              <a:t>比较</a:t>
            </a:r>
            <a:r>
              <a:rPr lang="zh-CN" altLang="en-US" sz="4000" dirty="0" smtClean="0"/>
              <a:t>宽松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8493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38784" y="106617"/>
            <a:ext cx="8229600" cy="2283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是两个任意的集合，证明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⊆ 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A∪B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110000"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并给出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2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A∪B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的一个例子。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zh-CN" sz="4400" dirty="0">
              <a:solidFill>
                <a:srgbClr val="333300"/>
              </a:solidFill>
              <a:latin typeface="Tahoma" panose="020B0604030504040204" pitchFamily="34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938784" y="2331999"/>
            <a:ext cx="8229600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solidFill>
                  <a:srgbClr val="00B0F0"/>
                </a:solidFill>
              </a:rPr>
              <a:t>证</a:t>
            </a:r>
            <a:r>
              <a:rPr lang="en-US" altLang="zh-CN" sz="3200" b="1" dirty="0">
                <a:solidFill>
                  <a:srgbClr val="00B0F0"/>
                </a:solidFill>
              </a:rPr>
              <a:t>:   </a:t>
            </a:r>
            <a:r>
              <a:rPr lang="en-US" altLang="zh-CN" sz="1600" b="1" dirty="0">
                <a:latin typeface="Calibri" panose="020F0502020204030204" pitchFamily="34" charset="0"/>
              </a:rPr>
              <a:t> </a:t>
            </a:r>
            <a:r>
              <a:rPr lang="zh-CN" altLang="en-US" sz="3200" b="1" dirty="0"/>
              <a:t>因为 </a:t>
            </a:r>
            <a:r>
              <a:rPr lang="en-US" altLang="zh-CN" sz="3200" b="1" dirty="0"/>
              <a:t>A ⊆ A∪B</a:t>
            </a:r>
            <a:r>
              <a:rPr lang="zh-CN" altLang="en-US" sz="3200" b="1" dirty="0"/>
              <a:t>，所以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   </a:t>
            </a:r>
            <a:r>
              <a:rPr lang="zh-CN" altLang="en-US" sz="3200" b="1" baseline="30000" dirty="0">
                <a:latin typeface="Calibri" panose="020F0502020204030204" pitchFamily="34" charset="0"/>
              </a:rPr>
              <a:t>  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</a:t>
            </a:r>
            <a:r>
              <a:rPr lang="en-US" altLang="zh-CN" sz="3200" b="1" dirty="0">
                <a:solidFill>
                  <a:srgbClr val="C00000"/>
                </a:solidFill>
              </a:rPr>
              <a:t> ⊆</a:t>
            </a:r>
            <a:r>
              <a:rPr lang="en-US" altLang="zh-CN" sz="3200" b="1" dirty="0">
                <a:latin typeface="Calibri" panose="020F0502020204030204" pitchFamily="34" charset="0"/>
              </a:rPr>
              <a:t>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A∪B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3200" b="1" baseline="30000" dirty="0">
                <a:latin typeface="Calibri" panose="020F0502020204030204" pitchFamily="34" charset="0"/>
              </a:rPr>
              <a:t>               </a:t>
            </a:r>
            <a:r>
              <a:rPr lang="zh-CN" altLang="en-US" sz="3200" b="1" dirty="0">
                <a:latin typeface="Calibri" panose="020F0502020204030204" pitchFamily="34" charset="0"/>
              </a:rPr>
              <a:t>同理，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B</a:t>
            </a:r>
            <a:r>
              <a:rPr lang="en-US" altLang="zh-CN" sz="3200" b="1" dirty="0">
                <a:solidFill>
                  <a:srgbClr val="C00000"/>
                </a:solidFill>
              </a:rPr>
              <a:t> ⊆</a:t>
            </a:r>
            <a:r>
              <a:rPr lang="en-US" altLang="zh-CN" sz="3200" b="1" dirty="0">
                <a:latin typeface="Calibri" panose="020F0502020204030204" pitchFamily="34" charset="0"/>
              </a:rPr>
              <a:t>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A∪B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latin typeface="Calibri" panose="020F0502020204030204" pitchFamily="34" charset="0"/>
              </a:rPr>
              <a:t>          因此， 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</a:t>
            </a:r>
            <a:r>
              <a:rPr lang="en-US" altLang="zh-CN" sz="3200" b="1" dirty="0"/>
              <a:t>∪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B</a:t>
            </a:r>
            <a:r>
              <a:rPr lang="en-US" altLang="zh-CN" sz="3200" b="1" dirty="0">
                <a:solidFill>
                  <a:srgbClr val="C00000"/>
                </a:solidFill>
              </a:rPr>
              <a:t> ⊆</a:t>
            </a:r>
            <a:r>
              <a:rPr lang="en-US" altLang="zh-CN" sz="3200" b="1" dirty="0">
                <a:latin typeface="Calibri" panose="020F0502020204030204" pitchFamily="34" charset="0"/>
              </a:rPr>
              <a:t>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A∪B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ABE5CF-A634-44D0-891F-87454AE3B01F}"/>
              </a:ext>
            </a:extLst>
          </p:cNvPr>
          <p:cNvSpPr txBox="1"/>
          <p:nvPr/>
        </p:nvSpPr>
        <p:spPr>
          <a:xfrm>
            <a:off x="1877232" y="4518898"/>
            <a:ext cx="73551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例子</a:t>
            </a:r>
            <a:r>
              <a:rPr lang="zh-CN" altLang="en-US" sz="3200" dirty="0" smtClean="0"/>
              <a:t>： </a:t>
            </a:r>
            <a:r>
              <a:rPr lang="en-US" altLang="zh-CN" sz="3200" b="1" dirty="0"/>
              <a:t>A={1},            B={2},</a:t>
            </a:r>
          </a:p>
          <a:p>
            <a:r>
              <a:rPr lang="en-US" altLang="zh-CN" sz="3200" b="1" dirty="0">
                <a:latin typeface="Calibri" panose="020F0502020204030204" pitchFamily="34" charset="0"/>
              </a:rPr>
              <a:t>            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</a:t>
            </a:r>
            <a:r>
              <a:rPr lang="en-US" altLang="zh-CN" sz="3200" dirty="0"/>
              <a:t> ={</a:t>
            </a:r>
            <a:r>
              <a:rPr lang="en-US" altLang="zh-CN" sz="3200" b="1" dirty="0"/>
              <a:t>Ø, {1}},    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B</a:t>
            </a:r>
            <a:r>
              <a:rPr lang="en-US" altLang="zh-CN" sz="3200" dirty="0"/>
              <a:t> ={</a:t>
            </a:r>
            <a:r>
              <a:rPr lang="en-US" altLang="zh-CN" sz="3200" b="1" dirty="0"/>
              <a:t>Ø, {2}},</a:t>
            </a:r>
          </a:p>
          <a:p>
            <a:r>
              <a:rPr lang="en-US" altLang="zh-CN" sz="3200" b="1" dirty="0">
                <a:latin typeface="Calibri" panose="020F0502020204030204" pitchFamily="34" charset="0"/>
              </a:rPr>
              <a:t>            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</a:t>
            </a:r>
            <a:r>
              <a:rPr lang="en-US" altLang="zh-CN" sz="3200" b="1" dirty="0"/>
              <a:t>∪</a:t>
            </a:r>
            <a:r>
              <a:rPr lang="en-US" altLang="zh-CN" sz="3200" b="1" dirty="0">
                <a:latin typeface="Calibri" panose="020F0502020204030204" pitchFamily="34" charset="0"/>
              </a:rPr>
              <a:t>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B</a:t>
            </a:r>
            <a:r>
              <a:rPr lang="en-US" altLang="zh-CN" sz="3200" b="1" dirty="0">
                <a:solidFill>
                  <a:srgbClr val="C00000"/>
                </a:solidFill>
              </a:rPr>
              <a:t> </a:t>
            </a:r>
            <a:r>
              <a:rPr lang="en-US" altLang="zh-CN" sz="3200" b="1" dirty="0"/>
              <a:t>={Ø, {1}, {2}},</a:t>
            </a:r>
          </a:p>
          <a:p>
            <a:r>
              <a:rPr lang="en-US" altLang="zh-CN" sz="3200" b="1" dirty="0">
                <a:solidFill>
                  <a:srgbClr val="C00000"/>
                </a:solidFill>
              </a:rPr>
              <a:t>          </a:t>
            </a:r>
            <a:r>
              <a:rPr lang="en-US" altLang="zh-CN" sz="3200" b="1" dirty="0">
                <a:latin typeface="Calibri" panose="020F0502020204030204" pitchFamily="34" charset="0"/>
              </a:rPr>
              <a:t> 2</a:t>
            </a:r>
            <a:r>
              <a:rPr lang="en-US" altLang="zh-CN" sz="3200" b="1" baseline="30000" dirty="0">
                <a:latin typeface="Calibri" panose="020F0502020204030204" pitchFamily="34" charset="0"/>
              </a:rPr>
              <a:t>A∪B</a:t>
            </a:r>
            <a:r>
              <a:rPr lang="en-US" altLang="zh-CN" sz="3200" b="1" dirty="0"/>
              <a:t> ={Ø, {1}, {2}, {1,2}}</a:t>
            </a:r>
            <a:endParaRPr lang="zh-CN" altLang="en-US" sz="3200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35975" y="106617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1.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8082836"/>
      </p:ext>
    </p:extLst>
  </p:cSld>
  <p:clrMapOvr>
    <a:masterClrMapping/>
  </p:clrMapOvr>
  <p:transition advClick="0" advTm="3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94514"/>
            <a:ext cx="9144000" cy="165578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的整数中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，只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能够被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中的一个数整除的数有多少个？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82492" y="1849902"/>
                <a:ext cx="7164077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记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表示从</m:t>
                    </m:r>
                  </m:oMath>
                </a14:m>
                <a:r>
                  <a:rPr lang="en-US" altLang="zh-CN" sz="2400" dirty="0" smtClean="0"/>
                  <a:t>1</a:t>
                </a:r>
                <a:r>
                  <a:rPr lang="zh-CN" altLang="en-US" sz="2400" dirty="0" smtClean="0"/>
                  <a:t>到</a:t>
                </a:r>
                <a:r>
                  <a:rPr lang="en-US" altLang="zh-CN" sz="2400" dirty="0" smtClean="0"/>
                  <a:t>300</a:t>
                </a:r>
                <a:r>
                  <a:rPr lang="zh-CN" altLang="en-US" sz="2400" dirty="0" smtClean="0"/>
                  <a:t>的整数中能够被</a:t>
                </a:r>
                <a:r>
                  <a:rPr lang="en-US" altLang="zh-CN" sz="2400" dirty="0" smtClean="0"/>
                  <a:t>k</a:t>
                </a:r>
                <a:r>
                  <a:rPr lang="zh-CN" altLang="en-US" sz="2400" dirty="0" smtClean="0"/>
                  <a:t>整除的数的集合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92" y="1849902"/>
                <a:ext cx="7164077" cy="461665"/>
              </a:xfrm>
              <a:prstGeom prst="rect">
                <a:avLst/>
              </a:prstGeom>
              <a:blipFill>
                <a:blip r:embed="rId3"/>
                <a:stretch>
                  <a:fillRect l="-595" t="-9211" r="-255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82493" y="5232251"/>
                <a:ext cx="11909508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所求数的个数为：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+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 smtClean="0"/>
                  <a:t>=</a:t>
                </a:r>
                <a:r>
                  <a:rPr lang="en-US" altLang="zh-CN" sz="2800" dirty="0"/>
                  <a:t>68+34+22=124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93" y="5232251"/>
                <a:ext cx="11909508" cy="956737"/>
              </a:xfrm>
              <a:prstGeom prst="rect">
                <a:avLst/>
              </a:prstGeom>
              <a:blipFill>
                <a:blip r:embed="rId4"/>
                <a:stretch>
                  <a:fillRect l="-1024" t="-7006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82492" y="2415432"/>
                <a:ext cx="4736224" cy="276267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r>
                  <a:rPr lang="zh-CN" altLang="en-U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zh-CN" altLang="en-U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11588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68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92" y="2415432"/>
                <a:ext cx="4736224" cy="2762679"/>
              </a:xfrm>
              <a:prstGeom prst="rect">
                <a:avLst/>
              </a:prstGeom>
              <a:blipFill>
                <a:blip r:embed="rId5"/>
                <a:stretch>
                  <a:fillRect b="-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64238" y="2415432"/>
                <a:ext cx="4952698" cy="275415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indent="11588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4</a:t>
                </a:r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38" y="2415432"/>
                <a:ext cx="4952698" cy="2754152"/>
              </a:xfrm>
              <a:prstGeom prst="rect">
                <a:avLst/>
              </a:prstGeom>
              <a:blipFill>
                <a:blip r:embed="rId6"/>
                <a:stretch>
                  <a:fillRect b="-3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031848" y="2411168"/>
                <a:ext cx="4736224" cy="276267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r>
                  <a:rPr lang="zh-CN" altLang="en-U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zh-CN" altLang="en-U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11588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848" y="2411168"/>
                <a:ext cx="4736224" cy="2762679"/>
              </a:xfrm>
              <a:prstGeom prst="rect">
                <a:avLst/>
              </a:prstGeom>
              <a:blipFill>
                <a:blip r:embed="rId7"/>
                <a:stretch>
                  <a:fillRect b="-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629266" y="381920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2.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0265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3" y="0"/>
            <a:ext cx="12152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811147"/>
          </a:xfrm>
        </p:spPr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={Ø, {a}}</a:t>
            </a:r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B={ &lt;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{a}&gt; 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，求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2</a:t>
            </a:r>
            <a:r>
              <a:rPr lang="en-US" altLang="zh-CN" sz="36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×B</a:t>
            </a:r>
            <a:b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A×2</a:t>
            </a:r>
            <a:r>
              <a:rPr lang="en-US" altLang="zh-CN" sz="36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8096" y="2249424"/>
            <a:ext cx="99486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解：</a:t>
            </a:r>
            <a:r>
              <a:rPr lang="zh-CN" altLang="en-US" sz="3200" b="1" dirty="0">
                <a:solidFill>
                  <a:srgbClr val="CC0000"/>
                </a:solidFill>
              </a:rPr>
              <a:t>	</a:t>
            </a:r>
          </a:p>
          <a:p>
            <a:pPr>
              <a:spcAft>
                <a:spcPct val="40000"/>
              </a:spcAft>
            </a:pPr>
            <a:r>
              <a:rPr lang="zh-CN" altLang="en-US" sz="3200" b="1" dirty="0"/>
              <a:t>       </a:t>
            </a:r>
            <a:r>
              <a:rPr lang="en-US" altLang="zh-CN" sz="3200" b="1" dirty="0"/>
              <a:t>2</a:t>
            </a:r>
            <a:r>
              <a:rPr lang="en-US" altLang="zh-CN" sz="3200" b="1" baseline="30000" dirty="0"/>
              <a:t>A </a:t>
            </a:r>
            <a:r>
              <a:rPr lang="en-US" altLang="zh-CN" sz="3200" b="1" dirty="0"/>
              <a:t>={</a:t>
            </a:r>
            <a:r>
              <a:rPr lang="en-US" altLang="zh-CN" sz="3200" b="1" dirty="0">
                <a:latin typeface="Arial" panose="020B0604020202020204" pitchFamily="34" charset="0"/>
              </a:rPr>
              <a:t>Ø</a:t>
            </a:r>
            <a:r>
              <a:rPr lang="en-US" altLang="zh-CN" sz="3200" b="1" dirty="0" smtClean="0"/>
              <a:t>,</a:t>
            </a:r>
            <a:r>
              <a:rPr lang="en-US" altLang="zh-CN" sz="3200" b="1" dirty="0"/>
              <a:t> </a:t>
            </a:r>
            <a:r>
              <a:rPr lang="en-US" altLang="zh-CN" sz="3200" b="1" dirty="0" smtClean="0"/>
              <a:t>{</a:t>
            </a:r>
            <a:r>
              <a:rPr lang="en-US" altLang="zh-CN" sz="3200" b="1" dirty="0">
                <a:latin typeface="Arial" panose="020B0604020202020204" pitchFamily="34" charset="0"/>
              </a:rPr>
              <a:t>Ø</a:t>
            </a:r>
            <a:r>
              <a:rPr lang="en-US" altLang="zh-CN" sz="3200" b="1" dirty="0" smtClean="0"/>
              <a:t>}, {{</a:t>
            </a:r>
            <a:r>
              <a:rPr lang="en-US" altLang="zh-CN" sz="3200" b="1" dirty="0"/>
              <a:t>a</a:t>
            </a:r>
            <a:r>
              <a:rPr lang="en-US" altLang="zh-CN" sz="3200" b="1" dirty="0" smtClean="0"/>
              <a:t>}}, </a:t>
            </a:r>
            <a:r>
              <a:rPr lang="en-US" altLang="zh-CN" sz="3200" b="1" dirty="0"/>
              <a:t>A}</a:t>
            </a:r>
          </a:p>
          <a:p>
            <a:pPr>
              <a:spcAft>
                <a:spcPct val="40000"/>
              </a:spcAft>
            </a:pPr>
            <a:r>
              <a:rPr lang="en-US" altLang="zh-CN" sz="3200" b="1" dirty="0" smtClean="0"/>
              <a:t>       2</a:t>
            </a:r>
            <a:r>
              <a:rPr lang="en-US" altLang="zh-CN" sz="3200" b="1" baseline="30000" dirty="0" smtClean="0"/>
              <a:t>A </a:t>
            </a:r>
            <a:r>
              <a:rPr lang="en-US" altLang="zh-CN" sz="3200" b="1" dirty="0"/>
              <a:t>×B</a:t>
            </a:r>
            <a:r>
              <a:rPr lang="en-US" altLang="zh-CN" sz="3200" b="1" dirty="0" smtClean="0"/>
              <a:t>={&lt;</a:t>
            </a:r>
            <a:r>
              <a:rPr lang="en-US" altLang="zh-CN" sz="3200" b="1" dirty="0" err="1" smtClean="0">
                <a:latin typeface="Arial" panose="020B0604020202020204" pitchFamily="34" charset="0"/>
              </a:rPr>
              <a:t>Ø</a:t>
            </a:r>
            <a:r>
              <a:rPr lang="en-US" altLang="zh-CN" sz="3200" b="1" dirty="0" err="1" smtClean="0"/>
              <a:t>,b</a:t>
            </a:r>
            <a:r>
              <a:rPr lang="en-US" altLang="zh-CN" sz="3200" b="1" dirty="0" smtClean="0"/>
              <a:t>&gt;, &lt;{</a:t>
            </a:r>
            <a:r>
              <a:rPr lang="en-US" altLang="zh-CN" sz="3200" b="1" dirty="0" smtClean="0">
                <a:latin typeface="Arial" panose="020B0604020202020204" pitchFamily="34" charset="0"/>
              </a:rPr>
              <a:t>Ø</a:t>
            </a:r>
            <a:r>
              <a:rPr lang="en-US" altLang="zh-CN" sz="3200" b="1" dirty="0" smtClean="0"/>
              <a:t>},b&gt;, &lt;{{a</a:t>
            </a:r>
            <a:r>
              <a:rPr lang="en-US" altLang="zh-CN" sz="3200" b="1" dirty="0" smtClean="0">
                <a:latin typeface="Arial" panose="020B0604020202020204" pitchFamily="34" charset="0"/>
              </a:rPr>
              <a:t>}</a:t>
            </a:r>
            <a:r>
              <a:rPr lang="en-US" altLang="zh-CN" sz="3200" b="1" dirty="0" smtClean="0"/>
              <a:t>},b&gt;, &lt;</a:t>
            </a:r>
            <a:r>
              <a:rPr lang="en-US" altLang="zh-CN" sz="3200" b="1" dirty="0" err="1" smtClean="0"/>
              <a:t>A,b</a:t>
            </a:r>
            <a:r>
              <a:rPr lang="en-US" altLang="zh-CN" sz="3200" b="1" dirty="0" smtClean="0"/>
              <a:t>&gt;}</a:t>
            </a:r>
            <a:endParaRPr lang="en-US" altLang="zh-CN" sz="3200" b="1" dirty="0"/>
          </a:p>
          <a:p>
            <a:pPr>
              <a:spcAft>
                <a:spcPct val="40000"/>
              </a:spcAft>
            </a:pPr>
            <a:r>
              <a:rPr lang="en-US" altLang="zh-CN" sz="3200" b="1" dirty="0"/>
              <a:t>            </a:t>
            </a:r>
            <a:r>
              <a:rPr lang="zh-CN" altLang="en-US" sz="3200" b="1" dirty="0"/>
              <a:t>其中 </a:t>
            </a:r>
            <a:r>
              <a:rPr lang="en-US" altLang="zh-CN" sz="3200" b="1" dirty="0"/>
              <a:t>b= </a:t>
            </a:r>
            <a:r>
              <a:rPr lang="en-US" altLang="zh-CN" sz="3200" b="1" dirty="0" smtClean="0"/>
              <a:t>&lt;1</a:t>
            </a:r>
            <a:r>
              <a:rPr lang="en-US" altLang="zh-CN" sz="3200" b="1" dirty="0"/>
              <a:t>, </a:t>
            </a:r>
            <a:r>
              <a:rPr lang="en-US" altLang="zh-CN" sz="3200" b="1" dirty="0" smtClean="0"/>
              <a:t>{a}&gt; </a:t>
            </a:r>
            <a:endParaRPr lang="en-US" altLang="zh-CN" sz="3200" b="1" dirty="0"/>
          </a:p>
          <a:p>
            <a:pPr>
              <a:spcAft>
                <a:spcPct val="40000"/>
              </a:spcAft>
            </a:pPr>
            <a:r>
              <a:rPr lang="en-US" altLang="zh-CN" sz="3200" b="1" dirty="0" smtClean="0"/>
              <a:t>       2</a:t>
            </a:r>
            <a:r>
              <a:rPr lang="en-US" altLang="zh-CN" sz="3200" b="1" baseline="30000" dirty="0" smtClean="0"/>
              <a:t>B </a:t>
            </a:r>
            <a:r>
              <a:rPr lang="en-US" altLang="zh-CN" sz="3200" b="1" dirty="0"/>
              <a:t>={</a:t>
            </a:r>
            <a:r>
              <a:rPr lang="en-US" altLang="zh-CN" sz="3200" b="1" dirty="0">
                <a:latin typeface="Arial" panose="020B0604020202020204" pitchFamily="34" charset="0"/>
              </a:rPr>
              <a:t>Ø</a:t>
            </a:r>
            <a:r>
              <a:rPr lang="en-US" altLang="zh-CN" sz="3200" b="1" dirty="0"/>
              <a:t>, B}</a:t>
            </a:r>
          </a:p>
          <a:p>
            <a:pPr>
              <a:spcAft>
                <a:spcPct val="40000"/>
              </a:spcAft>
            </a:pPr>
            <a:r>
              <a:rPr lang="en-US" altLang="zh-CN" sz="3200" b="1" dirty="0" smtClean="0"/>
              <a:t>       A×2</a:t>
            </a:r>
            <a:r>
              <a:rPr lang="en-US" altLang="zh-CN" sz="3200" b="1" baseline="30000" dirty="0" smtClean="0"/>
              <a:t>B </a:t>
            </a:r>
            <a:r>
              <a:rPr lang="en-US" altLang="zh-CN" sz="3200" b="1" dirty="0" smtClean="0"/>
              <a:t>={&lt;</a:t>
            </a:r>
            <a:r>
              <a:rPr lang="en-US" altLang="zh-CN" sz="3200" b="1" dirty="0" smtClean="0">
                <a:latin typeface="Arial" panose="020B0604020202020204" pitchFamily="34" charset="0"/>
              </a:rPr>
              <a:t>Ø</a:t>
            </a:r>
            <a:r>
              <a:rPr lang="en-US" altLang="zh-CN" sz="3200" b="1" dirty="0" smtClean="0"/>
              <a:t>,</a:t>
            </a:r>
            <a:r>
              <a:rPr lang="en-US" altLang="zh-CN" sz="3200" b="1" dirty="0" smtClean="0">
                <a:latin typeface="Arial" panose="020B0604020202020204" pitchFamily="34" charset="0"/>
              </a:rPr>
              <a:t> Ø&gt;</a:t>
            </a:r>
            <a:r>
              <a:rPr lang="en-US" altLang="zh-CN" sz="3200" b="1" dirty="0" smtClean="0"/>
              <a:t>, &lt;</a:t>
            </a:r>
            <a:r>
              <a:rPr lang="en-US" altLang="zh-CN" sz="3200" b="1" dirty="0" smtClean="0">
                <a:latin typeface="Arial" panose="020B0604020202020204" pitchFamily="34" charset="0"/>
              </a:rPr>
              <a:t>Ø</a:t>
            </a:r>
            <a:r>
              <a:rPr lang="en-US" altLang="zh-CN" sz="3200" b="1" dirty="0" smtClean="0"/>
              <a:t>,B&gt;, &lt;{a},</a:t>
            </a:r>
            <a:r>
              <a:rPr lang="en-US" altLang="zh-CN" sz="3200" b="1" dirty="0" smtClean="0">
                <a:latin typeface="Arial" panose="020B0604020202020204" pitchFamily="34" charset="0"/>
              </a:rPr>
              <a:t>Ø&gt;</a:t>
            </a:r>
            <a:r>
              <a:rPr lang="en-US" altLang="zh-CN" sz="3200" b="1" dirty="0" smtClean="0"/>
              <a:t>, &lt;{a},B&gt;} </a:t>
            </a:r>
            <a:endParaRPr lang="en-US" altLang="zh-CN" sz="3200" b="1" dirty="0"/>
          </a:p>
          <a:p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187994" y="273685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3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4184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847528" y="0"/>
            <a:ext cx="9161848" cy="2706624"/>
          </a:xfrm>
        </p:spPr>
        <p:txBody>
          <a:bodyPr>
            <a:normAutofit fontScale="62500" lnSpcReduction="20000"/>
          </a:bodyPr>
          <a:lstStyle/>
          <a:p>
            <a:pPr marL="715963" indent="-715963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 {</a:t>
            </a:r>
            <a:r>
              <a:rPr lang="en-US" altLang="zh-CN" sz="51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Ø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}, &lt;1, 2&gt;, {</a:t>
            </a: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{AI}}, a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a&gt;}</a:t>
            </a:r>
            <a:endParaRPr lang="en-US" altLang="zh-CN" sz="5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5963" indent="-715963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</a:t>
            </a: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构造如下两个关系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5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5963" indent="-715963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上自反和反对称的</a:t>
            </a: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关系；</a:t>
            </a:r>
            <a:endParaRPr lang="en-US" altLang="zh-CN" sz="5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5963" indent="-715963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5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上反自反和传递的</a:t>
            </a:r>
            <a:r>
              <a:rPr lang="zh-CN" altLang="en-US" sz="5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关系。</a:t>
            </a:r>
            <a:endParaRPr lang="en-US" altLang="zh-CN" sz="5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5963" indent="-715963">
              <a:lnSpc>
                <a:spcPct val="105000"/>
              </a:lnSpc>
              <a:buNone/>
            </a:pPr>
            <a:endParaRPr lang="en-US" altLang="zh-CN" sz="2000" b="1" dirty="0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821363" y="2423339"/>
            <a:ext cx="10919533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解：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     (1)  </a:t>
            </a:r>
            <a:r>
              <a:rPr lang="en-US" altLang="zh-CN" sz="2800" dirty="0" smtClean="0"/>
              <a:t>R=</a:t>
            </a:r>
            <a:r>
              <a:rPr lang="en-US" altLang="zh-CN" sz="2800" b="1" dirty="0">
                <a:ea typeface="MS Mincho" panose="02020609040205080304" pitchFamily="49" charset="-128"/>
              </a:rPr>
              <a:t>I</a:t>
            </a:r>
            <a:r>
              <a:rPr lang="en-US" altLang="zh-CN" sz="2800" b="1" baseline="-25000" dirty="0" smtClean="0">
                <a:latin typeface="Calibri" panose="020F0502020204030204" pitchFamily="34" charset="0"/>
              </a:rPr>
              <a:t>A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FF0000"/>
                </a:solidFill>
              </a:rPr>
              <a:t>{</a:t>
            </a:r>
            <a:r>
              <a:rPr lang="en-US" altLang="zh-CN" sz="2800" dirty="0"/>
              <a:t> &lt;</a:t>
            </a:r>
            <a:r>
              <a:rPr lang="en-US" altLang="zh-CN" sz="2800" dirty="0" smtClean="0"/>
              <a:t>{</a:t>
            </a:r>
            <a:r>
              <a:rPr lang="en-US" altLang="zh-CN" sz="2800" b="1" dirty="0">
                <a:solidFill>
                  <a:schemeClr val="tx2"/>
                </a:solidFill>
              </a:rPr>
              <a:t>Ø}, {Ø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}&gt;, 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</a:rPr>
              <a:t>                        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&lt;</a:t>
            </a:r>
            <a:r>
              <a:rPr lang="en-US" altLang="zh-CN" sz="2800" b="1" dirty="0">
                <a:solidFill>
                  <a:schemeClr val="tx2"/>
                </a:solidFill>
              </a:rPr>
              <a:t>&lt;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1, 2&gt;, &lt;1, 2&gt;&gt;,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</a:rPr>
              <a:t>                         </a:t>
            </a:r>
            <a:r>
              <a:rPr lang="en-US" altLang="zh-CN" sz="2800" dirty="0"/>
              <a:t>&lt;</a:t>
            </a:r>
            <a:r>
              <a:rPr lang="en-US" altLang="zh-CN" sz="2800" b="1" dirty="0" smtClean="0"/>
              <a:t>{</a:t>
            </a:r>
            <a:r>
              <a:rPr lang="zh-CN" altLang="en-US" sz="2800" b="1" dirty="0" smtClean="0"/>
              <a:t>中国</a:t>
            </a:r>
            <a:r>
              <a:rPr lang="en-US" altLang="zh-CN" sz="2800" b="1" dirty="0" smtClean="0"/>
              <a:t>, {AI}}, </a:t>
            </a:r>
            <a:r>
              <a:rPr lang="en-US" altLang="zh-CN" sz="2800" b="1" dirty="0"/>
              <a:t>{</a:t>
            </a:r>
            <a:r>
              <a:rPr lang="zh-CN" altLang="en-US" sz="2800" b="1" dirty="0" smtClean="0"/>
              <a:t>中国</a:t>
            </a:r>
            <a:r>
              <a:rPr lang="en-US" altLang="zh-CN" sz="2800" b="1" dirty="0" smtClean="0"/>
              <a:t>,</a:t>
            </a: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{AI}}&gt;, 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                         </a:t>
            </a:r>
            <a:r>
              <a:rPr lang="en-US" altLang="zh-CN" sz="2800" b="1" dirty="0" smtClean="0"/>
              <a:t>&lt;a, a&gt;, 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                         </a:t>
            </a:r>
            <a:r>
              <a:rPr lang="en-US" altLang="zh-CN" sz="2800" b="1" dirty="0" smtClean="0"/>
              <a:t>&lt;&lt;a, a&gt;, &lt;a, a&gt;&gt; </a:t>
            </a:r>
            <a:r>
              <a:rPr lang="en-US" altLang="zh-CN" sz="2800" b="1" dirty="0">
                <a:solidFill>
                  <a:srgbClr val="FF0000"/>
                </a:solidFill>
              </a:rPr>
              <a:t>}</a:t>
            </a:r>
          </a:p>
          <a:p>
            <a:pPr eaLnBrk="1" hangingPunct="1"/>
            <a:r>
              <a:rPr lang="en-US" altLang="zh-CN" sz="2800" b="1" dirty="0"/>
              <a:t>             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R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=</a:t>
            </a:r>
            <a:r>
              <a:rPr lang="en-US" altLang="zh-CN" sz="2800" b="1" dirty="0">
                <a:ea typeface="MS Mincho" panose="02020609040205080304" pitchFamily="49" charset="-128"/>
              </a:rPr>
              <a:t>I</a:t>
            </a:r>
            <a:r>
              <a:rPr lang="en-US" altLang="zh-CN" sz="2800" b="1" baseline="-25000" dirty="0" smtClean="0">
                <a:latin typeface="Calibri" panose="020F0502020204030204" pitchFamily="34" charset="0"/>
              </a:rPr>
              <a:t>A</a:t>
            </a:r>
            <a:r>
              <a:rPr lang="en-US" altLang="zh-CN" sz="2800" b="1" dirty="0">
                <a:latin typeface="MS Mincho" pitchFamily="49" charset="-128"/>
                <a:ea typeface="MS Mincho" pitchFamily="49" charset="-128"/>
              </a:rPr>
              <a:t>∪</a:t>
            </a:r>
            <a:r>
              <a:rPr lang="en-US" altLang="zh-CN" sz="2800" b="1" dirty="0" smtClean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{</a:t>
            </a:r>
            <a:r>
              <a:rPr lang="en-US" altLang="zh-CN" sz="2800" dirty="0"/>
              <a:t>&lt;</a:t>
            </a:r>
            <a:r>
              <a:rPr lang="en-US" altLang="zh-CN" sz="2800" dirty="0" smtClean="0"/>
              <a:t>{</a:t>
            </a:r>
            <a:r>
              <a:rPr lang="en-US" altLang="zh-CN" sz="2800" b="1" dirty="0">
                <a:solidFill>
                  <a:schemeClr val="tx2"/>
                </a:solidFill>
              </a:rPr>
              <a:t>Ø},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a&gt; </a:t>
            </a:r>
            <a:r>
              <a:rPr lang="en-US" altLang="zh-CN" sz="2800" b="1" dirty="0">
                <a:solidFill>
                  <a:srgbClr val="FF0000"/>
                </a:solidFill>
              </a:rPr>
              <a:t>}</a:t>
            </a:r>
          </a:p>
          <a:p>
            <a:pPr eaLnBrk="1" hangingPunct="1"/>
            <a:r>
              <a:rPr lang="en-US" altLang="zh-CN" sz="2800" dirty="0"/>
              <a:t>      (2) R=</a:t>
            </a:r>
            <a:r>
              <a:rPr lang="en-US" altLang="zh-CN" sz="2800" b="1" dirty="0">
                <a:solidFill>
                  <a:schemeClr val="tx2"/>
                </a:solidFill>
              </a:rPr>
              <a:t> Ø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</a:rPr>
              <a:t>           </a:t>
            </a:r>
            <a:r>
              <a:rPr lang="zh-CN" altLang="en-US" sz="2800" b="1" dirty="0">
                <a:solidFill>
                  <a:schemeClr val="tx2"/>
                </a:solidFill>
              </a:rPr>
              <a:t>或 </a:t>
            </a:r>
            <a:r>
              <a:rPr lang="en-US" altLang="zh-CN" sz="2800" b="1" dirty="0">
                <a:solidFill>
                  <a:schemeClr val="tx2"/>
                </a:solidFill>
              </a:rPr>
              <a:t>R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{</a:t>
            </a:r>
            <a:r>
              <a:rPr lang="en-US" altLang="zh-CN" sz="2800" dirty="0"/>
              <a:t>&lt;</a:t>
            </a:r>
            <a:r>
              <a:rPr lang="en-US" altLang="zh-CN" sz="2800" dirty="0" smtClean="0"/>
              <a:t>{</a:t>
            </a:r>
            <a:r>
              <a:rPr lang="en-US" altLang="zh-CN" sz="2800" b="1" dirty="0">
                <a:solidFill>
                  <a:schemeClr val="tx2"/>
                </a:solidFill>
              </a:rPr>
              <a:t>Ø},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a&gt;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}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  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</a:rPr>
              <a:t>           </a:t>
            </a:r>
            <a:r>
              <a:rPr lang="zh-CN" altLang="en-US" sz="2800" b="1" dirty="0">
                <a:solidFill>
                  <a:schemeClr val="tx2"/>
                </a:solidFill>
              </a:rPr>
              <a:t>或 </a:t>
            </a:r>
            <a:r>
              <a:rPr lang="en-US" altLang="zh-CN" sz="2800" b="1" dirty="0">
                <a:solidFill>
                  <a:schemeClr val="tx2"/>
                </a:solidFill>
              </a:rPr>
              <a:t>R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{&lt;</a:t>
            </a:r>
            <a:r>
              <a:rPr lang="en-US" altLang="zh-CN" sz="2800" dirty="0" smtClean="0"/>
              <a:t>{</a:t>
            </a:r>
            <a:r>
              <a:rPr lang="en-US" altLang="zh-CN" sz="2800" b="1" dirty="0">
                <a:solidFill>
                  <a:schemeClr val="tx2"/>
                </a:solidFill>
              </a:rPr>
              <a:t>Ø},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a&gt;, </a:t>
            </a:r>
            <a:r>
              <a:rPr lang="en-US" altLang="zh-CN" sz="2800" b="1" dirty="0">
                <a:solidFill>
                  <a:schemeClr val="tx2"/>
                </a:solidFill>
              </a:rPr>
              <a:t>&lt;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a, &lt;a, a&gt;&gt;, </a:t>
            </a:r>
            <a:r>
              <a:rPr lang="en-US" altLang="zh-CN" sz="2800" dirty="0"/>
              <a:t>&lt;</a:t>
            </a:r>
            <a:r>
              <a:rPr lang="en-US" altLang="zh-CN" sz="2800" dirty="0" smtClean="0"/>
              <a:t>{</a:t>
            </a:r>
            <a:r>
              <a:rPr lang="en-US" altLang="zh-CN" sz="2800" b="1" dirty="0">
                <a:solidFill>
                  <a:schemeClr val="tx2"/>
                </a:solidFill>
              </a:rPr>
              <a:t>Ø},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&lt;a, a&gt;&gt; </a:t>
            </a:r>
            <a:r>
              <a:rPr lang="en-US" altLang="zh-CN" sz="2800" b="1" dirty="0">
                <a:solidFill>
                  <a:srgbClr val="FF0000"/>
                </a:solidFill>
              </a:rPr>
              <a:t>}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6008" y="0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4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63305829"/>
      </p:ext>
    </p:extLst>
  </p:cSld>
  <p:clrMapOvr>
    <a:masterClrMapping/>
  </p:clrMapOvr>
  <p:transition advTm="3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62957" y="187878"/>
            <a:ext cx="8126412" cy="2098122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是两个集合，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，⋯，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是集合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的划分，且对于任意的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∊ {1,2,…,n}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∩B≠Ø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，试证明：</a:t>
            </a:r>
          </a:p>
          <a:p>
            <a:pPr marL="804863" indent="-804863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∩B, 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∩B,⋯,A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∩B }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是集合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A∩B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的划分。</a:t>
            </a:r>
          </a:p>
        </p:txBody>
      </p:sp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2235471" y="2822872"/>
            <a:ext cx="6853158" cy="367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解</a:t>
            </a:r>
            <a:r>
              <a:rPr lang="en-US" altLang="zh-CN" sz="2400" b="1" dirty="0"/>
              <a:t>:   </a:t>
            </a:r>
            <a:r>
              <a:rPr lang="zh-CN" altLang="en-US" sz="2400" b="1" dirty="0"/>
              <a:t>由题意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知</a:t>
            </a:r>
          </a:p>
          <a:p>
            <a:r>
              <a:rPr lang="zh-CN" altLang="en-US" sz="2400" b="1" dirty="0"/>
              <a:t>	</a:t>
            </a:r>
            <a:r>
              <a:rPr lang="en-US" altLang="zh-CN" sz="2400" b="1" dirty="0" err="1"/>
              <a:t>A</a:t>
            </a:r>
            <a:r>
              <a:rPr lang="en-US" altLang="zh-CN" sz="2400" b="1" baseline="-25000" dirty="0" err="1"/>
              <a:t>i</a:t>
            </a:r>
            <a:r>
              <a:rPr lang="en-US" altLang="zh-CN" sz="2400" b="1" dirty="0" err="1"/>
              <a:t>≠Ø</a:t>
            </a:r>
            <a:endParaRPr lang="en-US" altLang="zh-CN" sz="2400" b="1" dirty="0"/>
          </a:p>
          <a:p>
            <a:r>
              <a:rPr lang="en-US" altLang="zh-CN" sz="2400" b="1" dirty="0"/>
              <a:t>	A</a:t>
            </a:r>
            <a:r>
              <a:rPr lang="en-US" altLang="zh-CN" sz="2400" b="1" baseline="-25000" dirty="0"/>
              <a:t>i</a:t>
            </a:r>
            <a:r>
              <a:rPr lang="el-GR" altLang="zh-CN" sz="2400" b="1" dirty="0"/>
              <a:t>∩</a:t>
            </a:r>
            <a:r>
              <a:rPr lang="en-US" altLang="zh-CN" sz="2400" b="1" dirty="0" err="1"/>
              <a:t>A</a:t>
            </a:r>
            <a:r>
              <a:rPr lang="en-US" altLang="zh-CN" sz="2400" b="1" baseline="-25000" dirty="0" err="1"/>
              <a:t>j</a:t>
            </a:r>
            <a:r>
              <a:rPr lang="en-US" altLang="zh-CN" sz="2400" b="1" dirty="0"/>
              <a:t>=Ø (</a:t>
            </a:r>
            <a:r>
              <a:rPr lang="en-US" altLang="zh-CN" sz="2400" b="1" dirty="0" err="1"/>
              <a:t>i≠j</a:t>
            </a:r>
            <a:r>
              <a:rPr lang="en-US" altLang="zh-CN" sz="2400" b="1" dirty="0"/>
              <a:t>)</a:t>
            </a:r>
          </a:p>
          <a:p>
            <a:pPr>
              <a:spcBef>
                <a:spcPct val="40000"/>
              </a:spcBef>
            </a:pPr>
            <a:r>
              <a:rPr lang="en-US" altLang="zh-CN" sz="2400" b="1" dirty="0"/>
              <a:t>	</a:t>
            </a:r>
            <a:r>
              <a:rPr lang="el-GR" altLang="zh-CN" sz="2400" b="1" dirty="0"/>
              <a:t>∪</a:t>
            </a:r>
            <a:r>
              <a:rPr lang="en-US" altLang="zh-CN" sz="2400" b="1" dirty="0"/>
              <a:t> A</a:t>
            </a:r>
            <a:r>
              <a:rPr lang="en-US" altLang="zh-CN" sz="2400" b="1" baseline="-25000" dirty="0"/>
              <a:t>i </a:t>
            </a:r>
            <a:r>
              <a:rPr lang="en-US" altLang="zh-CN" sz="2400" b="1" dirty="0"/>
              <a:t>= A</a:t>
            </a:r>
          </a:p>
          <a:p>
            <a:pPr>
              <a:spcBef>
                <a:spcPct val="40000"/>
              </a:spcBef>
            </a:pPr>
            <a:r>
              <a:rPr lang="en-US" altLang="zh-CN" sz="2400" b="1" dirty="0"/>
              <a:t>	</a:t>
            </a:r>
            <a:r>
              <a:rPr lang="zh-CN" altLang="en-US" sz="2400" b="1" dirty="0"/>
              <a:t>于是</a:t>
            </a:r>
          </a:p>
          <a:p>
            <a:r>
              <a:rPr lang="zh-CN" altLang="en-US" sz="2400" b="1" dirty="0"/>
              <a:t>	</a:t>
            </a:r>
            <a:r>
              <a:rPr lang="en-US" altLang="zh-CN" sz="2400" b="1" dirty="0"/>
              <a:t>(Ai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B) 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Aj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B)=(Ai</a:t>
            </a:r>
            <a:r>
              <a:rPr lang="el-GR" altLang="zh-CN" sz="2400" b="1" dirty="0"/>
              <a:t>∩</a:t>
            </a:r>
            <a:r>
              <a:rPr lang="en-US" altLang="zh-CN" sz="2400" b="1" dirty="0" err="1"/>
              <a:t>Aj</a:t>
            </a:r>
            <a:r>
              <a:rPr lang="en-US" altLang="zh-CN" sz="2400" b="1" dirty="0"/>
              <a:t>) 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B=Ø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B=Ø (</a:t>
            </a:r>
            <a:r>
              <a:rPr lang="en-US" altLang="zh-CN" sz="2400" b="1" dirty="0" err="1"/>
              <a:t>i≠j</a:t>
            </a:r>
            <a:r>
              <a:rPr lang="en-US" altLang="zh-CN" sz="2400" b="1" dirty="0"/>
              <a:t>)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/>
              <a:t>	</a:t>
            </a:r>
            <a:r>
              <a:rPr lang="el-GR" altLang="zh-CN" sz="2400" b="1" dirty="0"/>
              <a:t>∪</a:t>
            </a:r>
            <a:r>
              <a:rPr lang="en-US" altLang="zh-CN" sz="2400" b="1" dirty="0"/>
              <a:t> (Ai 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B)= (</a:t>
            </a:r>
            <a:r>
              <a:rPr lang="el-GR" altLang="zh-CN" sz="2400" b="1" dirty="0"/>
              <a:t>∪</a:t>
            </a:r>
            <a:r>
              <a:rPr lang="en-US" altLang="zh-CN" sz="2400" b="1" dirty="0"/>
              <a:t> Ai) 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B= A</a:t>
            </a:r>
            <a:r>
              <a:rPr lang="el-GR" altLang="zh-CN" sz="2400" b="1" dirty="0"/>
              <a:t>∩</a:t>
            </a:r>
            <a:r>
              <a:rPr lang="en-US" altLang="zh-CN" sz="2400" b="1" dirty="0"/>
              <a:t>B</a:t>
            </a:r>
          </a:p>
          <a:p>
            <a:pPr>
              <a:spcBef>
                <a:spcPct val="40000"/>
              </a:spcBef>
            </a:pPr>
            <a:r>
              <a:rPr lang="en-US" altLang="zh-CN" sz="2400" b="1" dirty="0"/>
              <a:t> </a:t>
            </a:r>
          </a:p>
        </p:txBody>
      </p:sp>
      <p:grpSp>
        <p:nvGrpSpPr>
          <p:cNvPr id="327684" name="Group 4"/>
          <p:cNvGrpSpPr>
            <a:grpSpLocks/>
          </p:cNvGrpSpPr>
          <p:nvPr/>
        </p:nvGrpSpPr>
        <p:grpSpPr bwMode="auto">
          <a:xfrm>
            <a:off x="3174430" y="3864166"/>
            <a:ext cx="2320925" cy="2235200"/>
            <a:chOff x="1247" y="1933"/>
            <a:chExt cx="1462" cy="1408"/>
          </a:xfrm>
        </p:grpSpPr>
        <p:grpSp>
          <p:nvGrpSpPr>
            <p:cNvPr id="327685" name="Group 5"/>
            <p:cNvGrpSpPr>
              <a:grpSpLocks/>
            </p:cNvGrpSpPr>
            <p:nvPr/>
          </p:nvGrpSpPr>
          <p:grpSpPr bwMode="auto">
            <a:xfrm>
              <a:off x="1247" y="1933"/>
              <a:ext cx="328" cy="1408"/>
              <a:chOff x="1247" y="1933"/>
              <a:chExt cx="328" cy="1408"/>
            </a:xfrm>
          </p:grpSpPr>
          <p:sp>
            <p:nvSpPr>
              <p:cNvPr id="327686" name="Text Box 6"/>
              <p:cNvSpPr txBox="1">
                <a:spLocks noChangeArrowheads="1"/>
              </p:cNvSpPr>
              <p:nvPr/>
            </p:nvSpPr>
            <p:spPr bwMode="auto">
              <a:xfrm>
                <a:off x="1253" y="2201"/>
                <a:ext cx="32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i=1</a:t>
                </a:r>
              </a:p>
            </p:txBody>
          </p:sp>
          <p:sp>
            <p:nvSpPr>
              <p:cNvPr id="327687" name="Text Box 7"/>
              <p:cNvSpPr txBox="1">
                <a:spLocks noChangeArrowheads="1"/>
              </p:cNvSpPr>
              <p:nvPr/>
            </p:nvSpPr>
            <p:spPr bwMode="auto">
              <a:xfrm>
                <a:off x="1292" y="193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n</a:t>
                </a:r>
              </a:p>
            </p:txBody>
          </p:sp>
          <p:sp>
            <p:nvSpPr>
              <p:cNvPr id="327688" name="Text Box 8"/>
              <p:cNvSpPr txBox="1">
                <a:spLocks noChangeArrowheads="1"/>
              </p:cNvSpPr>
              <p:nvPr/>
            </p:nvSpPr>
            <p:spPr bwMode="auto">
              <a:xfrm>
                <a:off x="1247" y="3108"/>
                <a:ext cx="32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i=1</a:t>
                </a:r>
              </a:p>
            </p:txBody>
          </p:sp>
          <p:sp>
            <p:nvSpPr>
              <p:cNvPr id="327689" name="Text Box 9"/>
              <p:cNvSpPr txBox="1">
                <a:spLocks noChangeArrowheads="1"/>
              </p:cNvSpPr>
              <p:nvPr/>
            </p:nvSpPr>
            <p:spPr bwMode="auto">
              <a:xfrm>
                <a:off x="1286" y="28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n</a:t>
                </a:r>
              </a:p>
            </p:txBody>
          </p:sp>
        </p:grpSp>
        <p:sp>
          <p:nvSpPr>
            <p:cNvPr id="327690" name="Text Box 10"/>
            <p:cNvSpPr txBox="1">
              <a:spLocks noChangeArrowheads="1"/>
            </p:cNvSpPr>
            <p:nvPr/>
          </p:nvSpPr>
          <p:spPr bwMode="auto">
            <a:xfrm>
              <a:off x="2387" y="3108"/>
              <a:ext cx="3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i=1</a:t>
              </a:r>
            </a:p>
          </p:txBody>
        </p:sp>
        <p:sp>
          <p:nvSpPr>
            <p:cNvPr id="327691" name="Text Box 11"/>
            <p:cNvSpPr txBox="1">
              <a:spLocks noChangeArrowheads="1"/>
            </p:cNvSpPr>
            <p:nvPr/>
          </p:nvSpPr>
          <p:spPr bwMode="auto">
            <a:xfrm>
              <a:off x="2426" y="284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</p:grpSp>
      <p:sp>
        <p:nvSpPr>
          <p:cNvPr id="327692" name="Rectangle 12"/>
          <p:cNvSpPr>
            <a:spLocks noChangeArrowheads="1"/>
          </p:cNvSpPr>
          <p:nvPr/>
        </p:nvSpPr>
        <p:spPr bwMode="auto">
          <a:xfrm>
            <a:off x="2887092" y="6239067"/>
            <a:ext cx="5549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又因为</a:t>
            </a:r>
            <a:r>
              <a:rPr lang="en-US" altLang="zh-CN" sz="2400" b="1"/>
              <a:t>A</a:t>
            </a:r>
            <a:r>
              <a:rPr lang="en-US" altLang="zh-CN" sz="2400" b="1" i="1"/>
              <a:t>i</a:t>
            </a:r>
            <a:r>
              <a:rPr lang="en-US" altLang="zh-CN" sz="2400" b="1"/>
              <a:t>∩B≠Ø (1≤</a:t>
            </a:r>
            <a:r>
              <a:rPr lang="en-US" altLang="zh-CN" sz="2400" b="1" i="1"/>
              <a:t>i</a:t>
            </a:r>
            <a:r>
              <a:rPr lang="en-US" altLang="zh-CN" sz="2400" b="1"/>
              <a:t>≤n)</a:t>
            </a:r>
            <a:r>
              <a:rPr lang="zh-CN" altLang="en-US" sz="2400" b="1"/>
              <a:t>，故结论得证。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48698" y="187878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5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4839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32904" y="3319272"/>
            <a:ext cx="3758184" cy="307657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0180" name="Rectangle 3"/>
          <p:cNvSpPr>
            <a:spLocks noGrp="1"/>
          </p:cNvSpPr>
          <p:nvPr>
            <p:ph type="body" idx="4294967295"/>
          </p:nvPr>
        </p:nvSpPr>
        <p:spPr>
          <a:xfrm>
            <a:off x="1182181" y="370271"/>
            <a:ext cx="8208707" cy="2610674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是三个非空集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的映射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的映射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。试证：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g∘f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的满射，则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的满射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。并给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出一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个例子，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说明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g∘f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是满射，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也是满射，但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不是满射</a:t>
            </a:r>
            <a:r>
              <a:rPr lang="zh-CN" altLang="en-US" b="1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116331" y="3149810"/>
            <a:ext cx="7364413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证</a:t>
            </a:r>
            <a:r>
              <a:rPr lang="en-US" altLang="zh-CN" sz="2800" b="1" dirty="0"/>
              <a:t>:  </a:t>
            </a:r>
            <a:r>
              <a:rPr lang="zh-CN" altLang="en-US" sz="2800" b="1" dirty="0"/>
              <a:t>由</a:t>
            </a:r>
            <a:r>
              <a:rPr lang="en-US" altLang="zh-CN" sz="2800" b="1" dirty="0" err="1"/>
              <a:t>g∘f</a:t>
            </a:r>
            <a:r>
              <a:rPr lang="zh-CN" altLang="en-US" sz="2800" b="1" dirty="0"/>
              <a:t>的满射性质，</a:t>
            </a:r>
          </a:p>
          <a:p>
            <a:pPr eaLnBrk="1" hangingPunct="1"/>
            <a:r>
              <a:rPr lang="zh-CN" altLang="en-US" sz="2800" b="1" dirty="0"/>
              <a:t>           对于任意的</a:t>
            </a:r>
            <a:r>
              <a:rPr lang="en-US" altLang="zh-CN" sz="2800" b="1" dirty="0" err="1"/>
              <a:t>z</a:t>
            </a:r>
            <a:r>
              <a:rPr lang="en-US" altLang="zh-CN" sz="2800" dirty="0" err="1"/>
              <a:t>∊</a:t>
            </a:r>
            <a:r>
              <a:rPr lang="en-US" altLang="zh-CN" sz="2800" b="1" dirty="0" err="1"/>
              <a:t>C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存在</a:t>
            </a:r>
            <a:r>
              <a:rPr lang="en-US" altLang="zh-CN" sz="2800" b="1" dirty="0" err="1"/>
              <a:t>x</a:t>
            </a:r>
            <a:r>
              <a:rPr lang="en-US" altLang="zh-CN" sz="2800" dirty="0" err="1"/>
              <a:t>∊</a:t>
            </a:r>
            <a:r>
              <a:rPr lang="en-US" altLang="zh-CN" sz="2800" b="1" dirty="0" err="1"/>
              <a:t>A</a:t>
            </a:r>
            <a:r>
              <a:rPr lang="en-US" altLang="zh-CN" sz="2800" b="1" dirty="0"/>
              <a:t>, </a:t>
            </a:r>
          </a:p>
          <a:p>
            <a:pPr eaLnBrk="1" hangingPunct="1"/>
            <a:r>
              <a:rPr lang="en-US" altLang="zh-CN" sz="2800" b="1" dirty="0"/>
              <a:t>            </a:t>
            </a:r>
            <a:r>
              <a:rPr lang="zh-CN" altLang="en-US" sz="2800" b="1" dirty="0"/>
              <a:t>使得      </a:t>
            </a:r>
            <a:r>
              <a:rPr lang="en-US" altLang="zh-CN" sz="2800" b="1" dirty="0" err="1"/>
              <a:t>g∘f</a:t>
            </a:r>
            <a:r>
              <a:rPr lang="en-US" altLang="zh-CN" sz="2800" b="1" dirty="0"/>
              <a:t>(x)=z</a:t>
            </a:r>
            <a:r>
              <a:rPr lang="zh-CN" altLang="en-US" sz="2800" b="1" dirty="0"/>
              <a:t>， </a:t>
            </a:r>
          </a:p>
          <a:p>
            <a:pPr eaLnBrk="1" hangingPunct="1"/>
            <a:r>
              <a:rPr lang="zh-CN" altLang="en-US" sz="2800" b="1" dirty="0"/>
              <a:t>            即有      </a:t>
            </a:r>
            <a:r>
              <a:rPr lang="en-US" altLang="zh-CN" sz="2800" b="1" dirty="0"/>
              <a:t>g(f(x))=z.</a:t>
            </a:r>
          </a:p>
          <a:p>
            <a:pPr eaLnBrk="1" hangingPunct="1"/>
            <a:r>
              <a:rPr lang="en-US" altLang="zh-CN" sz="2800" b="1" dirty="0"/>
              <a:t>            </a:t>
            </a:r>
            <a:r>
              <a:rPr lang="zh-CN" altLang="en-US" sz="2800" b="1" dirty="0"/>
              <a:t>记</a:t>
            </a:r>
            <a:r>
              <a:rPr lang="en-US" altLang="zh-CN" sz="2800" b="1" dirty="0"/>
              <a:t>y=f(x), </a:t>
            </a:r>
          </a:p>
          <a:p>
            <a:pPr eaLnBrk="1" hangingPunct="1"/>
            <a:r>
              <a:rPr lang="zh-CN" altLang="en-US" sz="2800" b="1" dirty="0"/>
              <a:t>            即有        </a:t>
            </a:r>
            <a:r>
              <a:rPr lang="en-US" altLang="zh-CN" sz="2800" b="1" dirty="0"/>
              <a:t>g(y)=z</a:t>
            </a:r>
          </a:p>
          <a:p>
            <a:pPr eaLnBrk="1" hangingPunct="1"/>
            <a:r>
              <a:rPr lang="en-US" altLang="zh-CN" sz="2800" b="1" dirty="0"/>
              <a:t>            </a:t>
            </a:r>
            <a:r>
              <a:rPr lang="zh-CN" altLang="en-US" sz="2800" b="1" dirty="0"/>
              <a:t>即证得</a:t>
            </a:r>
            <a:r>
              <a:rPr lang="en-US" altLang="zh-CN" sz="2800" b="1" dirty="0"/>
              <a:t>g</a:t>
            </a:r>
            <a:r>
              <a:rPr lang="zh-CN" altLang="en-US" sz="2800" b="1" dirty="0"/>
              <a:t>满射。</a:t>
            </a:r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7525640" y="4198240"/>
            <a:ext cx="136711" cy="1682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9041610" y="4198240"/>
            <a:ext cx="136711" cy="168201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9041610" y="4863731"/>
            <a:ext cx="136711" cy="168201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7662351" y="4362783"/>
            <a:ext cx="13792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Oval 14"/>
          <p:cNvSpPr>
            <a:spLocks noChangeArrowheads="1"/>
          </p:cNvSpPr>
          <p:nvPr/>
        </p:nvSpPr>
        <p:spPr bwMode="auto">
          <a:xfrm>
            <a:off x="10557579" y="4198240"/>
            <a:ext cx="136711" cy="168201"/>
          </a:xfrm>
          <a:prstGeom prst="ellipse">
            <a:avLst/>
          </a:prstGeom>
          <a:solidFill>
            <a:srgbClr val="00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9178320" y="4362783"/>
            <a:ext cx="13792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V="1">
            <a:off x="9178320" y="4366429"/>
            <a:ext cx="1379259" cy="665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7762604" y="6008227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f</a:t>
            </a: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9545919" y="602651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g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6229" y="370271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7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48673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76147" y="229425"/>
            <a:ext cx="8054975" cy="1604316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是一个集合。试问当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是什么样的集合时会存在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的映射，是单射，而不是满射，并举一个例子。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2260601" y="2133601"/>
            <a:ext cx="8228013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15963" indent="-7159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解： 对于</a:t>
            </a:r>
            <a:r>
              <a:rPr lang="zh-CN" altLang="en-US" sz="2400" b="1" dirty="0"/>
              <a:t>一个有限集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，如果存在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的映射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，是单射，而不是满射，则：由单射性，</a:t>
            </a:r>
            <a:r>
              <a:rPr lang="en-US" altLang="zh-CN" sz="2400" b="1" dirty="0"/>
              <a:t>|A|=|f(A)|</a:t>
            </a:r>
            <a:r>
              <a:rPr lang="zh-CN" altLang="en-US" sz="2400" b="1" dirty="0"/>
              <a:t>；由非满射性，</a:t>
            </a:r>
            <a:r>
              <a:rPr lang="en-US" altLang="zh-CN" sz="2400" b="1" dirty="0"/>
              <a:t>|f(A)|&lt;|A|</a:t>
            </a:r>
            <a:r>
              <a:rPr lang="zh-CN" altLang="en-US" sz="2400" b="1" dirty="0"/>
              <a:t>。矛盾！</a:t>
            </a:r>
          </a:p>
          <a:p>
            <a:pPr eaLnBrk="1" hangingPunct="1"/>
            <a:r>
              <a:rPr lang="zh-CN" altLang="en-US" b="1" dirty="0">
                <a:solidFill>
                  <a:srgbClr val="333300"/>
                </a:solidFill>
              </a:rPr>
              <a:t>	</a:t>
            </a:r>
          </a:p>
          <a:p>
            <a:pPr eaLnBrk="1" hangingPunct="1"/>
            <a:r>
              <a:rPr lang="zh-CN" altLang="en-US" b="1" dirty="0">
                <a:solidFill>
                  <a:srgbClr val="333300"/>
                </a:solidFill>
              </a:rPr>
              <a:t>	</a:t>
            </a:r>
            <a:r>
              <a:rPr lang="zh-CN" altLang="en-US" sz="2400" dirty="0">
                <a:solidFill>
                  <a:srgbClr val="333300"/>
                </a:solidFill>
              </a:rPr>
              <a:t>当</a:t>
            </a:r>
            <a:r>
              <a:rPr lang="en-US" altLang="zh-CN" sz="2400" dirty="0">
                <a:solidFill>
                  <a:srgbClr val="333300"/>
                </a:solidFill>
              </a:rPr>
              <a:t>A</a:t>
            </a:r>
            <a:r>
              <a:rPr lang="zh-CN" altLang="en-US" sz="2400" dirty="0">
                <a:solidFill>
                  <a:srgbClr val="333300"/>
                </a:solidFill>
              </a:rPr>
              <a:t>是一个无限集时，存在</a:t>
            </a:r>
            <a:r>
              <a:rPr lang="en-US" altLang="zh-CN" sz="2400" b="1" dirty="0">
                <a:solidFill>
                  <a:srgbClr val="333300"/>
                </a:solidFill>
              </a:rPr>
              <a:t>A</a:t>
            </a:r>
            <a:r>
              <a:rPr lang="zh-CN" altLang="en-US" sz="2400" b="1" dirty="0">
                <a:solidFill>
                  <a:srgbClr val="333300"/>
                </a:solidFill>
              </a:rPr>
              <a:t>到</a:t>
            </a:r>
            <a:r>
              <a:rPr lang="en-US" altLang="zh-CN" sz="2400" b="1" dirty="0">
                <a:solidFill>
                  <a:srgbClr val="333300"/>
                </a:solidFill>
              </a:rPr>
              <a:t>A</a:t>
            </a:r>
            <a:r>
              <a:rPr lang="zh-CN" altLang="en-US" sz="2400" b="1" dirty="0">
                <a:solidFill>
                  <a:srgbClr val="333300"/>
                </a:solidFill>
              </a:rPr>
              <a:t>的映射，是单射，而不是满射。 </a:t>
            </a:r>
            <a:r>
              <a:rPr lang="zh-CN" altLang="en-US" sz="2400" dirty="0">
                <a:solidFill>
                  <a:srgbClr val="333300"/>
                </a:solidFill>
              </a:rPr>
              <a:t>下面是两个例子：</a:t>
            </a:r>
            <a:r>
              <a:rPr lang="zh-CN" altLang="en-US" sz="2400" b="1" dirty="0">
                <a:solidFill>
                  <a:srgbClr val="333300"/>
                </a:solidFill>
              </a:rPr>
              <a:t>         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71813" y="4525964"/>
            <a:ext cx="741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4988" indent="-534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lang="en-US" altLang="zh-CN" sz="2400" b="1"/>
              <a:t>N</a:t>
            </a:r>
            <a:r>
              <a:rPr lang="zh-CN" altLang="en-US" sz="2400" b="1"/>
              <a:t>是自然数集，</a:t>
            </a:r>
            <a:r>
              <a:rPr lang="en-US" altLang="zh-CN" sz="2400" b="1"/>
              <a:t>f: N</a:t>
            </a:r>
            <a:r>
              <a:rPr lang="en-US" altLang="zh-CN" sz="2400"/>
              <a:t>→</a:t>
            </a:r>
            <a:r>
              <a:rPr lang="en-US" altLang="zh-CN" sz="2400" b="1"/>
              <a:t>N</a:t>
            </a:r>
            <a:r>
              <a:rPr lang="zh-CN" altLang="en-US" sz="2400" b="1"/>
              <a:t>，对于 </a:t>
            </a:r>
            <a:r>
              <a:rPr lang="zh-CN" altLang="el-GR" sz="2400"/>
              <a:t>∀</a:t>
            </a:r>
            <a:r>
              <a:rPr lang="en-US" altLang="zh-CN" sz="2400"/>
              <a:t>x∊N</a:t>
            </a:r>
            <a:r>
              <a:rPr lang="zh-CN" altLang="en-US" sz="2400"/>
              <a:t>，</a:t>
            </a:r>
            <a:r>
              <a:rPr lang="en-US" altLang="zh-CN" sz="2400" b="1"/>
              <a:t>f(x)=2x</a:t>
            </a:r>
            <a:r>
              <a:rPr lang="zh-CN" altLang="en-US" sz="2400" b="1"/>
              <a:t>。</a:t>
            </a:r>
          </a:p>
          <a:p>
            <a:pPr eaLnBrk="1" hangingPunct="1">
              <a:buFontTx/>
              <a:buAutoNum type="circleNumDbPlain"/>
            </a:pPr>
            <a:endParaRPr lang="zh-CN" altLang="en-US" sz="2400" b="1"/>
          </a:p>
          <a:p>
            <a:pPr eaLnBrk="1" hangingPunct="1">
              <a:buFontTx/>
              <a:buAutoNum type="circleNumDbPlain"/>
            </a:pPr>
            <a:r>
              <a:rPr lang="en-US" altLang="zh-CN" sz="2400" b="1">
                <a:solidFill>
                  <a:srgbClr val="333300"/>
                </a:solidFill>
              </a:rPr>
              <a:t>R</a:t>
            </a:r>
            <a:r>
              <a:rPr lang="zh-CN" altLang="en-US" sz="2400" b="1">
                <a:solidFill>
                  <a:srgbClr val="333300"/>
                </a:solidFill>
              </a:rPr>
              <a:t>是实数集，</a:t>
            </a:r>
            <a:r>
              <a:rPr lang="en-US" altLang="zh-CN" sz="2400" b="1">
                <a:solidFill>
                  <a:srgbClr val="333300"/>
                </a:solidFill>
              </a:rPr>
              <a:t>f: R</a:t>
            </a:r>
            <a:r>
              <a:rPr lang="en-US" altLang="zh-CN" sz="2400">
                <a:solidFill>
                  <a:srgbClr val="333300"/>
                </a:solidFill>
              </a:rPr>
              <a:t>→R,</a:t>
            </a:r>
            <a:r>
              <a:rPr lang="en-US" altLang="zh-CN">
                <a:solidFill>
                  <a:srgbClr val="333300"/>
                </a:solidFill>
              </a:rPr>
              <a:t> </a:t>
            </a:r>
            <a:endParaRPr lang="en-US" altLang="zh-CN" b="1">
              <a:solidFill>
                <a:srgbClr val="333300"/>
              </a:solidFill>
            </a:endParaRPr>
          </a:p>
        </p:txBody>
      </p:sp>
      <p:grpSp>
        <p:nvGrpSpPr>
          <p:cNvPr id="3079" name="Group 6"/>
          <p:cNvGrpSpPr>
            <a:grpSpLocks/>
          </p:cNvGrpSpPr>
          <p:nvPr/>
        </p:nvGrpSpPr>
        <p:grpSpPr bwMode="auto">
          <a:xfrm>
            <a:off x="6911976" y="5229228"/>
            <a:ext cx="2714626" cy="984251"/>
            <a:chOff x="3134" y="2931"/>
            <a:chExt cx="1710" cy="620"/>
          </a:xfrm>
        </p:grpSpPr>
        <p:sp>
          <p:nvSpPr>
            <p:cNvPr id="3080" name="Text Box 7"/>
            <p:cNvSpPr txBox="1">
              <a:spLocks noChangeArrowheads="1"/>
            </p:cNvSpPr>
            <p:nvPr/>
          </p:nvSpPr>
          <p:spPr bwMode="auto">
            <a:xfrm>
              <a:off x="3134" y="3145"/>
              <a:ext cx="5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333300"/>
                  </a:solidFill>
                </a:rPr>
                <a:t>f(x)=</a:t>
              </a:r>
            </a:p>
          </p:txBody>
        </p:sp>
        <p:sp>
          <p:nvSpPr>
            <p:cNvPr id="3081" name="AutoShape 8"/>
            <p:cNvSpPr>
              <a:spLocks/>
            </p:cNvSpPr>
            <p:nvPr/>
          </p:nvSpPr>
          <p:spPr bwMode="auto">
            <a:xfrm>
              <a:off x="3601" y="3088"/>
              <a:ext cx="90" cy="363"/>
            </a:xfrm>
            <a:prstGeom prst="leftBrace">
              <a:avLst>
                <a:gd name="adj1" fmla="val 3361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82" name="Text Box 9"/>
            <p:cNvSpPr txBox="1">
              <a:spLocks noChangeArrowheads="1"/>
            </p:cNvSpPr>
            <p:nvPr/>
          </p:nvSpPr>
          <p:spPr bwMode="auto">
            <a:xfrm>
              <a:off x="3666" y="2931"/>
              <a:ext cx="11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00"/>
                  </a:solidFill>
                </a:rPr>
                <a:t>x,      x∊R-N</a:t>
              </a:r>
              <a:r>
                <a:rPr lang="en-US" altLang="zh-CN">
                  <a:solidFill>
                    <a:srgbClr val="333300"/>
                  </a:solidFill>
                </a:rPr>
                <a:t> </a:t>
              </a:r>
            </a:p>
          </p:txBody>
        </p:sp>
        <p:sp>
          <p:nvSpPr>
            <p:cNvPr id="3083" name="Text Box 10"/>
            <p:cNvSpPr txBox="1">
              <a:spLocks noChangeArrowheads="1"/>
            </p:cNvSpPr>
            <p:nvPr/>
          </p:nvSpPr>
          <p:spPr bwMode="auto">
            <a:xfrm>
              <a:off x="3684" y="3260"/>
              <a:ext cx="9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00"/>
                  </a:solidFill>
                </a:rPr>
                <a:t>x+1,  x∊N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924233" y="229425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8.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90477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3388" y="268649"/>
            <a:ext cx="8810760" cy="145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的元素个数为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，试考察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上的满足下表中条件的二元关系，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填表其数目。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70556"/>
              </p:ext>
            </p:extLst>
          </p:nvPr>
        </p:nvGraphicFramePr>
        <p:xfrm>
          <a:off x="1880558" y="1512216"/>
          <a:ext cx="8456420" cy="48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2521">
                  <a:extLst>
                    <a:ext uri="{9D8B030D-6E8A-4147-A177-3AD203B41FA5}">
                      <a16:colId xmlns:a16="http://schemas.microsoft.com/office/drawing/2014/main" val="1985156462"/>
                    </a:ext>
                  </a:extLst>
                </a:gridCol>
                <a:gridCol w="4073899">
                  <a:extLst>
                    <a:ext uri="{9D8B030D-6E8A-4147-A177-3AD203B41FA5}">
                      <a16:colId xmlns:a16="http://schemas.microsoft.com/office/drawing/2014/main" val="52536868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条件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满足条件的二元关系的数目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372518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上的二元关系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2^9=512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11454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等价</a:t>
                      </a:r>
                      <a:r>
                        <a:rPr lang="zh-CN" altLang="en-US" sz="2400" dirty="0" smtClean="0"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03535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全序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20758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偏序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18917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自反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3496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对称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27606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反对称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03189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02891" y="268649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6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32391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3388" y="268649"/>
            <a:ext cx="881076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设</a:t>
            </a:r>
            <a:r>
              <a:rPr lang="zh-CN" altLang="en-US" sz="3200" dirty="0"/>
              <a:t>集合</a:t>
            </a:r>
            <a:r>
              <a:rPr lang="en-US" altLang="zh-CN" sz="3200" dirty="0"/>
              <a:t>A</a:t>
            </a:r>
            <a:r>
              <a:rPr lang="zh-CN" altLang="en-US" sz="3200" dirty="0"/>
              <a:t>的元素个数为</a:t>
            </a:r>
            <a:r>
              <a:rPr lang="en-US" altLang="zh-CN" sz="3200" dirty="0"/>
              <a:t>3</a:t>
            </a:r>
            <a:r>
              <a:rPr lang="zh-CN" altLang="en-US" sz="3200" dirty="0"/>
              <a:t>，试考察</a:t>
            </a:r>
            <a:r>
              <a:rPr lang="en-US" altLang="zh-CN" sz="3200" dirty="0"/>
              <a:t>A</a:t>
            </a:r>
            <a:r>
              <a:rPr lang="zh-CN" altLang="en-US" sz="3200" dirty="0"/>
              <a:t>上的满足下表中条件的二元关系，</a:t>
            </a:r>
            <a:r>
              <a:rPr lang="zh-CN" altLang="en-US" sz="3200" dirty="0" smtClean="0"/>
              <a:t>填表其数目。</a:t>
            </a:r>
            <a:endParaRPr lang="en-US" altLang="zh-CN" sz="3200" dirty="0"/>
          </a:p>
          <a:p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49868"/>
              </p:ext>
            </p:extLst>
          </p:nvPr>
        </p:nvGraphicFramePr>
        <p:xfrm>
          <a:off x="1880558" y="1512216"/>
          <a:ext cx="8456420" cy="48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2521">
                  <a:extLst>
                    <a:ext uri="{9D8B030D-6E8A-4147-A177-3AD203B41FA5}">
                      <a16:colId xmlns:a16="http://schemas.microsoft.com/office/drawing/2014/main" val="1985156462"/>
                    </a:ext>
                  </a:extLst>
                </a:gridCol>
                <a:gridCol w="4073899">
                  <a:extLst>
                    <a:ext uri="{9D8B030D-6E8A-4147-A177-3AD203B41FA5}">
                      <a16:colId xmlns:a16="http://schemas.microsoft.com/office/drawing/2014/main" val="52536868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条件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满足条件的二元关系的数目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372518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上的二元关系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2^9=512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11454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等价</a:t>
                      </a:r>
                      <a:r>
                        <a:rPr lang="zh-CN" altLang="en-US" sz="2400" dirty="0" smtClean="0"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1+3+1=5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03535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全序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3!=6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20758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偏序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1+3+3+3*2!+3!=19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18917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自反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2^6=64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3496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上的</a:t>
                      </a: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</a:rPr>
                        <a:t>对称</a:t>
                      </a:r>
                      <a:r>
                        <a:rPr lang="zh-CN" altLang="en-US" sz="2400" dirty="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2^3</a:t>
                      </a:r>
                      <a:r>
                        <a:rPr lang="en-US" altLang="zh-CN" sz="2400" dirty="0" smtClean="0">
                          <a:latin typeface="Georgia" panose="02040502050405020303" pitchFamily="18" charset="0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zh-CN" sz="2400" dirty="0" smtClean="0"/>
                        <a:t>2^3=64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27606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A</a:t>
                      </a:r>
                      <a:r>
                        <a:rPr lang="zh-CN" altLang="en-US" sz="2400" dirty="0" smtClean="0"/>
                        <a:t>上</a:t>
                      </a:r>
                      <a:r>
                        <a:rPr lang="zh-CN" altLang="en-US" sz="2400" smtClean="0"/>
                        <a:t>的</a:t>
                      </a:r>
                      <a:r>
                        <a:rPr lang="zh-CN" altLang="en-US" sz="2400" smtClean="0">
                          <a:solidFill>
                            <a:srgbClr val="FF0000"/>
                          </a:solidFill>
                        </a:rPr>
                        <a:t>反对称</a:t>
                      </a:r>
                      <a:r>
                        <a:rPr lang="zh-CN" altLang="en-US" sz="2400" smtClean="0"/>
                        <a:t>关系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2^3</a:t>
                      </a:r>
                      <a:r>
                        <a:rPr lang="en-US" altLang="zh-CN" sz="2400" dirty="0" smtClean="0">
                          <a:latin typeface="Georgia" panose="02040502050405020303" pitchFamily="18" charset="0"/>
                          <a:sym typeface="Wingdings" panose="05000000000000000000" pitchFamily="2" charset="2"/>
                        </a:rPr>
                        <a:t>  </a:t>
                      </a:r>
                      <a:r>
                        <a:rPr lang="en-US" altLang="zh-CN" sz="2400" dirty="0" smtClean="0"/>
                        <a:t>3^3=216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03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40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229600" cy="19438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en-US" sz="3200" dirty="0">
                <a:solidFill>
                  <a:srgbClr val="FF0000"/>
                </a:solidFill>
              </a:rPr>
              <a:t>）等价关系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zh-CN" altLang="en-US" sz="3200" dirty="0">
                <a:solidFill>
                  <a:srgbClr val="FF0000"/>
                </a:solidFill>
              </a:rPr>
              <a:t>划分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3</a:t>
            </a:r>
            <a:r>
              <a:rPr lang="zh-CN" altLang="en-US" sz="3200" dirty="0"/>
              <a:t>个元素的划分有</a:t>
            </a:r>
            <a:r>
              <a:rPr lang="en-US" altLang="zh-CN" sz="3200" dirty="0"/>
              <a:t>1+3+1=5</a:t>
            </a:r>
            <a:r>
              <a:rPr lang="zh-CN" altLang="en-US" sz="3200" dirty="0"/>
              <a:t>种。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423336" y="2636913"/>
            <a:ext cx="1512888" cy="1584325"/>
            <a:chOff x="2381" y="1389"/>
            <a:chExt cx="953" cy="998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381" y="1389"/>
              <a:ext cx="953" cy="99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836" y="175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653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016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731" y="157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517" y="20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1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049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3769161" y="2636913"/>
            <a:ext cx="1512888" cy="1584325"/>
            <a:chOff x="2381" y="1389"/>
            <a:chExt cx="953" cy="99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2381" y="1389"/>
              <a:ext cx="953" cy="99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836" y="175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653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3016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731" y="157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517" y="20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1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3049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</a:p>
          </p:txBody>
        </p:sp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2111811" y="2636913"/>
            <a:ext cx="1512888" cy="1584325"/>
            <a:chOff x="2381" y="1389"/>
            <a:chExt cx="953" cy="998"/>
          </a:xfrm>
        </p:grpSpPr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381" y="1389"/>
              <a:ext cx="953" cy="99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836" y="175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2653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3016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2731" y="157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2517" y="20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1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3049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7080686" y="2636913"/>
            <a:ext cx="1512888" cy="1584325"/>
            <a:chOff x="2381" y="1389"/>
            <a:chExt cx="953" cy="998"/>
          </a:xfrm>
        </p:grpSpPr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2381" y="1389"/>
              <a:ext cx="953" cy="99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2836" y="175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2653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3016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2731" y="157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2517" y="20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1</a:t>
              </a:r>
            </a:p>
          </p:txBody>
        </p:sp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3049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8736450" y="2636913"/>
            <a:ext cx="1512887" cy="1584325"/>
            <a:chOff x="2381" y="1389"/>
            <a:chExt cx="953" cy="998"/>
          </a:xfrm>
        </p:grpSpPr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2381" y="1389"/>
              <a:ext cx="953" cy="99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2836" y="175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2653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3016" y="202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33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2731" y="157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2517" y="20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1</a:t>
              </a:r>
            </a:p>
          </p:txBody>
        </p:sp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3049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</a:p>
          </p:txBody>
        </p:sp>
      </p:grpSp>
      <p:sp>
        <p:nvSpPr>
          <p:cNvPr id="45" name="Line 44"/>
          <p:cNvSpPr>
            <a:spLocks noChangeShapeType="1"/>
          </p:cNvSpPr>
          <p:nvPr/>
        </p:nvSpPr>
        <p:spPr bwMode="auto">
          <a:xfrm>
            <a:off x="3985062" y="2852813"/>
            <a:ext cx="792163" cy="129698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>
            <a:off x="5424924" y="3429074"/>
            <a:ext cx="1511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H="1">
            <a:off x="7585512" y="2852813"/>
            <a:ext cx="792163" cy="129698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V="1">
            <a:off x="9528612" y="3068712"/>
            <a:ext cx="576263" cy="431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H="1" flipV="1">
            <a:off x="8809475" y="3141738"/>
            <a:ext cx="719137" cy="3587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>
            <a:off x="9528611" y="3500513"/>
            <a:ext cx="0" cy="64928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1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229600" cy="19438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2</a:t>
            </a:r>
            <a:r>
              <a:rPr lang="zh-CN" altLang="en-US" sz="3200" dirty="0">
                <a:solidFill>
                  <a:srgbClr val="FF0000"/>
                </a:solidFill>
              </a:rPr>
              <a:t>）全序关系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zh-CN" altLang="en-US" sz="3200" dirty="0">
                <a:solidFill>
                  <a:srgbClr val="FF0000"/>
                </a:solidFill>
              </a:rPr>
              <a:t>链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3</a:t>
            </a:r>
            <a:r>
              <a:rPr lang="zh-CN" altLang="en-US" sz="3200" dirty="0"/>
              <a:t>！</a:t>
            </a:r>
            <a:r>
              <a:rPr lang="en-US" altLang="zh-CN" sz="3200" dirty="0"/>
              <a:t>=6</a:t>
            </a:r>
            <a:r>
              <a:rPr lang="zh-CN" altLang="en-US" sz="3200" dirty="0"/>
              <a:t>种。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2" name="Oval 6"/>
          <p:cNvSpPr>
            <a:spLocks noChangeArrowheads="1"/>
          </p:cNvSpPr>
          <p:nvPr/>
        </p:nvSpPr>
        <p:spPr bwMode="auto">
          <a:xfrm>
            <a:off x="8896351" y="342322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Oval 7"/>
          <p:cNvSpPr>
            <a:spLocks noChangeArrowheads="1"/>
          </p:cNvSpPr>
          <p:nvPr/>
        </p:nvSpPr>
        <p:spPr bwMode="auto">
          <a:xfrm>
            <a:off x="8945563" y="458080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Oval 8"/>
          <p:cNvSpPr>
            <a:spLocks noChangeArrowheads="1"/>
          </p:cNvSpPr>
          <p:nvPr/>
        </p:nvSpPr>
        <p:spPr bwMode="auto">
          <a:xfrm>
            <a:off x="8909761" y="221613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Text Box 9"/>
          <p:cNvSpPr txBox="1">
            <a:spLocks noChangeArrowheads="1"/>
          </p:cNvSpPr>
          <p:nvPr/>
        </p:nvSpPr>
        <p:spPr bwMode="auto">
          <a:xfrm>
            <a:off x="8575923" y="323801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2</a:t>
            </a:r>
          </a:p>
        </p:txBody>
      </p:sp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8786996" y="46542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57" name="Text Box 11"/>
          <p:cNvSpPr txBox="1">
            <a:spLocks noChangeArrowheads="1"/>
          </p:cNvSpPr>
          <p:nvPr/>
        </p:nvSpPr>
        <p:spPr bwMode="auto">
          <a:xfrm>
            <a:off x="8790386" y="18448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>
            <a:off x="8945687" y="3429075"/>
            <a:ext cx="12700" cy="1191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44"/>
          <p:cNvSpPr>
            <a:spLocks noChangeShapeType="1"/>
          </p:cNvSpPr>
          <p:nvPr/>
        </p:nvSpPr>
        <p:spPr bwMode="auto">
          <a:xfrm>
            <a:off x="8925720" y="2212752"/>
            <a:ext cx="12700" cy="1191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658034" y="514796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057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32304" y="1844824"/>
            <a:ext cx="1152128" cy="331339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959972" y="3117596"/>
            <a:ext cx="1296268" cy="204062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5332124" y="3107337"/>
            <a:ext cx="1296268" cy="204062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663162" y="3107337"/>
            <a:ext cx="1296268" cy="204062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775396" y="3107338"/>
            <a:ext cx="1296268" cy="204062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641084" cy="19438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3</a:t>
            </a:r>
            <a:r>
              <a:rPr lang="zh-CN" altLang="en-US" sz="3200" dirty="0">
                <a:solidFill>
                  <a:srgbClr val="FF0000"/>
                </a:solidFill>
              </a:rPr>
              <a:t>）偏序关系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zh-CN" altLang="en-US" sz="3200" dirty="0">
                <a:solidFill>
                  <a:srgbClr val="FF0000"/>
                </a:solidFill>
              </a:rPr>
              <a:t>哈斯图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3</a:t>
            </a:r>
            <a:r>
              <a:rPr lang="zh-CN" altLang="en-US" sz="3200" dirty="0"/>
              <a:t>个元素的哈斯图有</a:t>
            </a:r>
            <a:r>
              <a:rPr lang="en-US" altLang="zh-CN" sz="3200" dirty="0"/>
              <a:t>1+3+3+6+6=19</a:t>
            </a:r>
            <a:r>
              <a:rPr lang="zh-CN" altLang="en-US" sz="3200" dirty="0"/>
              <a:t>种。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902648" y="342322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5462479" y="458080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6431399" y="4581698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735960" y="313429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303912" y="46542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312024" y="464646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2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2374702" y="457445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2014538" y="457445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2747184" y="457445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272521" y="464646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1919536" y="464646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662734" y="463979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H="1">
            <a:off x="5531764" y="3501332"/>
            <a:ext cx="352469" cy="109849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Oval 6"/>
          <p:cNvSpPr>
            <a:spLocks noChangeArrowheads="1"/>
          </p:cNvSpPr>
          <p:nvPr/>
        </p:nvSpPr>
        <p:spPr bwMode="auto">
          <a:xfrm>
            <a:off x="9328399" y="342322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Oval 7"/>
          <p:cNvSpPr>
            <a:spLocks noChangeArrowheads="1"/>
          </p:cNvSpPr>
          <p:nvPr/>
        </p:nvSpPr>
        <p:spPr bwMode="auto">
          <a:xfrm>
            <a:off x="9377611" y="458080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Oval 8"/>
          <p:cNvSpPr>
            <a:spLocks noChangeArrowheads="1"/>
          </p:cNvSpPr>
          <p:nvPr/>
        </p:nvSpPr>
        <p:spPr bwMode="auto">
          <a:xfrm>
            <a:off x="9341809" y="221613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Text Box 9"/>
          <p:cNvSpPr txBox="1">
            <a:spLocks noChangeArrowheads="1"/>
          </p:cNvSpPr>
          <p:nvPr/>
        </p:nvSpPr>
        <p:spPr bwMode="auto">
          <a:xfrm>
            <a:off x="9007971" y="323801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2</a:t>
            </a:r>
          </a:p>
        </p:txBody>
      </p:sp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9219044" y="46542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57" name="Text Box 11"/>
          <p:cNvSpPr txBox="1">
            <a:spLocks noChangeArrowheads="1"/>
          </p:cNvSpPr>
          <p:nvPr/>
        </p:nvSpPr>
        <p:spPr bwMode="auto">
          <a:xfrm>
            <a:off x="9222434" y="18448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>
            <a:off x="9377735" y="3429075"/>
            <a:ext cx="12700" cy="1191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44"/>
          <p:cNvSpPr>
            <a:spLocks noChangeShapeType="1"/>
          </p:cNvSpPr>
          <p:nvPr/>
        </p:nvSpPr>
        <p:spPr bwMode="auto">
          <a:xfrm>
            <a:off x="9357768" y="2212752"/>
            <a:ext cx="12700" cy="1191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9090082" y="514796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全序</a:t>
            </a:r>
            <a:endParaRPr lang="zh-CN" altLang="en-US" dirty="0"/>
          </a:p>
        </p:txBody>
      </p:sp>
      <p:sp>
        <p:nvSpPr>
          <p:cNvPr id="25" name="Oval 6"/>
          <p:cNvSpPr>
            <a:spLocks noChangeArrowheads="1"/>
          </p:cNvSpPr>
          <p:nvPr/>
        </p:nvSpPr>
        <p:spPr bwMode="auto">
          <a:xfrm>
            <a:off x="3814416" y="3429893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Oval 7"/>
          <p:cNvSpPr>
            <a:spLocks noChangeArrowheads="1"/>
          </p:cNvSpPr>
          <p:nvPr/>
        </p:nvSpPr>
        <p:spPr bwMode="auto">
          <a:xfrm>
            <a:off x="4624979" y="3421201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" name="Oval 8"/>
          <p:cNvSpPr>
            <a:spLocks noChangeArrowheads="1"/>
          </p:cNvSpPr>
          <p:nvPr/>
        </p:nvSpPr>
        <p:spPr bwMode="auto">
          <a:xfrm>
            <a:off x="4271159" y="4588371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3647728" y="31409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4612386" y="31073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4151784" y="465313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31" name="Line 44"/>
          <p:cNvSpPr>
            <a:spLocks noChangeShapeType="1"/>
          </p:cNvSpPr>
          <p:nvPr/>
        </p:nvSpPr>
        <p:spPr bwMode="auto">
          <a:xfrm>
            <a:off x="3885855" y="3507681"/>
            <a:ext cx="446325" cy="11125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44"/>
          <p:cNvSpPr>
            <a:spLocks noChangeShapeType="1"/>
          </p:cNvSpPr>
          <p:nvPr/>
        </p:nvSpPr>
        <p:spPr bwMode="auto">
          <a:xfrm flipH="1">
            <a:off x="4323661" y="3443757"/>
            <a:ext cx="308967" cy="117649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6"/>
          <p:cNvSpPr>
            <a:spLocks noChangeArrowheads="1"/>
          </p:cNvSpPr>
          <p:nvPr/>
        </p:nvSpPr>
        <p:spPr bwMode="auto">
          <a:xfrm>
            <a:off x="7270800" y="3429893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Oval 7"/>
          <p:cNvSpPr>
            <a:spLocks noChangeArrowheads="1"/>
          </p:cNvSpPr>
          <p:nvPr/>
        </p:nvSpPr>
        <p:spPr bwMode="auto">
          <a:xfrm>
            <a:off x="7320012" y="4587478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Oval 8"/>
          <p:cNvSpPr>
            <a:spLocks noChangeArrowheads="1"/>
          </p:cNvSpPr>
          <p:nvPr/>
        </p:nvSpPr>
        <p:spPr bwMode="auto">
          <a:xfrm>
            <a:off x="7799551" y="4588371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7104112" y="31409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7161445" y="466093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680176" y="465313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</a:p>
        </p:txBody>
      </p:sp>
      <p:sp>
        <p:nvSpPr>
          <p:cNvPr id="39" name="Line 44"/>
          <p:cNvSpPr>
            <a:spLocks noChangeShapeType="1"/>
          </p:cNvSpPr>
          <p:nvPr/>
        </p:nvSpPr>
        <p:spPr bwMode="auto">
          <a:xfrm>
            <a:off x="7320136" y="3435748"/>
            <a:ext cx="12700" cy="1191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44"/>
          <p:cNvSpPr>
            <a:spLocks noChangeShapeType="1"/>
          </p:cNvSpPr>
          <p:nvPr/>
        </p:nvSpPr>
        <p:spPr bwMode="auto">
          <a:xfrm>
            <a:off x="5942848" y="3443758"/>
            <a:ext cx="548607" cy="113069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07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964612" cy="2290604"/>
          </a:xfrm>
        </p:spPr>
        <p:txBody>
          <a:bodyPr/>
          <a:lstStyle/>
          <a:p>
            <a:pPr marL="1349375" indent="-1349375">
              <a:lnSpc>
                <a:spcPct val="15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（</a:t>
            </a:r>
            <a:r>
              <a:rPr lang="en-US" altLang="zh-CN" sz="3200" dirty="0" smtClean="0">
                <a:solidFill>
                  <a:srgbClr val="FF0000"/>
                </a:solidFill>
              </a:rPr>
              <a:t>4</a:t>
            </a:r>
            <a:r>
              <a:rPr lang="zh-CN" altLang="en-US" sz="3200" dirty="0" smtClean="0">
                <a:solidFill>
                  <a:srgbClr val="FF0000"/>
                </a:solidFill>
              </a:rPr>
              <a:t>）</a:t>
            </a:r>
            <a:r>
              <a:rPr lang="zh-CN" altLang="en-US" sz="3200" dirty="0">
                <a:solidFill>
                  <a:srgbClr val="FF0000"/>
                </a:solidFill>
              </a:rPr>
              <a:t>自反关系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=</a:t>
            </a:r>
            <a:r>
              <a:rPr lang="zh-CN" altLang="en-US" sz="3200" dirty="0"/>
              <a:t>对角线上的</a:t>
            </a:r>
            <a:r>
              <a:rPr lang="en-US" altLang="zh-CN" sz="3200" dirty="0"/>
              <a:t>3</a:t>
            </a:r>
            <a:r>
              <a:rPr lang="zh-CN" altLang="en-US" sz="3200" dirty="0"/>
              <a:t>条边都出现，非对角线上的边随意出现。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7064" y="2708921"/>
            <a:ext cx="8660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非对角线上有</a:t>
            </a:r>
            <a:r>
              <a:rPr lang="en-US" altLang="zh-CN" sz="3200" dirty="0"/>
              <a:t>6</a:t>
            </a:r>
            <a:r>
              <a:rPr lang="zh-CN" altLang="en-US" sz="3200" dirty="0"/>
              <a:t>条边，</a:t>
            </a:r>
            <a:r>
              <a:rPr lang="en-US" altLang="zh-CN" sz="3200" dirty="0"/>
              <a:t>2^6</a:t>
            </a:r>
            <a:r>
              <a:rPr lang="zh-CN" altLang="en-US" sz="3200" dirty="0"/>
              <a:t>种可能，</a:t>
            </a:r>
            <a:endParaRPr lang="en-US" altLang="zh-CN" sz="3200" dirty="0"/>
          </a:p>
          <a:p>
            <a:r>
              <a:rPr lang="zh-CN" altLang="en-US" sz="3200" dirty="0"/>
              <a:t>所以总数目为：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      2^6=64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6888088" y="4232414"/>
            <a:ext cx="3371436" cy="230832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(1,1)    </a:t>
            </a:r>
            <a:r>
              <a:rPr lang="en-US" altLang="zh-CN" sz="3200" dirty="0">
                <a:solidFill>
                  <a:srgbClr val="00B0F0"/>
                </a:solidFill>
              </a:rPr>
              <a:t>(1,2)    </a:t>
            </a:r>
            <a:r>
              <a:rPr lang="en-US" altLang="zh-CN" sz="3200" dirty="0">
                <a:solidFill>
                  <a:srgbClr val="FF0000"/>
                </a:solidFill>
              </a:rPr>
              <a:t>(1,3)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B0F0"/>
                </a:solidFill>
              </a:rPr>
              <a:t>(2,1)    </a:t>
            </a:r>
            <a:r>
              <a:rPr lang="en-US" altLang="zh-CN" sz="3200" dirty="0"/>
              <a:t>(2,2)    </a:t>
            </a:r>
            <a:r>
              <a:rPr lang="en-US" altLang="zh-CN" sz="3200" dirty="0">
                <a:solidFill>
                  <a:srgbClr val="00B050"/>
                </a:solidFill>
              </a:rPr>
              <a:t>(2,3)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(3,1)    </a:t>
            </a:r>
            <a:r>
              <a:rPr lang="en-US" altLang="zh-CN" sz="3200" dirty="0">
                <a:solidFill>
                  <a:srgbClr val="00B050"/>
                </a:solidFill>
              </a:rPr>
              <a:t>(3,2)    </a:t>
            </a:r>
            <a:r>
              <a:rPr lang="en-US" altLang="zh-CN" sz="3200" dirty="0"/>
              <a:t>(3,3)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1981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964612" cy="2290604"/>
          </a:xfrm>
        </p:spPr>
        <p:txBody>
          <a:bodyPr/>
          <a:lstStyle/>
          <a:p>
            <a:pPr marL="1349375" indent="-1349375">
              <a:lnSpc>
                <a:spcPct val="15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5</a:t>
            </a:r>
            <a:r>
              <a:rPr lang="zh-CN" altLang="en-US" sz="3200" dirty="0" smtClean="0">
                <a:solidFill>
                  <a:srgbClr val="FF0000"/>
                </a:solidFill>
              </a:rPr>
              <a:t>）</a:t>
            </a:r>
            <a:r>
              <a:rPr lang="zh-CN" altLang="en-US" sz="3200" dirty="0">
                <a:solidFill>
                  <a:srgbClr val="FF0000"/>
                </a:solidFill>
              </a:rPr>
              <a:t>对称关系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=</a:t>
            </a:r>
            <a:r>
              <a:rPr lang="zh-CN" altLang="en-US" sz="3200" dirty="0"/>
              <a:t>对角线上的</a:t>
            </a:r>
            <a:r>
              <a:rPr lang="en-US" altLang="zh-CN" sz="3200" dirty="0"/>
              <a:t>3</a:t>
            </a:r>
            <a:r>
              <a:rPr lang="zh-CN" altLang="en-US" sz="3200" dirty="0"/>
              <a:t>条边可以随意出现，非对角线上的</a:t>
            </a:r>
            <a:r>
              <a:rPr lang="en-US" altLang="zh-CN" sz="3200" dirty="0"/>
              <a:t>3</a:t>
            </a:r>
            <a:r>
              <a:rPr lang="zh-CN" altLang="en-US" sz="3200" dirty="0"/>
              <a:t>对边需要成对出现。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3388" y="2708920"/>
            <a:ext cx="86609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非对角线上有</a:t>
            </a:r>
            <a:r>
              <a:rPr lang="en-US" altLang="zh-CN" sz="3200" dirty="0"/>
              <a:t>3</a:t>
            </a:r>
            <a:r>
              <a:rPr lang="zh-CN" altLang="en-US" sz="3200" dirty="0"/>
              <a:t>对边，每对边共有</a:t>
            </a:r>
            <a:r>
              <a:rPr lang="en-US" altLang="zh-CN" sz="3200" dirty="0"/>
              <a:t>2*2</a:t>
            </a:r>
            <a:r>
              <a:rPr lang="zh-CN" altLang="en-US" sz="3200" dirty="0"/>
              <a:t>种可能，其中</a:t>
            </a:r>
            <a:r>
              <a:rPr lang="en-US" altLang="zh-CN" sz="3200" dirty="0"/>
              <a:t>2</a:t>
            </a:r>
            <a:r>
              <a:rPr lang="zh-CN" altLang="en-US" sz="3200" dirty="0"/>
              <a:t>种可能（即都出现，或都不出现）满足条件。</a:t>
            </a:r>
            <a:endParaRPr lang="en-US" altLang="zh-CN" sz="3200" dirty="0"/>
          </a:p>
          <a:p>
            <a:r>
              <a:rPr lang="zh-CN" altLang="en-US" sz="3200" dirty="0"/>
              <a:t>所以总数目为：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      2^3</a:t>
            </a:r>
            <a:r>
              <a:rPr lang="en-US" altLang="zh-CN" sz="3200" dirty="0">
                <a:latin typeface="Georgia" panose="02040502050405020303" pitchFamily="18" charset="0"/>
                <a:sym typeface="Wingdings" panose="05000000000000000000" pitchFamily="2" charset="2"/>
              </a:rPr>
              <a:t></a:t>
            </a:r>
            <a:r>
              <a:rPr lang="en-US" altLang="zh-CN" sz="3200" dirty="0"/>
              <a:t>2^3=64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6888088" y="4232414"/>
            <a:ext cx="3371436" cy="230832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(1,1)    </a:t>
            </a:r>
            <a:r>
              <a:rPr lang="en-US" altLang="zh-CN" sz="3200" dirty="0">
                <a:solidFill>
                  <a:srgbClr val="00B0F0"/>
                </a:solidFill>
              </a:rPr>
              <a:t>(1,2)    </a:t>
            </a:r>
            <a:r>
              <a:rPr lang="en-US" altLang="zh-CN" sz="3200" dirty="0">
                <a:solidFill>
                  <a:srgbClr val="FF0000"/>
                </a:solidFill>
              </a:rPr>
              <a:t>(1,3)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B0F0"/>
                </a:solidFill>
              </a:rPr>
              <a:t>(2,1)    </a:t>
            </a:r>
            <a:r>
              <a:rPr lang="en-US" altLang="zh-CN" sz="3200" dirty="0"/>
              <a:t>(2,2)    </a:t>
            </a:r>
            <a:r>
              <a:rPr lang="en-US" altLang="zh-CN" sz="3200" dirty="0">
                <a:solidFill>
                  <a:srgbClr val="00B050"/>
                </a:solidFill>
              </a:rPr>
              <a:t>(2,3)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(3,1)    </a:t>
            </a:r>
            <a:r>
              <a:rPr lang="en-US" altLang="zh-CN" sz="3200" dirty="0">
                <a:solidFill>
                  <a:srgbClr val="00B050"/>
                </a:solidFill>
              </a:rPr>
              <a:t>(3,2)    </a:t>
            </a:r>
            <a:r>
              <a:rPr lang="en-US" altLang="zh-CN" sz="3200" dirty="0"/>
              <a:t>(3,3)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5525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3388" y="-26988"/>
            <a:ext cx="8964612" cy="2290604"/>
          </a:xfrm>
        </p:spPr>
        <p:txBody>
          <a:bodyPr/>
          <a:lstStyle/>
          <a:p>
            <a:pPr marL="1349375" indent="-1349375">
              <a:lnSpc>
                <a:spcPct val="15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6</a:t>
            </a:r>
            <a:r>
              <a:rPr lang="zh-CN" altLang="en-US" sz="3200" dirty="0" smtClean="0">
                <a:solidFill>
                  <a:srgbClr val="FF0000"/>
                </a:solidFill>
              </a:rPr>
              <a:t>）</a:t>
            </a:r>
            <a:r>
              <a:rPr lang="zh-CN" altLang="en-US" sz="3200" dirty="0">
                <a:solidFill>
                  <a:srgbClr val="FF0000"/>
                </a:solidFill>
              </a:rPr>
              <a:t>反对称关系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=</a:t>
            </a:r>
            <a:r>
              <a:rPr lang="zh-CN" altLang="en-US" sz="3200" dirty="0"/>
              <a:t>对角线上的</a:t>
            </a:r>
            <a:r>
              <a:rPr lang="en-US" altLang="zh-CN" sz="3200" dirty="0"/>
              <a:t>3</a:t>
            </a:r>
            <a:r>
              <a:rPr lang="zh-CN" altLang="en-US" sz="3200" dirty="0"/>
              <a:t>条边可以随意出现，非对角线上的</a:t>
            </a:r>
            <a:r>
              <a:rPr lang="en-US" altLang="zh-CN" sz="3200" dirty="0"/>
              <a:t>3</a:t>
            </a:r>
            <a:r>
              <a:rPr lang="zh-CN" altLang="en-US" sz="3200" dirty="0"/>
              <a:t>对边不能同时出现。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3388" y="2708921"/>
            <a:ext cx="86609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非对角线上有</a:t>
            </a:r>
            <a:r>
              <a:rPr lang="en-US" altLang="zh-CN" sz="3200" dirty="0"/>
              <a:t>3</a:t>
            </a:r>
            <a:r>
              <a:rPr lang="zh-CN" altLang="en-US" sz="3200" dirty="0"/>
              <a:t>对边，每对边共有</a:t>
            </a:r>
            <a:r>
              <a:rPr lang="en-US" altLang="zh-CN" sz="3200" dirty="0"/>
              <a:t>2*2</a:t>
            </a:r>
            <a:r>
              <a:rPr lang="zh-CN" altLang="en-US" sz="3200" dirty="0"/>
              <a:t>种可能，其中</a:t>
            </a:r>
            <a:r>
              <a:rPr lang="en-US" altLang="zh-CN" sz="3200" dirty="0"/>
              <a:t>3</a:t>
            </a:r>
            <a:r>
              <a:rPr lang="zh-CN" altLang="en-US" sz="3200" dirty="0"/>
              <a:t>种可能（即除了都出现）满足条件。</a:t>
            </a:r>
            <a:endParaRPr lang="en-US" altLang="zh-CN" sz="3200" dirty="0"/>
          </a:p>
          <a:p>
            <a:r>
              <a:rPr lang="zh-CN" altLang="en-US" sz="3200" dirty="0"/>
              <a:t>所以总数目为：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     2^3</a:t>
            </a:r>
            <a:r>
              <a:rPr lang="en-US" altLang="zh-CN" sz="3200" dirty="0">
                <a:latin typeface="Georgia" panose="02040502050405020303" pitchFamily="18" charset="0"/>
                <a:sym typeface="Wingdings" panose="05000000000000000000" pitchFamily="2" charset="2"/>
              </a:rPr>
              <a:t>  </a:t>
            </a:r>
            <a:r>
              <a:rPr lang="en-US" altLang="zh-CN" sz="3200" dirty="0"/>
              <a:t>3^3=216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6888088" y="4232414"/>
            <a:ext cx="3371436" cy="230832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(1,1)    </a:t>
            </a:r>
            <a:r>
              <a:rPr lang="en-US" altLang="zh-CN" sz="3200" dirty="0">
                <a:solidFill>
                  <a:srgbClr val="00B0F0"/>
                </a:solidFill>
              </a:rPr>
              <a:t>(1,2)    </a:t>
            </a:r>
            <a:r>
              <a:rPr lang="en-US" altLang="zh-CN" sz="3200" dirty="0">
                <a:solidFill>
                  <a:srgbClr val="FF0000"/>
                </a:solidFill>
              </a:rPr>
              <a:t>(1,3)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B0F0"/>
                </a:solidFill>
              </a:rPr>
              <a:t>(2,1)    </a:t>
            </a:r>
            <a:r>
              <a:rPr lang="en-US" altLang="zh-CN" sz="3200" dirty="0"/>
              <a:t>(2,2)    </a:t>
            </a:r>
            <a:r>
              <a:rPr lang="en-US" altLang="zh-CN" sz="3200" dirty="0">
                <a:solidFill>
                  <a:srgbClr val="00B050"/>
                </a:solidFill>
              </a:rPr>
              <a:t>(2,3)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(3,1)    </a:t>
            </a:r>
            <a:r>
              <a:rPr lang="en-US" altLang="zh-CN" sz="3200" dirty="0">
                <a:solidFill>
                  <a:srgbClr val="00B050"/>
                </a:solidFill>
              </a:rPr>
              <a:t>(3,2)    </a:t>
            </a:r>
            <a:r>
              <a:rPr lang="en-US" altLang="zh-CN" sz="3200" dirty="0"/>
              <a:t>(3,3)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0683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1187</Words>
  <Application>Microsoft Office PowerPoint</Application>
  <PresentationFormat>宽屏</PresentationFormat>
  <Paragraphs>192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MS Mincho</vt:lpstr>
      <vt:lpstr>等线</vt:lpstr>
      <vt:lpstr>等线 Light</vt:lpstr>
      <vt:lpstr>宋体</vt:lpstr>
      <vt:lpstr>Arial</vt:lpstr>
      <vt:lpstr>Calibri</vt:lpstr>
      <vt:lpstr>Cambria Math</vt:lpstr>
      <vt:lpstr>Georgia</vt:lpstr>
      <vt:lpstr>Tahoma</vt:lpstr>
      <vt:lpstr>Times New Roman</vt:lpstr>
      <vt:lpstr>Wingdings</vt:lpstr>
      <vt:lpstr>Office 主题​​</vt:lpstr>
      <vt:lpstr>PowerPoint 演示文稿</vt:lpstr>
      <vt:lpstr>PowerPoint 演示文稿</vt:lpstr>
      <vt:lpstr>从1到300的整数中，只能够被3、5、7中的一个数整除的数有多少个？</vt:lpstr>
      <vt:lpstr>PowerPoint 演示文稿</vt:lpstr>
      <vt:lpstr>已知A={Ø, {a}}，B={ &lt;1, {a}&gt; }，求   (1) 2A×B   (2) A×2B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（1）等价关系=划分          3个元素的划分有1+3+1=5种。</vt:lpstr>
      <vt:lpstr>（2）全序关系=链           3！=6种。</vt:lpstr>
      <vt:lpstr>（3）偏序关系=哈斯图          3个元素的哈斯图有1+3+3+6+6=19种。</vt:lpstr>
      <vt:lpstr>（4）自反关系 =对角线上的3条边都出现，非对角线上的边随意出现。</vt:lpstr>
      <vt:lpstr>（5）对称关系 =对角线上的3条边可以随意出现，非对角线上的3对边需要成对出现。</vt:lpstr>
      <vt:lpstr>（6）反对称关系 =对角线上的3条边可以随意出现，非对角线上的3对边不能同时出现。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 zhong</dc:creator>
  <cp:lastModifiedBy>jin zhong</cp:lastModifiedBy>
  <cp:revision>22</cp:revision>
  <dcterms:created xsi:type="dcterms:W3CDTF">2023-09-24T01:07:01Z</dcterms:created>
  <dcterms:modified xsi:type="dcterms:W3CDTF">2024-11-27T02:23:23Z</dcterms:modified>
</cp:coreProperties>
</file>