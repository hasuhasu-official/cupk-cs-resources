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0"/>
  </p:notesMasterIdLst>
  <p:sldIdLst>
    <p:sldId id="656" r:id="rId2"/>
    <p:sldId id="626" r:id="rId3"/>
    <p:sldId id="658" r:id="rId4"/>
    <p:sldId id="659" r:id="rId5"/>
    <p:sldId id="660" r:id="rId6"/>
    <p:sldId id="641" r:id="rId7"/>
    <p:sldId id="652" r:id="rId8"/>
    <p:sldId id="642" r:id="rId9"/>
    <p:sldId id="643" r:id="rId10"/>
    <p:sldId id="653" r:id="rId11"/>
    <p:sldId id="630" r:id="rId12"/>
    <p:sldId id="646" r:id="rId13"/>
    <p:sldId id="651" r:id="rId14"/>
    <p:sldId id="647" r:id="rId15"/>
    <p:sldId id="654" r:id="rId16"/>
    <p:sldId id="648" r:id="rId17"/>
    <p:sldId id="649" r:id="rId18"/>
    <p:sldId id="657" r:id="rId19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95B3D7"/>
    <a:srgbClr val="7F8D8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320" autoAdjust="0"/>
  </p:normalViewPr>
  <p:slideViewPr>
    <p:cSldViewPr>
      <p:cViewPr varScale="1">
        <p:scale>
          <a:sx n="61" d="100"/>
          <a:sy n="61" d="100"/>
        </p:scale>
        <p:origin x="13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AFD7D8E2-BB42-4A88-BAB9-956729CFD0D2}" type="datetimeFigureOut">
              <a:rPr lang="zh-CN" altLang="en-US"/>
              <a:pPr>
                <a:defRPr/>
              </a:pPr>
              <a:t>2024/11/27</a:t>
            </a:fld>
            <a:endParaRPr lang="en-US" altLang="zh-CN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9BDC35E-4CEB-4BCA-B713-D8169625AD8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8612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982017C4-15FF-4BAB-BD9E-CBE0192625A7}" type="slidenum">
              <a:rPr lang="zh-CN" altLang="en-US" sz="1200"/>
              <a:pPr algn="r"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403824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C1755BF3-7F0B-43A8-B6F2-8C649D347BF5}" type="slidenum">
              <a:rPr lang="zh-CN" altLang="en-US" sz="1200"/>
              <a:pPr algn="r"/>
              <a:t>11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964469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(2008</a:t>
            </a:r>
            <a:r>
              <a:rPr lang="zh-CN" altLang="en-US" dirty="0"/>
              <a:t>硕士）</a:t>
            </a:r>
          </a:p>
        </p:txBody>
      </p:sp>
      <p:sp>
        <p:nvSpPr>
          <p:cNvPr id="95236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9550CA6-782C-4DC4-B8BD-324F89B38A7C}" type="slidenum">
              <a:rPr lang="zh-CN" altLang="en-US" sz="1200"/>
              <a:pPr algn="r"/>
              <a:t>12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477185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(2008</a:t>
            </a:r>
            <a:r>
              <a:rPr lang="zh-CN" altLang="en-US" dirty="0"/>
              <a:t>硕士）</a:t>
            </a:r>
          </a:p>
        </p:txBody>
      </p:sp>
      <p:sp>
        <p:nvSpPr>
          <p:cNvPr id="95236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9550CA6-782C-4DC4-B8BD-324F89B38A7C}" type="slidenum">
              <a:rPr lang="zh-CN" altLang="en-US" sz="1200"/>
              <a:pPr algn="r"/>
              <a:t>13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80056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 userDrawn="1"/>
        </p:nvSpPr>
        <p:spPr bwMode="auto">
          <a:xfrm flipV="1">
            <a:off x="0" y="765175"/>
            <a:ext cx="9144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053A5D-217B-47DA-A6A2-BC484538B684}" type="slidenum">
              <a:rPr lang="zh-CN" altLang="en-US"/>
              <a:pPr/>
              <a:t>‹#›</a:t>
            </a:fld>
            <a:r>
              <a:rPr lang="en-US" altLang="zh-CN"/>
              <a:t>/60</a:t>
            </a:r>
          </a:p>
        </p:txBody>
      </p:sp>
    </p:spTree>
    <p:extLst>
      <p:ext uri="{BB962C8B-B14F-4D97-AF65-F5344CB8AC3E}">
        <p14:creationId xmlns:p14="http://schemas.microsoft.com/office/powerpoint/2010/main" val="2650345350"/>
      </p:ext>
    </p:extLst>
  </p:cSld>
  <p:clrMapOvr>
    <a:masterClrMapping/>
  </p:clrMapOvr>
  <p:transition advTm="1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111938-D1A4-466D-AE44-158760CDB9EB}" type="slidenum">
              <a:rPr lang="en-GB" altLang="zh-CN"/>
              <a:pPr/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784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2D162-CEF3-4B82-851C-008389060FDA}" type="slidenum">
              <a:rPr lang="en-GB" altLang="zh-CN"/>
              <a:pPr/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95803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EAFD-11A2-4D67-9FDD-63AFFB02C8C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16413-EC92-4696-A8A9-1B9CC0614A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63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 bwMode="auto">
          <a:xfrm>
            <a:off x="179388" y="-26988"/>
            <a:ext cx="82296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323850" y="10525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accent1"/>
                </a:solidFill>
              </a:defRPr>
            </a:lvl1pPr>
          </a:lstStyle>
          <a:p>
            <a:fld id="{0BE7B819-F848-455C-9F71-12A97E9B47A1}" type="slidenum">
              <a:rPr lang="zh-CN" altLang="en-US"/>
              <a:pPr/>
              <a:t>‹#›</a:t>
            </a:fld>
            <a:r>
              <a:rPr lang="en-US" altLang="zh-CN"/>
              <a:t>/60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</p:sldLayoutIdLst>
  <p:transition advTm="100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4802" y="2125980"/>
            <a:ext cx="6417141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50" dirty="0" smtClean="0">
                <a:solidFill>
                  <a:srgbClr val="FF0000"/>
                </a:solidFill>
              </a:rPr>
              <a:t>大作业三（图论）参考解答</a:t>
            </a:r>
            <a:endParaRPr lang="zh-CN" altLang="en-US" sz="405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06491" y="3881629"/>
            <a:ext cx="36744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/>
              <a:t>说明：批注未必到位</a:t>
            </a:r>
            <a:endParaRPr lang="en-US" altLang="zh-CN" sz="3000" dirty="0"/>
          </a:p>
          <a:p>
            <a:r>
              <a:rPr lang="en-US" altLang="zh-CN" sz="3000" dirty="0"/>
              <a:t>           </a:t>
            </a:r>
            <a:r>
              <a:rPr lang="zh-CN" altLang="en-US" sz="3000" dirty="0"/>
              <a:t>批改比较宽松</a:t>
            </a:r>
          </a:p>
        </p:txBody>
      </p:sp>
    </p:spTree>
    <p:extLst>
      <p:ext uri="{BB962C8B-B14F-4D97-AF65-F5344CB8AC3E}">
        <p14:creationId xmlns:p14="http://schemas.microsoft.com/office/powerpoint/2010/main" val="84378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/>
          </p:cNvSpPr>
          <p:nvPr>
            <p:ph type="title" idx="4294967295"/>
          </p:nvPr>
        </p:nvSpPr>
        <p:spPr>
          <a:xfrm>
            <a:off x="0" y="-26988"/>
            <a:ext cx="9144000" cy="1955801"/>
          </a:xfrm>
          <a:solidFill>
            <a:schemeClr val="bg1"/>
          </a:solidFill>
        </p:spPr>
        <p:txBody>
          <a:bodyPr/>
          <a:lstStyle/>
          <a:p>
            <a:pPr marL="806450" indent="-806450" algn="l">
              <a:lnSpc>
                <a:spcPct val="11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=(V,E)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32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lang="en-US" altLang="zh-CN" sz="32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sz="32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32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中每个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的度数均大于等于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3，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试证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边数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|E|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不等于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683" name="Rectangle 3"/>
          <p:cNvSpPr>
            <a:spLocks noGrp="1"/>
          </p:cNvSpPr>
          <p:nvPr>
            <p:ph type="body" idx="4294967295"/>
          </p:nvPr>
        </p:nvSpPr>
        <p:spPr>
          <a:xfrm>
            <a:off x="0" y="1772816"/>
            <a:ext cx="8964613" cy="4608934"/>
          </a:xfrm>
        </p:spPr>
        <p:txBody>
          <a:bodyPr/>
          <a:lstStyle/>
          <a:p>
            <a:pPr marL="806450" indent="-806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证明：反证法。假设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|E|=7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806450" indent="-806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	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因为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每个顶点的度数都≥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，，则</a:t>
            </a:r>
          </a:p>
          <a:p>
            <a:pPr marL="806450" indent="-806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		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     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2|E|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≥3|V|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，</a:t>
            </a:r>
          </a:p>
          <a:p>
            <a:pPr marL="806450" indent="-806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	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即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有   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14 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≥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3|V|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，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806450" indent="-806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  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所以    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|V|≤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4.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1162050" indent="-11620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  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因为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是简单图，所以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其边数不超过完全图的边数，即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marL="806450" indent="-80645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		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 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|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E|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≤|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V|(|V|-1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)/2</a:t>
            </a:r>
            <a:r>
              <a:rPr lang="en-US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≤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4(4-1)/2=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6</a:t>
            </a:r>
          </a:p>
          <a:p>
            <a:pPr marL="806450" indent="-806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  	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这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|E|=7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矛盾。</a:t>
            </a:r>
          </a:p>
        </p:txBody>
      </p:sp>
    </p:spTree>
    <p:extLst>
      <p:ext uri="{BB962C8B-B14F-4D97-AF65-F5344CB8AC3E}">
        <p14:creationId xmlns:p14="http://schemas.microsoft.com/office/powerpoint/2010/main" val="7619199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8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2D162-CEF3-4B82-851C-008389060FDA}" type="slidenum">
              <a:rPr lang="en-GB" altLang="zh-CN" smtClean="0"/>
              <a:pPr/>
              <a:t>3</a:t>
            </a:fld>
            <a:endParaRPr lang="en-GB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83568" y="188640"/>
            <a:ext cx="6172652" cy="2357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92175" indent="-892175" algn="l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 smtClean="0"/>
              <a:t>设</a:t>
            </a:r>
            <a:r>
              <a:rPr lang="en-US" altLang="zh-CN" sz="3200" b="1" dirty="0" smtClean="0"/>
              <a:t>G</a:t>
            </a:r>
            <a:r>
              <a:rPr lang="en-US" altLang="zh-CN" sz="3200" b="1" dirty="0"/>
              <a:t>=(V,E)</a:t>
            </a:r>
            <a:r>
              <a:rPr lang="zh-CN" altLang="en-US" sz="3200" b="1" dirty="0"/>
              <a:t>是一个简单无向图，</a:t>
            </a:r>
            <a:r>
              <a:rPr lang="zh-CN" altLang="en-US" sz="3200" b="1" dirty="0" smtClean="0"/>
              <a:t>若</a:t>
            </a:r>
            <a:endParaRPr lang="en-US" altLang="zh-CN" sz="3200" b="1" dirty="0" smtClean="0"/>
          </a:p>
          <a:p>
            <a:pPr marL="892175" indent="-892175" algn="l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333300"/>
                </a:solidFill>
              </a:rPr>
              <a:t>           |</a:t>
            </a:r>
            <a:r>
              <a:rPr lang="en-US" altLang="zh-CN" sz="3200" b="1" dirty="0">
                <a:solidFill>
                  <a:srgbClr val="333300"/>
                </a:solidFill>
              </a:rPr>
              <a:t>E| &gt; </a:t>
            </a:r>
            <a:r>
              <a:rPr lang="en-US" altLang="zh-CN" sz="3200" b="1" dirty="0" smtClean="0">
                <a:solidFill>
                  <a:srgbClr val="333300"/>
                </a:solidFill>
              </a:rPr>
              <a:t>(|</a:t>
            </a:r>
            <a:r>
              <a:rPr lang="en-US" altLang="zh-CN" sz="3200" b="1" dirty="0">
                <a:solidFill>
                  <a:srgbClr val="333300"/>
                </a:solidFill>
              </a:rPr>
              <a:t>V|</a:t>
            </a:r>
            <a:r>
              <a:rPr lang="zh-CN" altLang="en-US" sz="3200" b="1" dirty="0">
                <a:solidFill>
                  <a:srgbClr val="333300"/>
                </a:solidFill>
              </a:rPr>
              <a:t>－</a:t>
            </a:r>
            <a:r>
              <a:rPr lang="en-US" altLang="zh-CN" sz="3200" b="1" dirty="0">
                <a:solidFill>
                  <a:srgbClr val="333300"/>
                </a:solidFill>
              </a:rPr>
              <a:t>1)(|V|</a:t>
            </a:r>
            <a:r>
              <a:rPr lang="zh-CN" altLang="en-US" sz="3200" b="1" dirty="0">
                <a:solidFill>
                  <a:srgbClr val="333300"/>
                </a:solidFill>
              </a:rPr>
              <a:t>－</a:t>
            </a:r>
            <a:r>
              <a:rPr lang="en-US" altLang="zh-CN" sz="3200" b="1" dirty="0">
                <a:solidFill>
                  <a:srgbClr val="333300"/>
                </a:solidFill>
              </a:rPr>
              <a:t>2</a:t>
            </a:r>
            <a:r>
              <a:rPr lang="en-US" altLang="zh-CN" sz="3200" b="1" dirty="0" smtClean="0">
                <a:solidFill>
                  <a:srgbClr val="333300"/>
                </a:solidFill>
              </a:rPr>
              <a:t>)/2</a:t>
            </a:r>
          </a:p>
          <a:p>
            <a:pPr marL="892175" indent="-892175" algn="l">
              <a:lnSpc>
                <a:spcPct val="120000"/>
              </a:lnSpc>
            </a:pPr>
            <a:r>
              <a:rPr lang="zh-CN" altLang="en-US" sz="3200" b="1" dirty="0" smtClean="0"/>
              <a:t>则 </a:t>
            </a:r>
            <a:r>
              <a:rPr lang="en-US" altLang="zh-CN" sz="3200" b="1" dirty="0"/>
              <a:t>G</a:t>
            </a:r>
            <a:r>
              <a:rPr lang="zh-CN" altLang="en-US" sz="3200" b="1" dirty="0"/>
              <a:t>是连通图。</a:t>
            </a:r>
          </a:p>
          <a:p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755576" y="2132856"/>
            <a:ext cx="8388424" cy="3660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/>
              <a:t>证明：采用反证法。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/>
              <a:t>          如果</a:t>
            </a:r>
            <a:r>
              <a:rPr lang="en-US" altLang="zh-CN" sz="2800" dirty="0"/>
              <a:t>G</a:t>
            </a:r>
            <a:r>
              <a:rPr lang="zh-CN" altLang="en-US" sz="2800" dirty="0"/>
              <a:t>不连通，则</a:t>
            </a:r>
            <a:r>
              <a:rPr lang="en-US" altLang="zh-CN" sz="2800" dirty="0"/>
              <a:t>G</a:t>
            </a:r>
            <a:r>
              <a:rPr lang="zh-CN" altLang="en-US" sz="2800" dirty="0"/>
              <a:t>可以分为若干连通子图：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              G1=</a:t>
            </a:r>
            <a:r>
              <a:rPr lang="zh-CN" altLang="en-US" sz="2800" dirty="0"/>
              <a:t>（</a:t>
            </a:r>
            <a:r>
              <a:rPr lang="en-US" altLang="zh-CN" sz="2800" dirty="0"/>
              <a:t>V1</a:t>
            </a:r>
            <a:r>
              <a:rPr lang="zh-CN" altLang="en-US" sz="2800" dirty="0"/>
              <a:t>，</a:t>
            </a:r>
            <a:r>
              <a:rPr lang="en-US" altLang="zh-CN" sz="2800" dirty="0"/>
              <a:t>E1</a:t>
            </a:r>
            <a:r>
              <a:rPr lang="zh-CN" altLang="en-US" sz="2800" dirty="0"/>
              <a:t>），</a:t>
            </a:r>
            <a:r>
              <a:rPr lang="en-US" altLang="zh-CN" sz="2800" dirty="0"/>
              <a:t>--- 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Gn</a:t>
            </a:r>
            <a:r>
              <a:rPr lang="en-US" altLang="zh-CN" sz="2800" dirty="0"/>
              <a:t>=</a:t>
            </a:r>
            <a:r>
              <a:rPr lang="zh-CN" altLang="en-US" sz="2800" dirty="0"/>
              <a:t>（</a:t>
            </a:r>
            <a:r>
              <a:rPr lang="en-US" altLang="zh-CN" sz="2800" dirty="0" err="1"/>
              <a:t>Vn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En</a:t>
            </a:r>
            <a:r>
              <a:rPr lang="zh-CN" altLang="en-US" sz="2800" dirty="0"/>
              <a:t>）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/>
              <a:t>          于是有：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/>
              <a:t>             </a:t>
            </a:r>
            <a:r>
              <a:rPr lang="en-US" altLang="zh-CN" sz="2800" dirty="0"/>
              <a:t>|E| = |E1|+ --- +|</a:t>
            </a:r>
            <a:r>
              <a:rPr lang="en-US" altLang="zh-CN" sz="2800" dirty="0" err="1"/>
              <a:t>En</a:t>
            </a:r>
            <a:r>
              <a:rPr lang="en-US" altLang="zh-CN" sz="2800" dirty="0"/>
              <a:t>|</a:t>
            </a:r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                  ≤ ½|V1|</a:t>
            </a:r>
            <a:r>
              <a:rPr lang="zh-CN" altLang="en-US" sz="2800" dirty="0"/>
              <a:t>（</a:t>
            </a:r>
            <a:r>
              <a:rPr lang="en-US" altLang="zh-CN" sz="2800" dirty="0"/>
              <a:t>|V1|-1</a:t>
            </a:r>
            <a:r>
              <a:rPr lang="zh-CN" altLang="en-US" sz="2800" dirty="0"/>
              <a:t>）</a:t>
            </a:r>
            <a:r>
              <a:rPr lang="en-US" altLang="zh-CN" sz="2800" dirty="0"/>
              <a:t>+---+½|Vn|</a:t>
            </a:r>
            <a:r>
              <a:rPr lang="zh-CN" altLang="en-US" sz="2800" dirty="0"/>
              <a:t>（</a:t>
            </a:r>
            <a:r>
              <a:rPr lang="en-US" altLang="zh-CN" sz="2800" dirty="0"/>
              <a:t>|</a:t>
            </a:r>
            <a:r>
              <a:rPr lang="en-US" altLang="zh-CN" sz="2800" dirty="0" err="1"/>
              <a:t>Vn</a:t>
            </a:r>
            <a:r>
              <a:rPr lang="en-US" altLang="zh-CN" sz="2800" dirty="0"/>
              <a:t>|-1</a:t>
            </a:r>
            <a:r>
              <a:rPr lang="zh-CN" altLang="en-US" sz="2800" dirty="0"/>
              <a:t>）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/>
              <a:t>          </a:t>
            </a:r>
            <a:r>
              <a:rPr lang="zh-CN" altLang="en-US" sz="2800" dirty="0" smtClean="0"/>
              <a:t>        ≤</a:t>
            </a:r>
            <a:r>
              <a:rPr lang="en-US" altLang="zh-CN" sz="2800" dirty="0"/>
              <a:t>½</a:t>
            </a:r>
            <a:r>
              <a:rPr lang="zh-CN" altLang="en-US" sz="2800" dirty="0"/>
              <a:t>（</a:t>
            </a:r>
            <a:r>
              <a:rPr lang="en-US" altLang="zh-CN" sz="2800" dirty="0"/>
              <a:t>|V|-1</a:t>
            </a:r>
            <a:r>
              <a:rPr lang="zh-CN" altLang="en-US" sz="2800" dirty="0"/>
              <a:t>）（</a:t>
            </a:r>
            <a:r>
              <a:rPr lang="en-US" altLang="zh-CN" sz="2800" dirty="0"/>
              <a:t>|V|-2</a:t>
            </a:r>
            <a:r>
              <a:rPr lang="zh-CN" altLang="en-US" sz="2800" dirty="0"/>
              <a:t>）</a:t>
            </a:r>
            <a:endParaRPr lang="en-US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124882" y="188640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2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56673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2D162-CEF3-4B82-851C-008389060FDA}" type="slidenum">
              <a:rPr lang="en-GB" altLang="zh-CN" smtClean="0"/>
              <a:pPr/>
              <a:t>4</a:t>
            </a:fld>
            <a:endParaRPr lang="en-GB" altLang="zh-CN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467544" y="1484784"/>
            <a:ext cx="3743325" cy="2808288"/>
            <a:chOff x="2109" y="2764"/>
            <a:chExt cx="1872" cy="1412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2314" y="2764"/>
              <a:ext cx="1667" cy="1412"/>
              <a:chOff x="2314" y="2764"/>
              <a:chExt cx="1667" cy="1412"/>
            </a:xfrm>
          </p:grpSpPr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3229" y="3721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16" name="Oval 7"/>
              <p:cNvSpPr>
                <a:spLocks noChangeArrowheads="1"/>
              </p:cNvSpPr>
              <p:nvPr/>
            </p:nvSpPr>
            <p:spPr bwMode="auto">
              <a:xfrm>
                <a:off x="3229" y="3095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7" name="Oval 8"/>
              <p:cNvSpPr>
                <a:spLocks noChangeArrowheads="1"/>
              </p:cNvSpPr>
              <p:nvPr/>
            </p:nvSpPr>
            <p:spPr bwMode="auto">
              <a:xfrm>
                <a:off x="3803" y="3380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8" name="Oval 9"/>
              <p:cNvSpPr>
                <a:spLocks noChangeArrowheads="1"/>
              </p:cNvSpPr>
              <p:nvPr/>
            </p:nvSpPr>
            <p:spPr bwMode="auto">
              <a:xfrm>
                <a:off x="2454" y="3998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9" name="Oval 10"/>
              <p:cNvSpPr>
                <a:spLocks noChangeArrowheads="1"/>
              </p:cNvSpPr>
              <p:nvPr/>
            </p:nvSpPr>
            <p:spPr bwMode="auto">
              <a:xfrm>
                <a:off x="2454" y="3586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20" name="Oval 11"/>
              <p:cNvSpPr>
                <a:spLocks noChangeArrowheads="1"/>
              </p:cNvSpPr>
              <p:nvPr/>
            </p:nvSpPr>
            <p:spPr bwMode="auto">
              <a:xfrm>
                <a:off x="2454" y="3175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1" name="Oval 12"/>
              <p:cNvSpPr>
                <a:spLocks noChangeArrowheads="1"/>
              </p:cNvSpPr>
              <p:nvPr/>
            </p:nvSpPr>
            <p:spPr bwMode="auto">
              <a:xfrm>
                <a:off x="2454" y="2764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2" name="Line 13"/>
              <p:cNvSpPr>
                <a:spLocks noChangeShapeType="1"/>
              </p:cNvSpPr>
              <p:nvPr/>
            </p:nvSpPr>
            <p:spPr bwMode="auto">
              <a:xfrm>
                <a:off x="2545" y="2944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14"/>
              <p:cNvSpPr>
                <a:spLocks noChangeShapeType="1"/>
              </p:cNvSpPr>
              <p:nvPr/>
            </p:nvSpPr>
            <p:spPr bwMode="auto">
              <a:xfrm flipH="1">
                <a:off x="2545" y="3366"/>
                <a:ext cx="0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15"/>
              <p:cNvSpPr>
                <a:spLocks noChangeShapeType="1"/>
              </p:cNvSpPr>
              <p:nvPr/>
            </p:nvSpPr>
            <p:spPr bwMode="auto">
              <a:xfrm>
                <a:off x="2545" y="3777"/>
                <a:ext cx="0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>
                <a:off x="2623" y="2878"/>
                <a:ext cx="622" cy="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17"/>
              <p:cNvSpPr>
                <a:spLocks noChangeShapeType="1"/>
              </p:cNvSpPr>
              <p:nvPr/>
            </p:nvSpPr>
            <p:spPr bwMode="auto">
              <a:xfrm>
                <a:off x="3389" y="3233"/>
                <a:ext cx="434" cy="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18"/>
              <p:cNvSpPr>
                <a:spLocks noChangeShapeType="1"/>
              </p:cNvSpPr>
              <p:nvPr/>
            </p:nvSpPr>
            <p:spPr bwMode="auto">
              <a:xfrm flipV="1">
                <a:off x="2623" y="3844"/>
                <a:ext cx="611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19"/>
              <p:cNvSpPr>
                <a:spLocks noChangeShapeType="1"/>
              </p:cNvSpPr>
              <p:nvPr/>
            </p:nvSpPr>
            <p:spPr bwMode="auto">
              <a:xfrm flipV="1">
                <a:off x="3400" y="3555"/>
                <a:ext cx="467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0"/>
              <p:cNvSpPr>
                <a:spLocks noChangeShapeType="1"/>
              </p:cNvSpPr>
              <p:nvPr/>
            </p:nvSpPr>
            <p:spPr bwMode="auto">
              <a:xfrm>
                <a:off x="3312" y="3277"/>
                <a:ext cx="0" cy="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21"/>
              <p:cNvSpPr>
                <a:spLocks/>
              </p:cNvSpPr>
              <p:nvPr/>
            </p:nvSpPr>
            <p:spPr bwMode="auto">
              <a:xfrm>
                <a:off x="2314" y="2900"/>
                <a:ext cx="153" cy="1144"/>
              </a:xfrm>
              <a:custGeom>
                <a:avLst/>
                <a:gdLst>
                  <a:gd name="T0" fmla="*/ 153 w 153"/>
                  <a:gd name="T1" fmla="*/ 0 h 1144"/>
                  <a:gd name="T2" fmla="*/ 31 w 153"/>
                  <a:gd name="T3" fmla="*/ 278 h 1144"/>
                  <a:gd name="T4" fmla="*/ 20 w 153"/>
                  <a:gd name="T5" fmla="*/ 744 h 1144"/>
                  <a:gd name="T6" fmla="*/ 153 w 153"/>
                  <a:gd name="T7" fmla="*/ 1144 h 1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"/>
                  <a:gd name="T13" fmla="*/ 0 h 1144"/>
                  <a:gd name="T14" fmla="*/ 153 w 153"/>
                  <a:gd name="T15" fmla="*/ 1144 h 1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" h="1144">
                    <a:moveTo>
                      <a:pt x="153" y="0"/>
                    </a:moveTo>
                    <a:cubicBezTo>
                      <a:pt x="103" y="77"/>
                      <a:pt x="53" y="154"/>
                      <a:pt x="31" y="278"/>
                    </a:cubicBezTo>
                    <a:cubicBezTo>
                      <a:pt x="9" y="402"/>
                      <a:pt x="0" y="600"/>
                      <a:pt x="20" y="744"/>
                    </a:cubicBezTo>
                    <a:cubicBezTo>
                      <a:pt x="40" y="888"/>
                      <a:pt x="134" y="1077"/>
                      <a:pt x="153" y="114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" name="Freeform 22"/>
              <p:cNvSpPr>
                <a:spLocks/>
              </p:cNvSpPr>
              <p:nvPr/>
            </p:nvSpPr>
            <p:spPr bwMode="auto">
              <a:xfrm>
                <a:off x="2623" y="2787"/>
                <a:ext cx="1266" cy="602"/>
              </a:xfrm>
              <a:custGeom>
                <a:avLst/>
                <a:gdLst>
                  <a:gd name="T0" fmla="*/ 0 w 1266"/>
                  <a:gd name="T1" fmla="*/ 24 h 602"/>
                  <a:gd name="T2" fmla="*/ 288 w 1266"/>
                  <a:gd name="T3" fmla="*/ 35 h 602"/>
                  <a:gd name="T4" fmla="*/ 844 w 1266"/>
                  <a:gd name="T5" fmla="*/ 235 h 602"/>
                  <a:gd name="T6" fmla="*/ 1266 w 1266"/>
                  <a:gd name="T7" fmla="*/ 602 h 6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6"/>
                  <a:gd name="T13" fmla="*/ 0 h 602"/>
                  <a:gd name="T14" fmla="*/ 1266 w 1266"/>
                  <a:gd name="T15" fmla="*/ 602 h 6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6" h="602">
                    <a:moveTo>
                      <a:pt x="0" y="24"/>
                    </a:moveTo>
                    <a:cubicBezTo>
                      <a:pt x="73" y="12"/>
                      <a:pt x="147" y="0"/>
                      <a:pt x="288" y="35"/>
                    </a:cubicBezTo>
                    <a:cubicBezTo>
                      <a:pt x="429" y="70"/>
                      <a:pt x="681" y="140"/>
                      <a:pt x="844" y="235"/>
                    </a:cubicBezTo>
                    <a:cubicBezTo>
                      <a:pt x="1007" y="330"/>
                      <a:pt x="1136" y="466"/>
                      <a:pt x="1266" y="60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Text Box 23"/>
            <p:cNvSpPr txBox="1">
              <a:spLocks noChangeArrowheads="1"/>
            </p:cNvSpPr>
            <p:nvPr/>
          </p:nvSpPr>
          <p:spPr bwMode="auto">
            <a:xfrm>
              <a:off x="2520" y="2916"/>
              <a:ext cx="156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 smtClean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" name="Text Box 24"/>
            <p:cNvSpPr txBox="1">
              <a:spLocks noChangeArrowheads="1"/>
            </p:cNvSpPr>
            <p:nvPr/>
          </p:nvSpPr>
          <p:spPr bwMode="auto">
            <a:xfrm>
              <a:off x="2520" y="3328"/>
              <a:ext cx="1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2509" y="3738"/>
              <a:ext cx="156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8" name="Text Box 26"/>
            <p:cNvSpPr txBox="1">
              <a:spLocks noChangeArrowheads="1"/>
            </p:cNvSpPr>
            <p:nvPr/>
          </p:nvSpPr>
          <p:spPr bwMode="auto">
            <a:xfrm>
              <a:off x="2842" y="3749"/>
              <a:ext cx="155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Text Box 27"/>
            <p:cNvSpPr txBox="1">
              <a:spLocks noChangeArrowheads="1"/>
            </p:cNvSpPr>
            <p:nvPr/>
          </p:nvSpPr>
          <p:spPr bwMode="auto">
            <a:xfrm>
              <a:off x="2109" y="3317"/>
              <a:ext cx="276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 smtClean="0">
                  <a:latin typeface="Times New Roman" panose="02020603050405020304" pitchFamily="18" charset="0"/>
                </a:rPr>
                <a:t>23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2854" y="2984"/>
              <a:ext cx="221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 smtClean="0">
                  <a:latin typeface="Times New Roman" panose="02020603050405020304" pitchFamily="18" charset="0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29"/>
            <p:cNvSpPr txBox="1">
              <a:spLocks noChangeArrowheads="1"/>
            </p:cNvSpPr>
            <p:nvPr/>
          </p:nvSpPr>
          <p:spPr bwMode="auto">
            <a:xfrm>
              <a:off x="3442" y="3238"/>
              <a:ext cx="1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2" name="Text Box 30"/>
            <p:cNvSpPr txBox="1">
              <a:spLocks noChangeArrowheads="1"/>
            </p:cNvSpPr>
            <p:nvPr/>
          </p:nvSpPr>
          <p:spPr bwMode="auto">
            <a:xfrm>
              <a:off x="3531" y="3650"/>
              <a:ext cx="21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13" name="Text Box 31"/>
            <p:cNvSpPr txBox="1">
              <a:spLocks noChangeArrowheads="1"/>
            </p:cNvSpPr>
            <p:nvPr/>
          </p:nvSpPr>
          <p:spPr bwMode="auto">
            <a:xfrm>
              <a:off x="3308" y="2772"/>
              <a:ext cx="21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14" name="Text Box 32"/>
            <p:cNvSpPr txBox="1">
              <a:spLocks noChangeArrowheads="1"/>
            </p:cNvSpPr>
            <p:nvPr/>
          </p:nvSpPr>
          <p:spPr bwMode="auto">
            <a:xfrm>
              <a:off x="3134" y="3317"/>
              <a:ext cx="216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 smtClean="0">
                  <a:latin typeface="Times New Roman" panose="02020603050405020304" pitchFamily="18" charset="0"/>
                </a:rPr>
                <a:t>11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833631" y="179929"/>
            <a:ext cx="54665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Calibri" panose="020F0502020204030204" pitchFamily="34" charset="0"/>
              </a:rPr>
              <a:t>求顶点</a:t>
            </a:r>
            <a:r>
              <a:rPr lang="en-US" altLang="zh-CN" sz="3200" b="1" dirty="0">
                <a:latin typeface="Calibri" panose="020F0502020204030204" pitchFamily="34" charset="0"/>
              </a:rPr>
              <a:t>a</a:t>
            </a:r>
            <a:r>
              <a:rPr lang="zh-CN" altLang="en-US" sz="3200" b="1" dirty="0">
                <a:latin typeface="Calibri" panose="020F0502020204030204" pitchFamily="34" charset="0"/>
              </a:rPr>
              <a:t>至顶点</a:t>
            </a:r>
            <a:r>
              <a:rPr lang="en-US" altLang="zh-CN" sz="3200" b="1" dirty="0">
                <a:latin typeface="Times New Roman" panose="02020603050405020304" pitchFamily="18" charset="0"/>
              </a:rPr>
              <a:t>f</a:t>
            </a:r>
            <a:r>
              <a:rPr lang="zh-CN" altLang="en-US" sz="3200" b="1" dirty="0">
                <a:latin typeface="Calibri" panose="020F0502020204030204" pitchFamily="34" charset="0"/>
              </a:rPr>
              <a:t>最短通路的长</a:t>
            </a:r>
            <a:endParaRPr lang="zh-CN" altLang="en-US" sz="3200" dirty="0"/>
          </a:p>
        </p:txBody>
      </p:sp>
      <p:grpSp>
        <p:nvGrpSpPr>
          <p:cNvPr id="33" name="Group 34"/>
          <p:cNvGrpSpPr>
            <a:grpSpLocks/>
          </p:cNvGrpSpPr>
          <p:nvPr/>
        </p:nvGrpSpPr>
        <p:grpSpPr bwMode="auto">
          <a:xfrm>
            <a:off x="5362575" y="836613"/>
            <a:ext cx="3313113" cy="744537"/>
            <a:chOff x="3606" y="1872"/>
            <a:chExt cx="2087" cy="469"/>
          </a:xfrm>
        </p:grpSpPr>
        <p:grpSp>
          <p:nvGrpSpPr>
            <p:cNvPr id="34" name="Group 35"/>
            <p:cNvGrpSpPr>
              <a:grpSpLocks/>
            </p:cNvGrpSpPr>
            <p:nvPr/>
          </p:nvGrpSpPr>
          <p:grpSpPr bwMode="auto">
            <a:xfrm>
              <a:off x="3771" y="2066"/>
              <a:ext cx="1922" cy="244"/>
              <a:chOff x="2212" y="3078"/>
              <a:chExt cx="1922" cy="244"/>
            </a:xfrm>
          </p:grpSpPr>
          <p:sp>
            <p:nvSpPr>
              <p:cNvPr id="38" name="Rectangle 36"/>
              <p:cNvSpPr>
                <a:spLocks noChangeArrowheads="1"/>
              </p:cNvSpPr>
              <p:nvPr/>
            </p:nvSpPr>
            <p:spPr bwMode="auto">
              <a:xfrm>
                <a:off x="2212" y="3078"/>
                <a:ext cx="1922" cy="2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9" name="Line 37"/>
              <p:cNvSpPr>
                <a:spLocks noChangeShapeType="1"/>
              </p:cNvSpPr>
              <p:nvPr/>
            </p:nvSpPr>
            <p:spPr bwMode="auto">
              <a:xfrm>
                <a:off x="245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38"/>
              <p:cNvSpPr>
                <a:spLocks noChangeShapeType="1"/>
              </p:cNvSpPr>
              <p:nvPr/>
            </p:nvSpPr>
            <p:spPr bwMode="auto">
              <a:xfrm>
                <a:off x="273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39"/>
              <p:cNvSpPr>
                <a:spLocks noChangeShapeType="1"/>
              </p:cNvSpPr>
              <p:nvPr/>
            </p:nvSpPr>
            <p:spPr bwMode="auto">
              <a:xfrm>
                <a:off x="3021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>
                <a:off x="330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41"/>
              <p:cNvSpPr>
                <a:spLocks noChangeShapeType="1"/>
              </p:cNvSpPr>
              <p:nvPr/>
            </p:nvSpPr>
            <p:spPr bwMode="auto">
              <a:xfrm>
                <a:off x="358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42"/>
              <p:cNvSpPr>
                <a:spLocks noChangeShapeType="1"/>
              </p:cNvSpPr>
              <p:nvPr/>
            </p:nvSpPr>
            <p:spPr bwMode="auto">
              <a:xfrm>
                <a:off x="3872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" name="Text Box 43"/>
            <p:cNvSpPr txBox="1">
              <a:spLocks noChangeArrowheads="1"/>
            </p:cNvSpPr>
            <p:nvPr/>
          </p:nvSpPr>
          <p:spPr bwMode="auto">
            <a:xfrm>
              <a:off x="3606" y="2091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6" name="Text Box 44"/>
            <p:cNvSpPr txBox="1">
              <a:spLocks noChangeArrowheads="1"/>
            </p:cNvSpPr>
            <p:nvPr/>
          </p:nvSpPr>
          <p:spPr bwMode="auto">
            <a:xfrm>
              <a:off x="3847" y="1872"/>
              <a:ext cx="17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b     c     d     e     f    g</a:t>
              </a:r>
            </a:p>
          </p:txBody>
        </p:sp>
        <p:sp>
          <p:nvSpPr>
            <p:cNvPr id="37" name="Text Box 45"/>
            <p:cNvSpPr txBox="1">
              <a:spLocks noChangeArrowheads="1"/>
            </p:cNvSpPr>
            <p:nvPr/>
          </p:nvSpPr>
          <p:spPr bwMode="auto">
            <a:xfrm>
              <a:off x="3812" y="2076"/>
              <a:ext cx="188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12    9    </a:t>
              </a:r>
              <a:r>
                <a:rPr lang="zh-CN" altLang="zh-CN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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23    </a:t>
              </a:r>
              <a:r>
                <a:rPr lang="zh-CN" altLang="zh-CN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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32</a:t>
              </a:r>
            </a:p>
          </p:txBody>
        </p:sp>
      </p:grpSp>
      <p:grpSp>
        <p:nvGrpSpPr>
          <p:cNvPr id="45" name="Group 70"/>
          <p:cNvGrpSpPr>
            <a:grpSpLocks/>
          </p:cNvGrpSpPr>
          <p:nvPr/>
        </p:nvGrpSpPr>
        <p:grpSpPr bwMode="auto">
          <a:xfrm>
            <a:off x="5292725" y="3709988"/>
            <a:ext cx="3359150" cy="730250"/>
            <a:chOff x="3573" y="2840"/>
            <a:chExt cx="2116" cy="460"/>
          </a:xfrm>
        </p:grpSpPr>
        <p:grpSp>
          <p:nvGrpSpPr>
            <p:cNvPr id="46" name="Group 71"/>
            <p:cNvGrpSpPr>
              <a:grpSpLocks/>
            </p:cNvGrpSpPr>
            <p:nvPr/>
          </p:nvGrpSpPr>
          <p:grpSpPr bwMode="auto">
            <a:xfrm>
              <a:off x="3767" y="3034"/>
              <a:ext cx="1922" cy="244"/>
              <a:chOff x="2212" y="3078"/>
              <a:chExt cx="1922" cy="244"/>
            </a:xfrm>
          </p:grpSpPr>
          <p:sp>
            <p:nvSpPr>
              <p:cNvPr id="50" name="Rectangle 72"/>
              <p:cNvSpPr>
                <a:spLocks noChangeArrowheads="1"/>
              </p:cNvSpPr>
              <p:nvPr/>
            </p:nvSpPr>
            <p:spPr bwMode="auto">
              <a:xfrm>
                <a:off x="2212" y="3078"/>
                <a:ext cx="1922" cy="2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" name="Line 73"/>
              <p:cNvSpPr>
                <a:spLocks noChangeShapeType="1"/>
              </p:cNvSpPr>
              <p:nvPr/>
            </p:nvSpPr>
            <p:spPr bwMode="auto">
              <a:xfrm>
                <a:off x="245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74"/>
              <p:cNvSpPr>
                <a:spLocks noChangeShapeType="1"/>
              </p:cNvSpPr>
              <p:nvPr/>
            </p:nvSpPr>
            <p:spPr bwMode="auto">
              <a:xfrm>
                <a:off x="273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75"/>
              <p:cNvSpPr>
                <a:spLocks noChangeShapeType="1"/>
              </p:cNvSpPr>
              <p:nvPr/>
            </p:nvSpPr>
            <p:spPr bwMode="auto">
              <a:xfrm>
                <a:off x="3021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76"/>
              <p:cNvSpPr>
                <a:spLocks noChangeShapeType="1"/>
              </p:cNvSpPr>
              <p:nvPr/>
            </p:nvSpPr>
            <p:spPr bwMode="auto">
              <a:xfrm>
                <a:off x="330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77"/>
              <p:cNvSpPr>
                <a:spLocks noChangeShapeType="1"/>
              </p:cNvSpPr>
              <p:nvPr/>
            </p:nvSpPr>
            <p:spPr bwMode="auto">
              <a:xfrm>
                <a:off x="358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78"/>
              <p:cNvSpPr>
                <a:spLocks noChangeShapeType="1"/>
              </p:cNvSpPr>
              <p:nvPr/>
            </p:nvSpPr>
            <p:spPr bwMode="auto">
              <a:xfrm>
                <a:off x="3872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7" name="Text Box 79"/>
            <p:cNvSpPr txBox="1">
              <a:spLocks noChangeArrowheads="1"/>
            </p:cNvSpPr>
            <p:nvPr/>
          </p:nvSpPr>
          <p:spPr bwMode="auto">
            <a:xfrm>
              <a:off x="3573" y="3017"/>
              <a:ext cx="2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8" name="Text Box 80"/>
            <p:cNvSpPr txBox="1">
              <a:spLocks noChangeArrowheads="1"/>
            </p:cNvSpPr>
            <p:nvPr/>
          </p:nvSpPr>
          <p:spPr bwMode="auto">
            <a:xfrm>
              <a:off x="3843" y="2840"/>
              <a:ext cx="17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c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e     f    g</a:t>
              </a:r>
            </a:p>
          </p:txBody>
        </p:sp>
        <p:sp>
          <p:nvSpPr>
            <p:cNvPr id="49" name="Text Box 81"/>
            <p:cNvSpPr txBox="1">
              <a:spLocks noChangeArrowheads="1"/>
            </p:cNvSpPr>
            <p:nvPr/>
          </p:nvSpPr>
          <p:spPr bwMode="auto">
            <a:xfrm>
              <a:off x="3836" y="3048"/>
              <a:ext cx="181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12   </a:t>
              </a:r>
              <a:r>
                <a:rPr lang="en-US" altLang="zh-CN" sz="2000" dirty="0">
                  <a:solidFill>
                    <a:srgbClr val="993300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     14</a:t>
              </a:r>
              <a:r>
                <a:rPr lang="en-US" altLang="zh-CN" sz="2000" dirty="0" smtClean="0">
                  <a:solidFill>
                    <a:srgbClr val="3333FF"/>
                  </a:solidFill>
                  <a:latin typeface="Times New Roman" panose="02020603050405020304" pitchFamily="18" charset="0"/>
                </a:rPr>
                <a:t>    20 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23  19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" name="Group 82"/>
          <p:cNvGrpSpPr>
            <a:grpSpLocks/>
          </p:cNvGrpSpPr>
          <p:nvPr/>
        </p:nvGrpSpPr>
        <p:grpSpPr bwMode="auto">
          <a:xfrm>
            <a:off x="5292725" y="4581525"/>
            <a:ext cx="3359150" cy="730250"/>
            <a:chOff x="3573" y="3249"/>
            <a:chExt cx="2116" cy="460"/>
          </a:xfrm>
        </p:grpSpPr>
        <p:grpSp>
          <p:nvGrpSpPr>
            <p:cNvPr id="58" name="Group 83"/>
            <p:cNvGrpSpPr>
              <a:grpSpLocks/>
            </p:cNvGrpSpPr>
            <p:nvPr/>
          </p:nvGrpSpPr>
          <p:grpSpPr bwMode="auto">
            <a:xfrm>
              <a:off x="3767" y="3443"/>
              <a:ext cx="1922" cy="244"/>
              <a:chOff x="2212" y="3078"/>
              <a:chExt cx="1922" cy="244"/>
            </a:xfrm>
          </p:grpSpPr>
          <p:sp>
            <p:nvSpPr>
              <p:cNvPr id="62" name="Rectangle 84"/>
              <p:cNvSpPr>
                <a:spLocks noChangeArrowheads="1"/>
              </p:cNvSpPr>
              <p:nvPr/>
            </p:nvSpPr>
            <p:spPr bwMode="auto">
              <a:xfrm>
                <a:off x="2212" y="3078"/>
                <a:ext cx="1922" cy="2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Line 85"/>
              <p:cNvSpPr>
                <a:spLocks noChangeShapeType="1"/>
              </p:cNvSpPr>
              <p:nvPr/>
            </p:nvSpPr>
            <p:spPr bwMode="auto">
              <a:xfrm>
                <a:off x="245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86"/>
              <p:cNvSpPr>
                <a:spLocks noChangeShapeType="1"/>
              </p:cNvSpPr>
              <p:nvPr/>
            </p:nvSpPr>
            <p:spPr bwMode="auto">
              <a:xfrm>
                <a:off x="273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87"/>
              <p:cNvSpPr>
                <a:spLocks noChangeShapeType="1"/>
              </p:cNvSpPr>
              <p:nvPr/>
            </p:nvSpPr>
            <p:spPr bwMode="auto">
              <a:xfrm>
                <a:off x="3021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88"/>
              <p:cNvSpPr>
                <a:spLocks noChangeShapeType="1"/>
              </p:cNvSpPr>
              <p:nvPr/>
            </p:nvSpPr>
            <p:spPr bwMode="auto">
              <a:xfrm>
                <a:off x="330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89"/>
              <p:cNvSpPr>
                <a:spLocks noChangeShapeType="1"/>
              </p:cNvSpPr>
              <p:nvPr/>
            </p:nvSpPr>
            <p:spPr bwMode="auto">
              <a:xfrm>
                <a:off x="358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90"/>
              <p:cNvSpPr>
                <a:spLocks noChangeShapeType="1"/>
              </p:cNvSpPr>
              <p:nvPr/>
            </p:nvSpPr>
            <p:spPr bwMode="auto">
              <a:xfrm>
                <a:off x="3872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" name="Text Box 91"/>
            <p:cNvSpPr txBox="1">
              <a:spLocks noChangeArrowheads="1"/>
            </p:cNvSpPr>
            <p:nvPr/>
          </p:nvSpPr>
          <p:spPr bwMode="auto">
            <a:xfrm>
              <a:off x="3573" y="3426"/>
              <a:ext cx="2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60" name="Text Box 92"/>
            <p:cNvSpPr txBox="1">
              <a:spLocks noChangeArrowheads="1"/>
            </p:cNvSpPr>
            <p:nvPr/>
          </p:nvSpPr>
          <p:spPr bwMode="auto">
            <a:xfrm>
              <a:off x="3843" y="3249"/>
              <a:ext cx="17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Times New Roman" panose="02020603050405020304" pitchFamily="18" charset="0"/>
                </a:rPr>
                <a:t>     </a:t>
              </a: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b     c     d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e </a:t>
              </a:r>
              <a:r>
                <a:rPr lang="en-US" altLang="zh-CN" sz="2000">
                  <a:latin typeface="Times New Roman" panose="02020603050405020304" pitchFamily="18" charset="0"/>
                </a:rPr>
                <a:t>    f    g</a:t>
              </a:r>
            </a:p>
          </p:txBody>
        </p:sp>
        <p:sp>
          <p:nvSpPr>
            <p:cNvPr id="61" name="Text Box 93"/>
            <p:cNvSpPr txBox="1">
              <a:spLocks noChangeArrowheads="1"/>
            </p:cNvSpPr>
            <p:nvPr/>
          </p:nvSpPr>
          <p:spPr bwMode="auto">
            <a:xfrm>
              <a:off x="3805" y="3457"/>
              <a:ext cx="18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12    9     14   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20 </a:t>
              </a:r>
              <a:r>
                <a:rPr lang="en-US" altLang="zh-CN" sz="2000" dirty="0" smtClean="0">
                  <a:solidFill>
                    <a:srgbClr val="3333FF"/>
                  </a:solidFill>
                  <a:latin typeface="Times New Roman" panose="02020603050405020304" pitchFamily="18" charset="0"/>
                </a:rPr>
                <a:t> 23  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19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" name="Group 94"/>
          <p:cNvGrpSpPr>
            <a:grpSpLocks/>
          </p:cNvGrpSpPr>
          <p:nvPr/>
        </p:nvGrpSpPr>
        <p:grpSpPr bwMode="auto">
          <a:xfrm>
            <a:off x="5365750" y="5516563"/>
            <a:ext cx="3290888" cy="730250"/>
            <a:chOff x="3619" y="3702"/>
            <a:chExt cx="2073" cy="460"/>
          </a:xfrm>
        </p:grpSpPr>
        <p:grpSp>
          <p:nvGrpSpPr>
            <p:cNvPr id="70" name="Group 95"/>
            <p:cNvGrpSpPr>
              <a:grpSpLocks/>
            </p:cNvGrpSpPr>
            <p:nvPr/>
          </p:nvGrpSpPr>
          <p:grpSpPr bwMode="auto">
            <a:xfrm>
              <a:off x="3770" y="3896"/>
              <a:ext cx="1922" cy="244"/>
              <a:chOff x="2212" y="3078"/>
              <a:chExt cx="1922" cy="244"/>
            </a:xfrm>
          </p:grpSpPr>
          <p:sp>
            <p:nvSpPr>
              <p:cNvPr id="74" name="Rectangle 96"/>
              <p:cNvSpPr>
                <a:spLocks noChangeArrowheads="1"/>
              </p:cNvSpPr>
              <p:nvPr/>
            </p:nvSpPr>
            <p:spPr bwMode="auto">
              <a:xfrm>
                <a:off x="2212" y="3078"/>
                <a:ext cx="1922" cy="2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5" name="Line 97"/>
              <p:cNvSpPr>
                <a:spLocks noChangeShapeType="1"/>
              </p:cNvSpPr>
              <p:nvPr/>
            </p:nvSpPr>
            <p:spPr bwMode="auto">
              <a:xfrm>
                <a:off x="245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Line 98"/>
              <p:cNvSpPr>
                <a:spLocks noChangeShapeType="1"/>
              </p:cNvSpPr>
              <p:nvPr/>
            </p:nvSpPr>
            <p:spPr bwMode="auto">
              <a:xfrm>
                <a:off x="273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Line 99"/>
              <p:cNvSpPr>
                <a:spLocks noChangeShapeType="1"/>
              </p:cNvSpPr>
              <p:nvPr/>
            </p:nvSpPr>
            <p:spPr bwMode="auto">
              <a:xfrm>
                <a:off x="3021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Line 100"/>
              <p:cNvSpPr>
                <a:spLocks noChangeShapeType="1"/>
              </p:cNvSpPr>
              <p:nvPr/>
            </p:nvSpPr>
            <p:spPr bwMode="auto">
              <a:xfrm>
                <a:off x="330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Line 101"/>
              <p:cNvSpPr>
                <a:spLocks noChangeShapeType="1"/>
              </p:cNvSpPr>
              <p:nvPr/>
            </p:nvSpPr>
            <p:spPr bwMode="auto">
              <a:xfrm>
                <a:off x="358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102"/>
              <p:cNvSpPr>
                <a:spLocks noChangeShapeType="1"/>
              </p:cNvSpPr>
              <p:nvPr/>
            </p:nvSpPr>
            <p:spPr bwMode="auto">
              <a:xfrm>
                <a:off x="3872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" name="Text Box 103"/>
            <p:cNvSpPr txBox="1">
              <a:spLocks noChangeArrowheads="1"/>
            </p:cNvSpPr>
            <p:nvPr/>
          </p:nvSpPr>
          <p:spPr bwMode="auto">
            <a:xfrm>
              <a:off x="3619" y="3879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72" name="Text Box 104"/>
            <p:cNvSpPr txBox="1">
              <a:spLocks noChangeArrowheads="1"/>
            </p:cNvSpPr>
            <p:nvPr/>
          </p:nvSpPr>
          <p:spPr bwMode="auto">
            <a:xfrm>
              <a:off x="3846" y="3702"/>
              <a:ext cx="17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Times New Roman" panose="02020603050405020304" pitchFamily="18" charset="0"/>
                </a:rPr>
                <a:t>     </a:t>
              </a: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b     c     d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e </a:t>
              </a:r>
              <a:r>
                <a:rPr lang="en-US" altLang="zh-CN" sz="2000">
                  <a:latin typeface="Times New Roman" panose="02020603050405020304" pitchFamily="18" charset="0"/>
                </a:rPr>
                <a:t>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f    </a:t>
              </a: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73" name="Text Box 105"/>
            <p:cNvSpPr txBox="1">
              <a:spLocks noChangeArrowheads="1"/>
            </p:cNvSpPr>
            <p:nvPr/>
          </p:nvSpPr>
          <p:spPr bwMode="auto">
            <a:xfrm>
              <a:off x="3806" y="3910"/>
              <a:ext cx="18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12    </a:t>
              </a:r>
              <a:r>
                <a:rPr lang="en-US" altLang="zh-CN" sz="2000" dirty="0">
                  <a:solidFill>
                    <a:srgbClr val="993300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     14    </a:t>
              </a:r>
              <a:r>
                <a:rPr lang="en-US" altLang="zh-CN" sz="2000" dirty="0">
                  <a:solidFill>
                    <a:srgbClr val="9933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dirty="0" smtClean="0">
                  <a:solidFill>
                    <a:srgbClr val="3333FF"/>
                  </a:solidFill>
                  <a:latin typeface="Times New Roman" panose="02020603050405020304" pitchFamily="18" charset="0"/>
                </a:rPr>
                <a:t>  22  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19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1" name="Group 198"/>
          <p:cNvGrpSpPr>
            <a:grpSpLocks/>
          </p:cNvGrpSpPr>
          <p:nvPr/>
        </p:nvGrpSpPr>
        <p:grpSpPr bwMode="auto">
          <a:xfrm>
            <a:off x="5364165" y="1844675"/>
            <a:ext cx="3306763" cy="723900"/>
            <a:chOff x="3606" y="2304"/>
            <a:chExt cx="2083" cy="456"/>
          </a:xfrm>
        </p:grpSpPr>
        <p:grpSp>
          <p:nvGrpSpPr>
            <p:cNvPr id="82" name="Group 199"/>
            <p:cNvGrpSpPr>
              <a:grpSpLocks/>
            </p:cNvGrpSpPr>
            <p:nvPr/>
          </p:nvGrpSpPr>
          <p:grpSpPr bwMode="auto">
            <a:xfrm>
              <a:off x="3767" y="2498"/>
              <a:ext cx="1922" cy="244"/>
              <a:chOff x="2212" y="3078"/>
              <a:chExt cx="1922" cy="244"/>
            </a:xfrm>
          </p:grpSpPr>
          <p:sp>
            <p:nvSpPr>
              <p:cNvPr id="86" name="Rectangle 200"/>
              <p:cNvSpPr>
                <a:spLocks noChangeArrowheads="1"/>
              </p:cNvSpPr>
              <p:nvPr/>
            </p:nvSpPr>
            <p:spPr bwMode="auto">
              <a:xfrm>
                <a:off x="2212" y="3078"/>
                <a:ext cx="1922" cy="2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7" name="Line 201"/>
              <p:cNvSpPr>
                <a:spLocks noChangeShapeType="1"/>
              </p:cNvSpPr>
              <p:nvPr/>
            </p:nvSpPr>
            <p:spPr bwMode="auto">
              <a:xfrm>
                <a:off x="245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202"/>
              <p:cNvSpPr>
                <a:spLocks noChangeShapeType="1"/>
              </p:cNvSpPr>
              <p:nvPr/>
            </p:nvSpPr>
            <p:spPr bwMode="auto">
              <a:xfrm>
                <a:off x="273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203"/>
              <p:cNvSpPr>
                <a:spLocks noChangeShapeType="1"/>
              </p:cNvSpPr>
              <p:nvPr/>
            </p:nvSpPr>
            <p:spPr bwMode="auto">
              <a:xfrm>
                <a:off x="3021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204"/>
              <p:cNvSpPr>
                <a:spLocks noChangeShapeType="1"/>
              </p:cNvSpPr>
              <p:nvPr/>
            </p:nvSpPr>
            <p:spPr bwMode="auto">
              <a:xfrm>
                <a:off x="330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205"/>
              <p:cNvSpPr>
                <a:spLocks noChangeShapeType="1"/>
              </p:cNvSpPr>
              <p:nvPr/>
            </p:nvSpPr>
            <p:spPr bwMode="auto">
              <a:xfrm>
                <a:off x="358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206"/>
              <p:cNvSpPr>
                <a:spLocks noChangeShapeType="1"/>
              </p:cNvSpPr>
              <p:nvPr/>
            </p:nvSpPr>
            <p:spPr bwMode="auto">
              <a:xfrm>
                <a:off x="3872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" name="Text Box 207"/>
            <p:cNvSpPr txBox="1">
              <a:spLocks noChangeArrowheads="1"/>
            </p:cNvSpPr>
            <p:nvPr/>
          </p:nvSpPr>
          <p:spPr bwMode="auto">
            <a:xfrm>
              <a:off x="3606" y="2481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4" name="Text Box 208"/>
            <p:cNvSpPr txBox="1">
              <a:spLocks noChangeArrowheads="1"/>
            </p:cNvSpPr>
            <p:nvPr/>
          </p:nvSpPr>
          <p:spPr bwMode="auto">
            <a:xfrm>
              <a:off x="3843" y="2304"/>
              <a:ext cx="17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Times New Roman" panose="02020603050405020304" pitchFamily="18" charset="0"/>
                </a:rPr>
                <a:t>     b 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c</a:t>
              </a:r>
              <a:r>
                <a:rPr lang="en-US" altLang="zh-CN" sz="2000">
                  <a:latin typeface="Times New Roman" panose="02020603050405020304" pitchFamily="18" charset="0"/>
                </a:rPr>
                <a:t>     d     e     f    g</a:t>
              </a:r>
            </a:p>
          </p:txBody>
        </p:sp>
        <p:sp>
          <p:nvSpPr>
            <p:cNvPr id="85" name="Text Box 209"/>
            <p:cNvSpPr txBox="1">
              <a:spLocks noChangeArrowheads="1"/>
            </p:cNvSpPr>
            <p:nvPr/>
          </p:nvSpPr>
          <p:spPr bwMode="auto">
            <a:xfrm>
              <a:off x="3825" y="2508"/>
              <a:ext cx="184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12    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 smtClean="0">
                  <a:solidFill>
                    <a:srgbClr val="3333FF"/>
                  </a:solidFill>
                  <a:latin typeface="Times New Roman" panose="02020603050405020304" pitchFamily="18" charset="0"/>
                </a:rPr>
                <a:t>14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23  </a:t>
              </a:r>
              <a:r>
                <a:rPr lang="zh-CN" altLang="zh-CN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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32</a:t>
              </a:r>
            </a:p>
          </p:txBody>
        </p:sp>
      </p:grpSp>
      <p:grpSp>
        <p:nvGrpSpPr>
          <p:cNvPr id="93" name="Group 210"/>
          <p:cNvGrpSpPr>
            <a:grpSpLocks/>
          </p:cNvGrpSpPr>
          <p:nvPr/>
        </p:nvGrpSpPr>
        <p:grpSpPr bwMode="auto">
          <a:xfrm>
            <a:off x="5364163" y="2779713"/>
            <a:ext cx="3306762" cy="730250"/>
            <a:chOff x="3606" y="2432"/>
            <a:chExt cx="2083" cy="460"/>
          </a:xfrm>
        </p:grpSpPr>
        <p:grpSp>
          <p:nvGrpSpPr>
            <p:cNvPr id="94" name="Group 211"/>
            <p:cNvGrpSpPr>
              <a:grpSpLocks/>
            </p:cNvGrpSpPr>
            <p:nvPr/>
          </p:nvGrpSpPr>
          <p:grpSpPr bwMode="auto">
            <a:xfrm>
              <a:off x="3767" y="2626"/>
              <a:ext cx="1922" cy="244"/>
              <a:chOff x="2212" y="3078"/>
              <a:chExt cx="1922" cy="244"/>
            </a:xfrm>
          </p:grpSpPr>
          <p:sp>
            <p:nvSpPr>
              <p:cNvPr id="98" name="Rectangle 212"/>
              <p:cNvSpPr>
                <a:spLocks noChangeArrowheads="1"/>
              </p:cNvSpPr>
              <p:nvPr/>
            </p:nvSpPr>
            <p:spPr bwMode="auto">
              <a:xfrm>
                <a:off x="2212" y="3078"/>
                <a:ext cx="1922" cy="2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9" name="Line 213"/>
              <p:cNvSpPr>
                <a:spLocks noChangeShapeType="1"/>
              </p:cNvSpPr>
              <p:nvPr/>
            </p:nvSpPr>
            <p:spPr bwMode="auto">
              <a:xfrm>
                <a:off x="245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214"/>
              <p:cNvSpPr>
                <a:spLocks noChangeShapeType="1"/>
              </p:cNvSpPr>
              <p:nvPr/>
            </p:nvSpPr>
            <p:spPr bwMode="auto">
              <a:xfrm>
                <a:off x="273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Line 215"/>
              <p:cNvSpPr>
                <a:spLocks noChangeShapeType="1"/>
              </p:cNvSpPr>
              <p:nvPr/>
            </p:nvSpPr>
            <p:spPr bwMode="auto">
              <a:xfrm>
                <a:off x="3021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Line 216"/>
              <p:cNvSpPr>
                <a:spLocks noChangeShapeType="1"/>
              </p:cNvSpPr>
              <p:nvPr/>
            </p:nvSpPr>
            <p:spPr bwMode="auto">
              <a:xfrm>
                <a:off x="3305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Line 217"/>
              <p:cNvSpPr>
                <a:spLocks noChangeShapeType="1"/>
              </p:cNvSpPr>
              <p:nvPr/>
            </p:nvSpPr>
            <p:spPr bwMode="auto">
              <a:xfrm>
                <a:off x="3588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Line 218"/>
              <p:cNvSpPr>
                <a:spLocks noChangeShapeType="1"/>
              </p:cNvSpPr>
              <p:nvPr/>
            </p:nvSpPr>
            <p:spPr bwMode="auto">
              <a:xfrm>
                <a:off x="3872" y="3078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5" name="Text Box 219"/>
            <p:cNvSpPr txBox="1">
              <a:spLocks noChangeArrowheads="1"/>
            </p:cNvSpPr>
            <p:nvPr/>
          </p:nvSpPr>
          <p:spPr bwMode="auto">
            <a:xfrm>
              <a:off x="3606" y="2609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6" name="Text Box 220"/>
            <p:cNvSpPr txBox="1">
              <a:spLocks noChangeArrowheads="1"/>
            </p:cNvSpPr>
            <p:nvPr/>
          </p:nvSpPr>
          <p:spPr bwMode="auto">
            <a:xfrm>
              <a:off x="3843" y="2432"/>
              <a:ext cx="17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Times New Roman" panose="02020603050405020304" pitchFamily="18" charset="0"/>
                </a:rPr>
                <a:t>     </a:t>
              </a: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Times New Roman" panose="02020603050405020304" pitchFamily="18" charset="0"/>
                </a:rPr>
                <a:t> 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c</a:t>
              </a:r>
              <a:r>
                <a:rPr lang="en-US" altLang="zh-CN" sz="2000">
                  <a:latin typeface="Times New Roman" panose="02020603050405020304" pitchFamily="18" charset="0"/>
                </a:rPr>
                <a:t>     d     e     f    g</a:t>
              </a:r>
            </a:p>
          </p:txBody>
        </p:sp>
        <p:sp>
          <p:nvSpPr>
            <p:cNvPr id="97" name="Text Box 221"/>
            <p:cNvSpPr txBox="1">
              <a:spLocks noChangeArrowheads="1"/>
            </p:cNvSpPr>
            <p:nvPr/>
          </p:nvSpPr>
          <p:spPr bwMode="auto">
            <a:xfrm>
              <a:off x="3807" y="2640"/>
              <a:ext cx="18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rgbClr val="993300"/>
                  </a:solidFill>
                  <a:latin typeface="Times New Roman" panose="02020603050405020304" pitchFamily="18" charset="0"/>
                </a:rPr>
                <a:t>12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solidFill>
                    <a:srgbClr val="993300"/>
                  </a:solidFill>
                  <a:latin typeface="Times New Roman" panose="02020603050405020304" pitchFamily="18" charset="0"/>
                </a:rPr>
                <a:t>9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     14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000" dirty="0" smtClean="0">
                  <a:latin typeface="Times New Roman" panose="02020603050405020304" pitchFamily="18" charset="0"/>
                </a:rPr>
                <a:t>23    </a:t>
              </a:r>
              <a:r>
                <a:rPr lang="en-US" altLang="zh-CN" sz="2000" dirty="0" smtClean="0">
                  <a:solidFill>
                    <a:srgbClr val="3333FF"/>
                  </a:solidFill>
                  <a:latin typeface="Times New Roman" panose="02020603050405020304" pitchFamily="18" charset="0"/>
                </a:rPr>
                <a:t>23  </a:t>
              </a:r>
              <a:r>
                <a:rPr lang="en-US" altLang="zh-CN" sz="2000" dirty="0" smtClean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19</a:t>
              </a:r>
              <a:endPara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5" name="文本框 104"/>
          <p:cNvSpPr txBox="1"/>
          <p:nvPr/>
        </p:nvSpPr>
        <p:spPr>
          <a:xfrm>
            <a:off x="235975" y="106617"/>
            <a:ext cx="58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3</a:t>
            </a:r>
            <a:r>
              <a:rPr lang="en-US" altLang="zh-CN" sz="3600" b="1" dirty="0" smtClean="0"/>
              <a:t>.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0239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2D162-CEF3-4B82-851C-008389060FDA}" type="slidenum">
              <a:rPr lang="en-GB" altLang="zh-CN" smtClean="0"/>
              <a:pPr/>
              <a:t>5</a:t>
            </a:fld>
            <a:endParaRPr lang="en-GB" altLang="zh-CN"/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42908"/>
            <a:ext cx="8690620" cy="604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4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/>
          </p:cNvSpPr>
          <p:nvPr>
            <p:ph type="title" idx="4294967295"/>
          </p:nvPr>
        </p:nvSpPr>
        <p:spPr>
          <a:xfrm>
            <a:off x="0" y="-99392"/>
            <a:ext cx="8748464" cy="3024188"/>
          </a:xfrm>
          <a:solidFill>
            <a:schemeClr val="bg1"/>
          </a:solidFill>
        </p:spPr>
        <p:txBody>
          <a:bodyPr/>
          <a:lstStyle/>
          <a:p>
            <a:pPr marL="625475" indent="-625475" algn="l">
              <a:lnSpc>
                <a:spcPct val="110000"/>
              </a:lnSpc>
            </a:pP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G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=(V,E)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是一个简单无向图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。若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二部图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且每一个顶点的度数都是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度，</a:t>
            </a:r>
            <a:b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32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V</a:t>
            </a:r>
            <a:r>
              <a:rPr lang="en-US" altLang="zh-CN" sz="32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作为二部图顶点集一个划分。</a:t>
            </a:r>
            <a:b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试证明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|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V</a:t>
            </a:r>
            <a:r>
              <a:rPr lang="en-US" altLang="zh-CN" sz="32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|=|V</a:t>
            </a:r>
            <a:r>
              <a:rPr lang="en-US" altLang="zh-CN" sz="32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|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3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07950" y="2842686"/>
            <a:ext cx="972063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804863" indent="-804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 sz="3200" b="1" dirty="0" smtClean="0"/>
              <a:t>证明：根据二分图的定义知：</a:t>
            </a:r>
          </a:p>
          <a:p>
            <a:pPr algn="l" eaLnBrk="1" hangingPunct="1">
              <a:lnSpc>
                <a:spcPct val="125000"/>
              </a:lnSpc>
            </a:pPr>
            <a:r>
              <a:rPr lang="zh-CN" altLang="en-US" sz="3200" b="1" dirty="0" smtClean="0"/>
              <a:t>          </a:t>
            </a:r>
            <a:r>
              <a:rPr lang="en-US" altLang="zh-CN" sz="3200" b="1" dirty="0" smtClean="0"/>
              <a:t>V</a:t>
            </a:r>
            <a:r>
              <a:rPr lang="en-US" altLang="zh-CN" sz="3200" b="1" baseline="-25000" dirty="0" smtClean="0"/>
              <a:t>1</a:t>
            </a:r>
            <a:r>
              <a:rPr lang="zh-CN" altLang="en-US" sz="3200" b="1" dirty="0" smtClean="0"/>
              <a:t>的每个顶点都是</a:t>
            </a:r>
            <a:r>
              <a:rPr lang="en-US" altLang="zh-CN" sz="3200" b="1" dirty="0" smtClean="0"/>
              <a:t>3</a:t>
            </a:r>
            <a:r>
              <a:rPr lang="zh-CN" altLang="en-US" sz="3200" b="1" dirty="0" smtClean="0"/>
              <a:t>度，故图有</a:t>
            </a:r>
            <a:r>
              <a:rPr lang="en-US" altLang="zh-CN" sz="3200" b="1" dirty="0" smtClean="0"/>
              <a:t>3|V</a:t>
            </a:r>
            <a:r>
              <a:rPr lang="en-US" altLang="zh-CN" sz="3200" b="1" baseline="-25000" dirty="0" smtClean="0"/>
              <a:t>1</a:t>
            </a:r>
            <a:r>
              <a:rPr lang="en-US" altLang="zh-CN" sz="3200" b="1" dirty="0" smtClean="0"/>
              <a:t>|</a:t>
            </a:r>
            <a:r>
              <a:rPr lang="zh-CN" altLang="en-US" sz="3200" b="1" dirty="0" smtClean="0"/>
              <a:t>条边。</a:t>
            </a:r>
          </a:p>
          <a:p>
            <a:pPr algn="l" eaLnBrk="1" hangingPunct="1">
              <a:lnSpc>
                <a:spcPct val="125000"/>
              </a:lnSpc>
            </a:pPr>
            <a:r>
              <a:rPr lang="en-US" altLang="zh-CN" sz="3200" b="1" dirty="0" smtClean="0"/>
              <a:t>          </a:t>
            </a:r>
            <a:r>
              <a:rPr lang="en-US" altLang="zh-CN" sz="3200" b="1" dirty="0"/>
              <a:t>V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的每个顶点都是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度，故</a:t>
            </a:r>
            <a:r>
              <a:rPr lang="zh-CN" altLang="en-US" sz="3200" b="1" dirty="0" smtClean="0"/>
              <a:t>图有</a:t>
            </a:r>
            <a:r>
              <a:rPr lang="en-US" altLang="zh-CN" sz="3200" b="1" dirty="0"/>
              <a:t>3|V</a:t>
            </a:r>
            <a:r>
              <a:rPr lang="en-US" altLang="zh-CN" sz="3200" b="1" baseline="-25000" dirty="0"/>
              <a:t>2</a:t>
            </a:r>
            <a:r>
              <a:rPr lang="en-US" altLang="zh-CN" sz="3200" b="1" dirty="0"/>
              <a:t>|</a:t>
            </a:r>
            <a:r>
              <a:rPr lang="zh-CN" altLang="en-US" sz="3200" b="1" dirty="0"/>
              <a:t>条边。</a:t>
            </a:r>
          </a:p>
          <a:p>
            <a:pPr algn="l" eaLnBrk="1" hangingPunct="1">
              <a:lnSpc>
                <a:spcPct val="125000"/>
              </a:lnSpc>
            </a:pPr>
            <a:r>
              <a:rPr lang="en-US" altLang="zh-CN" sz="3200" b="1" dirty="0"/>
              <a:t>         </a:t>
            </a:r>
            <a:r>
              <a:rPr lang="zh-CN" altLang="en-US" sz="3200" b="1" dirty="0"/>
              <a:t>于是</a:t>
            </a:r>
          </a:p>
          <a:p>
            <a:pPr algn="l" eaLnBrk="1" hangingPunct="1">
              <a:lnSpc>
                <a:spcPct val="125000"/>
              </a:lnSpc>
            </a:pPr>
            <a:r>
              <a:rPr lang="en-US" altLang="zh-CN" sz="3200" b="1" dirty="0"/>
              <a:t>                  3 |V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|=3|V</a:t>
            </a:r>
            <a:r>
              <a:rPr lang="en-US" altLang="zh-CN" sz="3200" b="1" baseline="-25000" dirty="0"/>
              <a:t>2</a:t>
            </a:r>
            <a:r>
              <a:rPr lang="en-US" altLang="zh-CN" sz="3200" b="1" dirty="0"/>
              <a:t>|</a:t>
            </a:r>
          </a:p>
          <a:p>
            <a:pPr algn="l" eaLnBrk="1" hangingPunct="1">
              <a:lnSpc>
                <a:spcPct val="125000"/>
              </a:lnSpc>
            </a:pPr>
            <a:r>
              <a:rPr lang="en-US" altLang="zh-CN" sz="3200" b="1" dirty="0" smtClean="0"/>
              <a:t>         </a:t>
            </a:r>
            <a:r>
              <a:rPr lang="zh-CN" altLang="en-US" sz="3200" b="1" dirty="0" smtClean="0"/>
              <a:t>即         </a:t>
            </a:r>
            <a:r>
              <a:rPr lang="en-US" altLang="zh-CN" sz="3200" b="1" dirty="0" smtClean="0"/>
              <a:t>|V</a:t>
            </a:r>
            <a:r>
              <a:rPr lang="en-US" altLang="zh-CN" sz="3200" b="1" baseline="-25000" dirty="0" smtClean="0"/>
              <a:t>1</a:t>
            </a:r>
            <a:r>
              <a:rPr lang="en-US" altLang="zh-CN" sz="3200" b="1" dirty="0" smtClean="0"/>
              <a:t>|=|V</a:t>
            </a:r>
            <a:r>
              <a:rPr lang="en-US" altLang="zh-CN" sz="3200" b="1" baseline="-25000" dirty="0" smtClean="0"/>
              <a:t>2</a:t>
            </a:r>
            <a:r>
              <a:rPr lang="en-US" altLang="zh-CN" sz="3200" b="1" dirty="0" smtClean="0"/>
              <a:t>|</a:t>
            </a:r>
            <a:endParaRPr lang="en-US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21585604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2D162-CEF3-4B82-851C-008389060FDA}" type="slidenum">
              <a:rPr lang="en-GB" altLang="zh-CN" smtClean="0"/>
              <a:pPr/>
              <a:t>7</a:t>
            </a:fld>
            <a:endParaRPr lang="en-GB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12776"/>
            <a:ext cx="8961927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6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511175"/>
          </a:xfrm>
        </p:spPr>
        <p:txBody>
          <a:bodyPr/>
          <a:lstStyle/>
          <a:p>
            <a:pPr algn="l"/>
            <a:r>
              <a:rPr lang="zh-CN" altLang="en-US" sz="4800"/>
              <a:t>练习九 </a:t>
            </a:r>
            <a:r>
              <a:rPr lang="en-US" altLang="zh-CN" sz="2800"/>
              <a:t>(p125)</a:t>
            </a:r>
          </a:p>
        </p:txBody>
      </p:sp>
      <p:sp>
        <p:nvSpPr>
          <p:cNvPr id="41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394980" y="368300"/>
            <a:ext cx="8280400" cy="2340272"/>
          </a:xfrm>
        </p:spPr>
        <p:txBody>
          <a:bodyPr/>
          <a:lstStyle/>
          <a:p>
            <a:pPr marL="625475" indent="-62547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个人，围坐一个圆桌的四周开会。已知，这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个人中的任意的两个人能认识其余的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个人，则这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个人围坐一圈能使每一个人都认识各自的左、右的邻人。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203848" y="2853035"/>
            <a:ext cx="475297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任意</a:t>
            </a:r>
            <a:r>
              <a:rPr lang="en-US" altLang="zh-CN"/>
              <a:t>1</a:t>
            </a:r>
            <a:r>
              <a:rPr lang="zh-CN" altLang="en-US"/>
              <a:t>个人能够认识</a:t>
            </a:r>
            <a:r>
              <a:rPr lang="en-US" altLang="zh-CN"/>
              <a:t>6</a:t>
            </a:r>
            <a:r>
              <a:rPr lang="zh-CN" altLang="en-US"/>
              <a:t>人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3203848" y="3861098"/>
            <a:ext cx="47529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任意</a:t>
            </a:r>
            <a:r>
              <a:rPr lang="en-US" altLang="zh-CN"/>
              <a:t>5</a:t>
            </a:r>
            <a:r>
              <a:rPr lang="zh-CN" altLang="en-US"/>
              <a:t>个人能够认识其余</a:t>
            </a:r>
            <a:r>
              <a:rPr lang="en-US" altLang="zh-CN"/>
              <a:t>7</a:t>
            </a:r>
            <a:r>
              <a:rPr lang="zh-CN" altLang="en-US"/>
              <a:t>人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3203848" y="3357860"/>
            <a:ext cx="475297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任意</a:t>
            </a:r>
            <a:r>
              <a:rPr lang="en-US" altLang="zh-CN"/>
              <a:t>6</a:t>
            </a:r>
            <a:r>
              <a:rPr lang="zh-CN" altLang="en-US"/>
              <a:t>个人能够认识其余</a:t>
            </a:r>
            <a:r>
              <a:rPr lang="en-US" altLang="zh-CN"/>
              <a:t>6</a:t>
            </a:r>
            <a:r>
              <a:rPr lang="zh-CN" altLang="en-US"/>
              <a:t>人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3203848" y="4365923"/>
            <a:ext cx="47529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任意</a:t>
            </a:r>
            <a:r>
              <a:rPr lang="en-US" altLang="zh-CN"/>
              <a:t>4</a:t>
            </a:r>
            <a:r>
              <a:rPr lang="zh-CN" altLang="en-US"/>
              <a:t>个人能够认识其余</a:t>
            </a:r>
            <a:r>
              <a:rPr lang="en-US" altLang="zh-CN"/>
              <a:t>8</a:t>
            </a:r>
            <a:r>
              <a:rPr lang="zh-CN" altLang="en-US"/>
              <a:t>人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203848" y="4869160"/>
            <a:ext cx="475297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任意</a:t>
            </a:r>
            <a:r>
              <a:rPr lang="en-US" altLang="zh-CN"/>
              <a:t>3</a:t>
            </a:r>
            <a:r>
              <a:rPr lang="zh-CN" altLang="en-US"/>
              <a:t>个人能够认识其余</a:t>
            </a:r>
            <a:r>
              <a:rPr lang="en-US" altLang="zh-CN"/>
              <a:t>9</a:t>
            </a:r>
            <a:r>
              <a:rPr lang="zh-CN" altLang="en-US"/>
              <a:t>人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3203848" y="5445423"/>
            <a:ext cx="47529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任意</a:t>
            </a:r>
            <a:r>
              <a:rPr lang="en-US" altLang="zh-CN"/>
              <a:t>2</a:t>
            </a:r>
            <a:r>
              <a:rPr lang="zh-CN" altLang="en-US"/>
              <a:t>个人能够认识其余</a:t>
            </a:r>
            <a:r>
              <a:rPr lang="en-US" altLang="zh-CN"/>
              <a:t>10</a:t>
            </a:r>
            <a:r>
              <a:rPr lang="zh-CN" altLang="en-US"/>
              <a:t>人</a:t>
            </a:r>
          </a:p>
        </p:txBody>
      </p: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1116286" y="2781598"/>
            <a:ext cx="1584325" cy="3024187"/>
          </a:xfrm>
          <a:prstGeom prst="flowChartExtra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90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8" grpId="0" animBg="1"/>
      <p:bldP spid="23559" grpId="0" animBg="1"/>
      <p:bldP spid="23560" grpId="0" animBg="1"/>
      <p:bldP spid="23561" grpId="0" animBg="1"/>
      <p:bldP spid="23562" grpId="0" animBg="1"/>
      <p:bldP spid="235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11175"/>
          </a:xfrm>
        </p:spPr>
        <p:txBody>
          <a:bodyPr/>
          <a:lstStyle/>
          <a:p>
            <a:pPr algn="l"/>
            <a:r>
              <a:rPr lang="zh-CN" altLang="en-US" sz="4800"/>
              <a:t>练习九 </a:t>
            </a:r>
            <a:r>
              <a:rPr lang="en-US" altLang="zh-CN" sz="2800"/>
              <a:t>(p125)</a:t>
            </a:r>
          </a:p>
        </p:txBody>
      </p:sp>
      <p:sp>
        <p:nvSpPr>
          <p:cNvPr id="51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1520" y="0"/>
            <a:ext cx="8568952" cy="6525344"/>
          </a:xfrm>
        </p:spPr>
        <p:txBody>
          <a:bodyPr/>
          <a:lstStyle/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</a:t>
            </a:r>
            <a:r>
              <a:rPr lang="zh-CN" altLang="en-US" dirty="0" smtClean="0"/>
              <a:t>解</a:t>
            </a:r>
            <a:r>
              <a:rPr lang="en-US" altLang="zh-CN" dirty="0"/>
              <a:t>:  </a:t>
            </a:r>
            <a:endParaRPr lang="en-US" altLang="zh-CN" dirty="0" smtClean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 smtClean="0"/>
              <a:t>      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题意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可以推出任意一个人最多不认识其他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人中的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人，即至少需要认识其他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人。否则，如果有一人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不认识其他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人中的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，则这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两个人都不认识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，从而他们不能认识其余的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人，不符合题意。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由此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，每人的度数至少为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，于是任意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两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人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的度数之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达到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，已超过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，即        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d(u)+d(v)</a:t>
            </a:r>
            <a:r>
              <a:rPr lang="en-US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≥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10+10=20</a:t>
            </a:r>
            <a:r>
              <a:rPr lang="en-US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≥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Hamilton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圈，使得这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个人围坐一圈能使每一个人都认识各自的左、右的邻人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332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2D162-CEF3-4B82-851C-008389060FDA}" type="slidenum">
              <a:rPr lang="en-GB" altLang="zh-CN" smtClean="0"/>
              <a:pPr/>
              <a:t>10</a:t>
            </a:fld>
            <a:endParaRPr lang="en-GB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" y="0"/>
            <a:ext cx="9121138" cy="37149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3613795"/>
            <a:ext cx="9073008" cy="324420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3347864" y="4869160"/>
            <a:ext cx="4032448" cy="21602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88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326612-7C15-41D3-BB02-490462E3EB17}" type="slidenum">
              <a:rPr lang="zh-CN" altLang="en-US" smtClean="0">
                <a:solidFill>
                  <a:schemeClr val="accent1"/>
                </a:solidFill>
              </a:rPr>
              <a:pPr/>
              <a:t>11</a:t>
            </a:fld>
            <a:r>
              <a:rPr lang="en-US" altLang="zh-CN" dirty="0" smtClean="0">
                <a:solidFill>
                  <a:schemeClr val="accent1"/>
                </a:solidFill>
              </a:rPr>
              <a:t>/49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 useBgFill="1">
        <p:nvSpPr>
          <p:cNvPr id="54275" name="Rectangle 2"/>
          <p:cNvSpPr>
            <a:spLocks noGrp="1"/>
          </p:cNvSpPr>
          <p:nvPr>
            <p:ph type="title" idx="4294967295"/>
          </p:nvPr>
        </p:nvSpPr>
        <p:spPr>
          <a:xfrm>
            <a:off x="0" y="-26988"/>
            <a:ext cx="9036496" cy="1871812"/>
          </a:xfrm>
        </p:spPr>
        <p:txBody>
          <a:bodyPr/>
          <a:lstStyle/>
          <a:p>
            <a:pPr marL="625475" indent="-625475" algn="l">
              <a:tabLst>
                <a:tab pos="722313" algn="l"/>
                <a:tab pos="806450" algn="l"/>
              </a:tabLst>
            </a:pPr>
            <a:r>
              <a:rPr lang="en-US" altLang="zh-CN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6. 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设 </a:t>
            </a:r>
            <a:r>
              <a:rPr lang="en-US" altLang="zh-CN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G=(V, E)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是</a:t>
            </a:r>
            <a:r>
              <a:rPr lang="zh-CN" altLang="en-US" sz="3200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一个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简单</a:t>
            </a:r>
            <a:r>
              <a:rPr lang="zh-CN" altLang="en-US" sz="3200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连通无向平面图，且</a:t>
            </a:r>
            <a:r>
              <a:rPr lang="en-US" altLang="zh-CN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|V|</a:t>
            </a:r>
            <a:r>
              <a:rPr lang="en-US" altLang="en-US" sz="3200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≥3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。试证明</a:t>
            </a:r>
            <a:r>
              <a:rPr lang="en-US" altLang="zh-CN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G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中至少存在两个度数小于等于</a:t>
            </a:r>
            <a:r>
              <a:rPr lang="en-US" altLang="zh-CN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的顶点？</a:t>
            </a:r>
            <a:endParaRPr lang="en-US" altLang="zh-CN" sz="3200" b="1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83683" name="Rectangle 3"/>
          <p:cNvSpPr>
            <a:spLocks noGrp="1"/>
          </p:cNvSpPr>
          <p:nvPr>
            <p:ph type="body" idx="4294967295"/>
          </p:nvPr>
        </p:nvSpPr>
        <p:spPr>
          <a:xfrm>
            <a:off x="0" y="1916832"/>
            <a:ext cx="8713788" cy="4032746"/>
          </a:xfrm>
        </p:spPr>
        <p:txBody>
          <a:bodyPr/>
          <a:lstStyle/>
          <a:p>
            <a:pPr marL="981075" indent="-981075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证明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：反证法。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记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|V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|=n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en-US" altLang="zh-CN" b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81075" indent="-981075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            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如果除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个顶点外，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顶点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的度数都≥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6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，</a:t>
            </a:r>
            <a:endParaRPr lang="en-US" altLang="zh-CN" b="1" dirty="0" smtClean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81075" indent="-981075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           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则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由握手定理，有</a:t>
            </a:r>
          </a:p>
          <a:p>
            <a:pPr marL="981075" indent="-981075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		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2m</a:t>
            </a:r>
            <a:r>
              <a:rPr lang="en-US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≥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6(n-1)+1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</a:p>
          <a:p>
            <a:pPr marL="1071563" indent="-1071563">
              <a:lnSpc>
                <a:spcPct val="110000"/>
              </a:lnSpc>
              <a:spcBef>
                <a:spcPts val="0"/>
              </a:spcBef>
              <a:buNone/>
              <a:tabLst>
                <a:tab pos="1071563" algn="l"/>
              </a:tabLst>
            </a:pP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            因为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是简单连通平面图，所以满足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必要条件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		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m</a:t>
            </a:r>
            <a:r>
              <a:rPr lang="en-US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≤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3n-6</a:t>
            </a:r>
            <a:endParaRPr lang="en-US" altLang="zh-CN" b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81075" indent="-981075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    	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于是得到   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6(n-1)+1</a:t>
            </a:r>
            <a:r>
              <a:rPr lang="en-US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en-US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≤2(3n-6)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，</a:t>
            </a:r>
            <a:endParaRPr lang="en-US" altLang="zh-CN" b="1" dirty="0" smtClean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981075" indent="-981075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       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矛盾。故</a:t>
            </a:r>
            <a:r>
              <a:rPr lang="en-US" altLang="zh-CN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中至少</a:t>
            </a:r>
            <a:r>
              <a:rPr lang="zh-CN" altLang="en-US" b="1" dirty="0" smtClean="0">
                <a:latin typeface="Calibri" panose="020F0502020204030204" pitchFamily="34" charset="0"/>
                <a:ea typeface="宋体" panose="02010600030101010101" pitchFamily="2" charset="-122"/>
              </a:rPr>
              <a:t>有两个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顶点的度数≤</a:t>
            </a:r>
            <a:r>
              <a:rPr lang="en-US" altLang="zh-CN" b="1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990892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 idx="4294967295"/>
          </p:nvPr>
        </p:nvSpPr>
        <p:spPr>
          <a:xfrm>
            <a:off x="0" y="-26988"/>
            <a:ext cx="9144000" cy="2087836"/>
          </a:xfrm>
          <a:solidFill>
            <a:schemeClr val="bg1"/>
          </a:solidFill>
        </p:spPr>
        <p:txBody>
          <a:bodyPr/>
          <a:lstStyle/>
          <a:p>
            <a:pPr marL="722313" indent="-722313" algn="l"/>
            <a:r>
              <a:rPr lang="en-US" altLang="zh-CN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某工厂生产由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不同颜色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的纱织成的双色布。已知在品种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中，每种颜色至少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分别和其它</a:t>
            </a:r>
            <a:r>
              <a:rPr lang="en-US" altLang="zh-CN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颜色中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颜色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搭配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。试证明存在挑出</a:t>
            </a:r>
            <a:r>
              <a:rPr lang="en-US" altLang="zh-CN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色布使得恰有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种不同颜色布的两组方案。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2719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34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2719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8213" name="Text Box 5"/>
          <p:cNvSpPr txBox="1">
            <a:spLocks noChangeArrowheads="1"/>
          </p:cNvSpPr>
          <p:nvPr/>
        </p:nvSpPr>
        <p:spPr bwMode="auto">
          <a:xfrm>
            <a:off x="53752" y="332656"/>
            <a:ext cx="9036496" cy="614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892175" indent="-8921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36575" indent="-536575" algn="l" eaLnBrk="1" hangingPunct="1">
              <a:spcBef>
                <a:spcPct val="10000"/>
              </a:spcBef>
            </a:pP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构造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G=(V,E)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不同的颜色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若两种颜色出现在双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色布品种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则它们对应的两个顶点之间有边连接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3200" b="1" dirty="0">
              <a:solidFill>
                <a:srgbClr val="33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36575" indent="-536575" algn="l" eaLnBrk="1" hangingPunct="1">
              <a:spcBef>
                <a:spcPct val="10000"/>
              </a:spcBef>
            </a:pP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中，任意一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个顶点的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度数至少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任意两个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顶点的度数之和至少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，即对于任意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endParaRPr lang="en-US" altLang="zh-CN" sz="3200" b="1" dirty="0" smtClean="0">
              <a:solidFill>
                <a:srgbClr val="33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36575" indent="-536575" algn="ctr" eaLnBrk="1" hangingPunct="1">
              <a:spcBef>
                <a:spcPct val="10000"/>
              </a:spcBef>
            </a:pP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d(u)+d(v)</a:t>
            </a:r>
            <a:r>
              <a:rPr lang="en-US" altLang="zh-CN" sz="3200" dirty="0"/>
              <a:t> </a:t>
            </a:r>
            <a:r>
              <a:rPr lang="en-US" altLang="zh-CN" sz="3200" dirty="0" smtClean="0"/>
              <a:t>≥ 4+4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=8</a:t>
            </a:r>
          </a:p>
          <a:p>
            <a:pPr marL="536575" indent="-536575" algn="l" eaLnBrk="1" hangingPunct="1">
              <a:spcBef>
                <a:spcPct val="10000"/>
              </a:spcBef>
            </a:pP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因此，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满足存在哈密顿回路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的充分条件。因此，在图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存在哈密顿回路。不妨设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回路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3200" b="1" dirty="0" err="1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a,b,c,d,e,f,g,h,a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。按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此回路可以找到两组“</a:t>
            </a:r>
            <a:r>
              <a:rPr lang="en-US" altLang="zh-CN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种双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色布”：</a:t>
            </a:r>
            <a:r>
              <a:rPr lang="en-US" altLang="zh-CN" sz="3200" b="1" dirty="0" err="1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ab,cd,ef,gh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，或</a:t>
            </a:r>
            <a:r>
              <a:rPr lang="en-US" altLang="zh-CN" sz="3200" b="1" dirty="0" err="1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bc,de,fg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ha,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它们各自</a:t>
            </a:r>
            <a:r>
              <a:rPr lang="zh-CN" altLang="en-US" sz="3200" b="1" dirty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</a:t>
            </a:r>
            <a:r>
              <a:rPr lang="zh-CN" altLang="en-US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3200" b="1" dirty="0" smtClean="0">
                <a:solidFill>
                  <a:srgbClr val="33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种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不同的颜色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的组成。</a:t>
            </a:r>
            <a:endParaRPr lang="en-US" altLang="zh-CN" sz="3200" b="1" dirty="0">
              <a:solidFill>
                <a:srgbClr val="33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088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02978" y="415206"/>
            <a:ext cx="8105526" cy="4525962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试用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两种图论方法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判断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个英文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单词：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eight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side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glass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time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eye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是否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可以分别构成这样的序列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使得相邻的两个单词中前一个单词的末字母等于后一个单词的首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字母，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并讨论两种方法的特点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58385" y="395953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8.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24019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2D162-CEF3-4B82-851C-008389060FDA}" type="slidenum">
              <a:rPr lang="en-GB" altLang="zh-CN" smtClean="0"/>
              <a:pPr/>
              <a:t>15</a:t>
            </a:fld>
            <a:endParaRPr lang="en-GB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9670"/>
            <a:ext cx="8435080" cy="668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7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5"/>
          <p:cNvGrpSpPr>
            <a:grpSpLocks/>
          </p:cNvGrpSpPr>
          <p:nvPr/>
        </p:nvGrpSpPr>
        <p:grpSpPr bwMode="auto">
          <a:xfrm>
            <a:off x="1835696" y="1991341"/>
            <a:ext cx="6612668" cy="3199242"/>
            <a:chOff x="748" y="345"/>
            <a:chExt cx="4536" cy="3085"/>
          </a:xfrm>
        </p:grpSpPr>
        <p:sp>
          <p:nvSpPr>
            <p:cNvPr id="9221" name="Oval 2"/>
            <p:cNvSpPr>
              <a:spLocks noChangeArrowheads="1"/>
            </p:cNvSpPr>
            <p:nvPr/>
          </p:nvSpPr>
          <p:spPr bwMode="auto">
            <a:xfrm>
              <a:off x="748" y="2672"/>
              <a:ext cx="998" cy="42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 smtClean="0"/>
                <a:t>side</a:t>
              </a:r>
              <a:endParaRPr lang="en-US" altLang="zh-CN" sz="2800" dirty="0"/>
            </a:p>
          </p:txBody>
        </p:sp>
        <p:sp>
          <p:nvSpPr>
            <p:cNvPr id="9222" name="Oval 3"/>
            <p:cNvSpPr>
              <a:spLocks noChangeArrowheads="1"/>
            </p:cNvSpPr>
            <p:nvPr/>
          </p:nvSpPr>
          <p:spPr bwMode="auto">
            <a:xfrm>
              <a:off x="2562" y="345"/>
              <a:ext cx="998" cy="40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 smtClean="0"/>
                <a:t>eye</a:t>
              </a:r>
              <a:endParaRPr lang="en-US" altLang="zh-CN" sz="2800" dirty="0"/>
            </a:p>
          </p:txBody>
        </p:sp>
        <p:sp>
          <p:nvSpPr>
            <p:cNvPr id="9223" name="Oval 4"/>
            <p:cNvSpPr>
              <a:spLocks noChangeArrowheads="1"/>
            </p:cNvSpPr>
            <p:nvPr/>
          </p:nvSpPr>
          <p:spPr bwMode="auto">
            <a:xfrm>
              <a:off x="793" y="962"/>
              <a:ext cx="998" cy="4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 smtClean="0"/>
                <a:t>glass</a:t>
              </a:r>
              <a:endParaRPr lang="en-US" altLang="zh-CN" sz="2800" dirty="0"/>
            </a:p>
          </p:txBody>
        </p:sp>
        <p:sp>
          <p:nvSpPr>
            <p:cNvPr id="9224" name="Line 5"/>
            <p:cNvSpPr>
              <a:spLocks noChangeShapeType="1"/>
            </p:cNvSpPr>
            <p:nvPr/>
          </p:nvSpPr>
          <p:spPr bwMode="auto">
            <a:xfrm flipV="1">
              <a:off x="1701" y="799"/>
              <a:ext cx="998" cy="187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" name="Line 6"/>
            <p:cNvSpPr>
              <a:spLocks noChangeShapeType="1"/>
            </p:cNvSpPr>
            <p:nvPr/>
          </p:nvSpPr>
          <p:spPr bwMode="auto">
            <a:xfrm flipV="1">
              <a:off x="3560" y="2115"/>
              <a:ext cx="861" cy="9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" name="Oval 7"/>
            <p:cNvSpPr>
              <a:spLocks noChangeArrowheads="1"/>
            </p:cNvSpPr>
            <p:nvPr/>
          </p:nvSpPr>
          <p:spPr bwMode="auto">
            <a:xfrm>
              <a:off x="2381" y="2931"/>
              <a:ext cx="1179" cy="49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 smtClean="0"/>
                <a:t>eight</a:t>
              </a:r>
              <a:endParaRPr lang="en-US" altLang="zh-CN" sz="2800" dirty="0"/>
            </a:p>
          </p:txBody>
        </p:sp>
        <p:sp>
          <p:nvSpPr>
            <p:cNvPr id="9228" name="Line 9"/>
            <p:cNvSpPr>
              <a:spLocks noChangeShapeType="1"/>
            </p:cNvSpPr>
            <p:nvPr/>
          </p:nvSpPr>
          <p:spPr bwMode="auto">
            <a:xfrm flipH="1">
              <a:off x="3020" y="799"/>
              <a:ext cx="0" cy="213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" name="Oval 10"/>
            <p:cNvSpPr>
              <a:spLocks noChangeArrowheads="1"/>
            </p:cNvSpPr>
            <p:nvPr/>
          </p:nvSpPr>
          <p:spPr bwMode="auto">
            <a:xfrm>
              <a:off x="4201" y="1485"/>
              <a:ext cx="1083" cy="63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 smtClean="0"/>
                <a:t>time</a:t>
              </a:r>
              <a:endParaRPr lang="en-US" altLang="zh-CN" sz="2800" dirty="0"/>
            </a:p>
          </p:txBody>
        </p:sp>
        <p:sp>
          <p:nvSpPr>
            <p:cNvPr id="9230" name="Line 11"/>
            <p:cNvSpPr>
              <a:spLocks noChangeShapeType="1"/>
            </p:cNvSpPr>
            <p:nvPr/>
          </p:nvSpPr>
          <p:spPr bwMode="auto">
            <a:xfrm flipH="1" flipV="1">
              <a:off x="3470" y="663"/>
              <a:ext cx="951" cy="82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Line 13"/>
            <p:cNvSpPr>
              <a:spLocks noChangeShapeType="1"/>
            </p:cNvSpPr>
            <p:nvPr/>
          </p:nvSpPr>
          <p:spPr bwMode="auto">
            <a:xfrm>
              <a:off x="1242" y="1389"/>
              <a:ext cx="9" cy="12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0" name="Text Box 16"/>
          <p:cNvSpPr txBox="1">
            <a:spLocks noChangeArrowheads="1"/>
          </p:cNvSpPr>
          <p:nvPr/>
        </p:nvSpPr>
        <p:spPr bwMode="auto">
          <a:xfrm>
            <a:off x="0" y="5499229"/>
            <a:ext cx="9144000" cy="954107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 smtClean="0"/>
              <a:t>有</a:t>
            </a:r>
            <a:r>
              <a:rPr lang="zh-CN" altLang="en-US" sz="2800" b="1" dirty="0"/>
              <a:t>两条</a:t>
            </a:r>
            <a:r>
              <a:rPr lang="zh-CN" altLang="en-US" sz="2800" b="1" dirty="0" smtClean="0"/>
              <a:t>哈密尔顿</a:t>
            </a:r>
            <a:r>
              <a:rPr lang="zh-CN" altLang="en-US" sz="2800" b="1" dirty="0"/>
              <a:t>通路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pPr algn="l" eaLnBrk="1" hangingPunct="1"/>
            <a:r>
              <a:rPr lang="en-US" altLang="zh-CN" sz="2800" b="1" dirty="0" smtClean="0"/>
              <a:t>glass-side-eye-eight-time</a:t>
            </a:r>
            <a:r>
              <a:rPr lang="zh-CN" altLang="en-US" sz="2800" b="1" dirty="0" smtClean="0"/>
              <a:t>，</a:t>
            </a:r>
            <a:r>
              <a:rPr lang="en-US" altLang="zh-CN" sz="2800" b="1" dirty="0" smtClean="0"/>
              <a:t>glass-side-eight-time-eye</a:t>
            </a:r>
            <a:endParaRPr lang="en-US" altLang="zh-CN" sz="2800" b="1" dirty="0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7494" y="54201"/>
            <a:ext cx="9055458" cy="1384995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074738" indent="-1074738" algn="l" eaLnBrk="1" hangingPunct="1"/>
            <a:r>
              <a:rPr lang="zh-CN" altLang="en-US" sz="2800" dirty="0" smtClean="0"/>
              <a:t>（一）以单词</a:t>
            </a:r>
            <a:r>
              <a:rPr lang="zh-CN" altLang="en-US" sz="2800" dirty="0"/>
              <a:t>为顶点。如果单词</a:t>
            </a:r>
            <a:r>
              <a:rPr lang="en-US" altLang="zh-CN" sz="2800" dirty="0"/>
              <a:t>1</a:t>
            </a:r>
            <a:r>
              <a:rPr lang="zh-CN" altLang="en-US" sz="2800" dirty="0"/>
              <a:t>的末字母等于单词</a:t>
            </a:r>
            <a:r>
              <a:rPr lang="en-US" altLang="zh-CN" sz="2800" dirty="0"/>
              <a:t>2</a:t>
            </a:r>
            <a:r>
              <a:rPr lang="zh-CN" altLang="en-US" sz="2800" dirty="0"/>
              <a:t>的首字母，则从单词</a:t>
            </a:r>
            <a:r>
              <a:rPr lang="en-US" altLang="zh-CN" sz="2800" dirty="0"/>
              <a:t>1</a:t>
            </a:r>
            <a:r>
              <a:rPr lang="zh-CN" altLang="en-US" sz="2800" dirty="0"/>
              <a:t>到单词</a:t>
            </a:r>
            <a:r>
              <a:rPr lang="en-US" altLang="zh-CN" sz="2800" dirty="0"/>
              <a:t>2</a:t>
            </a:r>
            <a:r>
              <a:rPr lang="zh-CN" altLang="en-US" sz="2800" dirty="0"/>
              <a:t>画一条有向边。</a:t>
            </a:r>
            <a:endParaRPr lang="en-US" altLang="zh-CN" sz="2800" dirty="0"/>
          </a:p>
          <a:p>
            <a:pPr eaLnBrk="1" hangingPunct="1"/>
            <a:r>
              <a:rPr lang="zh-CN" altLang="en-US" sz="2800" dirty="0" smtClean="0"/>
              <a:t>     问题转化为判断在图</a:t>
            </a:r>
            <a:r>
              <a:rPr lang="zh-CN" altLang="en-US" sz="2800" dirty="0"/>
              <a:t>中有没有哈密尔顿通路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3290600" y="4673104"/>
            <a:ext cx="925715" cy="17318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35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Oval 2"/>
          <p:cNvSpPr>
            <a:spLocks noChangeArrowheads="1"/>
          </p:cNvSpPr>
          <p:nvPr/>
        </p:nvSpPr>
        <p:spPr bwMode="auto">
          <a:xfrm>
            <a:off x="7709959" y="3306000"/>
            <a:ext cx="534451" cy="339024"/>
          </a:xfrm>
          <a:prstGeom prst="ellipse">
            <a:avLst/>
          </a:prstGeom>
          <a:solidFill>
            <a:srgbClr val="CC3300"/>
          </a:solidFill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dirty="0"/>
              <a:t>t</a:t>
            </a:r>
          </a:p>
        </p:txBody>
      </p:sp>
      <p:sp>
        <p:nvSpPr>
          <p:cNvPr id="8198" name="Oval 3"/>
          <p:cNvSpPr>
            <a:spLocks noChangeArrowheads="1"/>
          </p:cNvSpPr>
          <p:nvPr/>
        </p:nvSpPr>
        <p:spPr bwMode="auto">
          <a:xfrm>
            <a:off x="4098322" y="3624713"/>
            <a:ext cx="532962" cy="330206"/>
          </a:xfrm>
          <a:prstGeom prst="ellipse">
            <a:avLst/>
          </a:prstGeom>
          <a:solidFill>
            <a:srgbClr val="CC3300"/>
          </a:solidFill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dirty="0"/>
              <a:t>e</a:t>
            </a:r>
          </a:p>
        </p:txBody>
      </p:sp>
      <p:sp>
        <p:nvSpPr>
          <p:cNvPr id="8199" name="Oval 4"/>
          <p:cNvSpPr>
            <a:spLocks noChangeArrowheads="1"/>
          </p:cNvSpPr>
          <p:nvPr/>
        </p:nvSpPr>
        <p:spPr bwMode="auto">
          <a:xfrm>
            <a:off x="3815466" y="2057737"/>
            <a:ext cx="430240" cy="264557"/>
          </a:xfrm>
          <a:prstGeom prst="ellipse">
            <a:avLst/>
          </a:prstGeom>
          <a:solidFill>
            <a:srgbClr val="CC3300"/>
          </a:solidFill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dirty="0"/>
              <a:t>s</a:t>
            </a:r>
          </a:p>
        </p:txBody>
      </p:sp>
      <p:sp>
        <p:nvSpPr>
          <p:cNvPr id="8200" name="Oval 5"/>
          <p:cNvSpPr>
            <a:spLocks noChangeArrowheads="1"/>
          </p:cNvSpPr>
          <p:nvPr/>
        </p:nvSpPr>
        <p:spPr bwMode="auto">
          <a:xfrm>
            <a:off x="1434290" y="1941793"/>
            <a:ext cx="428752" cy="504617"/>
          </a:xfrm>
          <a:prstGeom prst="ellipse">
            <a:avLst/>
          </a:prstGeom>
          <a:solidFill>
            <a:srgbClr val="CC3300"/>
          </a:solidFill>
          <a:ln w="381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dirty="0"/>
              <a:t>g</a:t>
            </a:r>
          </a:p>
        </p:txBody>
      </p:sp>
      <p:sp>
        <p:nvSpPr>
          <p:cNvPr id="8201" name="Text Box 6"/>
          <p:cNvSpPr txBox="1">
            <a:spLocks noChangeArrowheads="1"/>
          </p:cNvSpPr>
          <p:nvPr/>
        </p:nvSpPr>
        <p:spPr bwMode="auto">
          <a:xfrm>
            <a:off x="2265707" y="4453657"/>
            <a:ext cx="598466" cy="3997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smtClean="0"/>
              <a:t>eye</a:t>
            </a:r>
            <a:endParaRPr lang="en-US" altLang="zh-CN" sz="2000" dirty="0"/>
          </a:p>
        </p:txBody>
      </p:sp>
      <p:sp>
        <p:nvSpPr>
          <p:cNvPr id="8202" name="Line 7"/>
          <p:cNvSpPr>
            <a:spLocks noChangeShapeType="1"/>
          </p:cNvSpPr>
          <p:nvPr/>
        </p:nvSpPr>
        <p:spPr bwMode="auto">
          <a:xfrm>
            <a:off x="4046005" y="2366109"/>
            <a:ext cx="203956" cy="124929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Line 8"/>
          <p:cNvSpPr>
            <a:spLocks noChangeShapeType="1"/>
          </p:cNvSpPr>
          <p:nvPr/>
        </p:nvSpPr>
        <p:spPr bwMode="auto">
          <a:xfrm>
            <a:off x="1907703" y="2171713"/>
            <a:ext cx="183332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Text Box 9"/>
          <p:cNvSpPr txBox="1">
            <a:spLocks noChangeArrowheads="1"/>
          </p:cNvSpPr>
          <p:nvPr/>
        </p:nvSpPr>
        <p:spPr bwMode="auto">
          <a:xfrm>
            <a:off x="2052821" y="2339423"/>
            <a:ext cx="784556" cy="3997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smtClean="0"/>
              <a:t>glass</a:t>
            </a:r>
            <a:endParaRPr lang="en-US" altLang="zh-CN" sz="2000" dirty="0"/>
          </a:p>
        </p:txBody>
      </p:sp>
      <p:sp>
        <p:nvSpPr>
          <p:cNvPr id="8205" name="Oval 10"/>
          <p:cNvSpPr>
            <a:spLocks noChangeArrowheads="1"/>
          </p:cNvSpPr>
          <p:nvPr/>
        </p:nvSpPr>
        <p:spPr bwMode="auto">
          <a:xfrm>
            <a:off x="2730188" y="3759931"/>
            <a:ext cx="1603352" cy="86127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6" name="Line 11"/>
          <p:cNvSpPr>
            <a:spLocks noChangeShapeType="1"/>
          </p:cNvSpPr>
          <p:nvPr/>
        </p:nvSpPr>
        <p:spPr bwMode="auto">
          <a:xfrm>
            <a:off x="3748473" y="3770709"/>
            <a:ext cx="321564" cy="8818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" name="Line 12"/>
          <p:cNvSpPr>
            <a:spLocks noChangeShapeType="1"/>
          </p:cNvSpPr>
          <p:nvPr/>
        </p:nvSpPr>
        <p:spPr bwMode="auto">
          <a:xfrm flipV="1">
            <a:off x="4689345" y="3498313"/>
            <a:ext cx="3020615" cy="28807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" name="Text Box 13"/>
          <p:cNvSpPr txBox="1">
            <a:spLocks noChangeArrowheads="1"/>
          </p:cNvSpPr>
          <p:nvPr/>
        </p:nvSpPr>
        <p:spPr bwMode="auto">
          <a:xfrm>
            <a:off x="3339410" y="2639538"/>
            <a:ext cx="656526" cy="3997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smtClean="0"/>
              <a:t>side</a:t>
            </a:r>
            <a:endParaRPr lang="en-US" altLang="zh-CN" sz="2000" dirty="0"/>
          </a:p>
        </p:txBody>
      </p:sp>
      <p:sp>
        <p:nvSpPr>
          <p:cNvPr id="8209" name="Text Box 14"/>
          <p:cNvSpPr txBox="1">
            <a:spLocks noChangeArrowheads="1"/>
          </p:cNvSpPr>
          <p:nvPr/>
        </p:nvSpPr>
        <p:spPr bwMode="auto">
          <a:xfrm>
            <a:off x="5954757" y="2204864"/>
            <a:ext cx="763714" cy="3997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smtClean="0"/>
              <a:t>time</a:t>
            </a:r>
            <a:endParaRPr lang="en-US" altLang="zh-CN" sz="2000" dirty="0"/>
          </a:p>
        </p:txBody>
      </p:sp>
      <p:sp>
        <p:nvSpPr>
          <p:cNvPr id="8210" name="Text Box 15"/>
          <p:cNvSpPr txBox="1">
            <a:spLocks noChangeArrowheads="1"/>
          </p:cNvSpPr>
          <p:nvPr/>
        </p:nvSpPr>
        <p:spPr bwMode="auto">
          <a:xfrm>
            <a:off x="6201885" y="3700160"/>
            <a:ext cx="741383" cy="3997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smtClean="0"/>
              <a:t>eight</a:t>
            </a:r>
            <a:endParaRPr lang="en-US" altLang="zh-CN" sz="2000" dirty="0"/>
          </a:p>
        </p:txBody>
      </p:sp>
      <p:sp>
        <p:nvSpPr>
          <p:cNvPr id="8211" name="Line 16"/>
          <p:cNvSpPr>
            <a:spLocks noChangeShapeType="1"/>
          </p:cNvSpPr>
          <p:nvPr/>
        </p:nvSpPr>
        <p:spPr bwMode="auto">
          <a:xfrm flipH="1">
            <a:off x="4602999" y="3456180"/>
            <a:ext cx="337940" cy="199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" name="Freeform 17"/>
          <p:cNvSpPr>
            <a:spLocks/>
          </p:cNvSpPr>
          <p:nvPr/>
        </p:nvSpPr>
        <p:spPr bwMode="auto">
          <a:xfrm>
            <a:off x="4659570" y="2496917"/>
            <a:ext cx="3224798" cy="1127796"/>
          </a:xfrm>
          <a:custGeom>
            <a:avLst/>
            <a:gdLst>
              <a:gd name="T0" fmla="*/ 0 w 2223"/>
              <a:gd name="T1" fmla="*/ 1148 h 1148"/>
              <a:gd name="T2" fmla="*/ 1543 w 2223"/>
              <a:gd name="T3" fmla="*/ 60 h 1148"/>
              <a:gd name="T4" fmla="*/ 2223 w 2223"/>
              <a:gd name="T5" fmla="*/ 786 h 1148"/>
              <a:gd name="T6" fmla="*/ 0 60000 65536"/>
              <a:gd name="T7" fmla="*/ 0 60000 65536"/>
              <a:gd name="T8" fmla="*/ 0 60000 65536"/>
              <a:gd name="T9" fmla="*/ 0 w 2223"/>
              <a:gd name="T10" fmla="*/ 0 h 1148"/>
              <a:gd name="T11" fmla="*/ 2223 w 2223"/>
              <a:gd name="T12" fmla="*/ 1148 h 11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3" h="1148">
                <a:moveTo>
                  <a:pt x="0" y="1148"/>
                </a:moveTo>
                <a:cubicBezTo>
                  <a:pt x="586" y="634"/>
                  <a:pt x="1173" y="120"/>
                  <a:pt x="1543" y="60"/>
                </a:cubicBezTo>
                <a:cubicBezTo>
                  <a:pt x="1913" y="0"/>
                  <a:pt x="2068" y="393"/>
                  <a:pt x="2223" y="78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" name="Text Box 18"/>
          <p:cNvSpPr txBox="1">
            <a:spLocks noChangeArrowheads="1"/>
          </p:cNvSpPr>
          <p:nvPr/>
        </p:nvSpPr>
        <p:spPr bwMode="auto">
          <a:xfrm>
            <a:off x="0" y="68913"/>
            <a:ext cx="9144000" cy="1384995"/>
          </a:xfrm>
          <a:prstGeom prst="rect">
            <a:avLst/>
          </a:prstGeom>
          <a:solidFill>
            <a:srgbClr val="FFC0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074738" indent="-1074738" algn="l" eaLnBrk="1" hangingPunct="1"/>
            <a:r>
              <a:rPr lang="zh-CN" altLang="en-US" sz="2800" dirty="0" smtClean="0"/>
              <a:t>（二）以单词</a:t>
            </a:r>
            <a:r>
              <a:rPr lang="zh-CN" altLang="en-US" sz="2800" dirty="0"/>
              <a:t>首</a:t>
            </a:r>
            <a:r>
              <a:rPr lang="zh-CN" altLang="en-US" sz="2800" dirty="0" smtClean="0"/>
              <a:t>字母及</a:t>
            </a:r>
            <a:r>
              <a:rPr lang="zh-CN" altLang="en-US" sz="2800" dirty="0"/>
              <a:t>末字母</a:t>
            </a:r>
            <a:r>
              <a:rPr lang="zh-CN" altLang="en-US" sz="2800" dirty="0" smtClean="0"/>
              <a:t>为</a:t>
            </a:r>
            <a:r>
              <a:rPr lang="zh-CN" altLang="en-US" sz="2800" dirty="0"/>
              <a:t>顶点</a:t>
            </a:r>
            <a:r>
              <a:rPr lang="zh-CN" altLang="en-US" sz="2800" dirty="0" smtClean="0"/>
              <a:t>。一个单词就对应着从首字母到</a:t>
            </a:r>
            <a:r>
              <a:rPr lang="zh-CN" altLang="en-US" sz="2800" dirty="0"/>
              <a:t>末</a:t>
            </a:r>
            <a:r>
              <a:rPr lang="zh-CN" altLang="en-US" sz="2800" dirty="0" smtClean="0"/>
              <a:t>字母的一</a:t>
            </a:r>
            <a:r>
              <a:rPr lang="zh-CN" altLang="en-US" sz="2800" dirty="0"/>
              <a:t>条有向边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1074738" indent="-1074738" algn="l" eaLnBrk="1" hangingPunct="1"/>
            <a:r>
              <a:rPr lang="en-US" altLang="zh-CN" sz="2800" dirty="0"/>
              <a:t> </a:t>
            </a:r>
            <a:r>
              <a:rPr lang="en-US" altLang="zh-CN" sz="2800" dirty="0" smtClean="0"/>
              <a:t>          </a:t>
            </a:r>
            <a:r>
              <a:rPr lang="zh-CN" altLang="en-US" sz="2800" dirty="0" smtClean="0"/>
              <a:t>问题转化为判断在</a:t>
            </a:r>
            <a:r>
              <a:rPr lang="zh-CN" altLang="en-US" sz="2800" dirty="0"/>
              <a:t>图中</a:t>
            </a:r>
            <a:r>
              <a:rPr lang="zh-CN" altLang="en-US" sz="2800" dirty="0" smtClean="0"/>
              <a:t>有没有欧拉通路。</a:t>
            </a:r>
            <a:endParaRPr lang="zh-CN" altLang="en-US" sz="2800" dirty="0"/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59284" y="5571237"/>
            <a:ext cx="9144000" cy="954107"/>
          </a:xfrm>
          <a:prstGeom prst="rect">
            <a:avLst/>
          </a:prstGeom>
          <a:solidFill>
            <a:srgbClr val="00B0F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 smtClean="0"/>
              <a:t>有</a:t>
            </a:r>
            <a:r>
              <a:rPr lang="zh-CN" altLang="en-US" sz="2800" b="1" dirty="0"/>
              <a:t>两</a:t>
            </a:r>
            <a:r>
              <a:rPr lang="zh-CN" altLang="en-US" sz="2800" b="1" dirty="0" smtClean="0"/>
              <a:t>条</a:t>
            </a:r>
            <a:r>
              <a:rPr lang="zh-CN" altLang="en-US" sz="2800" b="1" dirty="0"/>
              <a:t>欧拉</a:t>
            </a:r>
            <a:r>
              <a:rPr lang="zh-CN" altLang="en-US" sz="2800" b="1" dirty="0" smtClean="0"/>
              <a:t>通路：</a:t>
            </a:r>
            <a:endParaRPr lang="en-US" altLang="zh-CN" sz="2800" b="1" dirty="0" smtClean="0"/>
          </a:p>
          <a:p>
            <a:pPr algn="l" eaLnBrk="1" hangingPunct="1"/>
            <a:r>
              <a:rPr lang="en-US" altLang="zh-CN" sz="2800" b="1" dirty="0" smtClean="0"/>
              <a:t>glass-side-eye-eight-time</a:t>
            </a:r>
            <a:r>
              <a:rPr lang="zh-CN" altLang="en-US" sz="2800" b="1" dirty="0" smtClean="0"/>
              <a:t>，</a:t>
            </a:r>
            <a:r>
              <a:rPr lang="en-US" altLang="zh-CN" sz="2800" b="1" dirty="0" smtClean="0"/>
              <a:t>glass-side-eight-time-eye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24557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600" dirty="0" smtClean="0">
                <a:solidFill>
                  <a:schemeClr val="tx1"/>
                </a:solidFill>
              </a:rPr>
              <a:t>在本题中两种图论方法的特点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以单词为</a:t>
            </a:r>
            <a:r>
              <a:rPr lang="zh-CN" altLang="en-US" dirty="0" smtClean="0"/>
              <a:t>顶点构图，直观简单，问题</a:t>
            </a:r>
            <a:r>
              <a:rPr lang="zh-CN" altLang="en-US" dirty="0"/>
              <a:t>归结为判断在图中有没有哈密尔顿</a:t>
            </a:r>
            <a:r>
              <a:rPr lang="zh-CN" altLang="en-US" dirty="0" smtClean="0"/>
              <a:t>通路，不易求解。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以单词首字母及末字母为</a:t>
            </a:r>
            <a:r>
              <a:rPr lang="zh-CN" altLang="en-US" dirty="0" smtClean="0"/>
              <a:t>顶点构图，将单词与边对应，问题</a:t>
            </a:r>
            <a:r>
              <a:rPr lang="zh-CN" altLang="en-US" dirty="0"/>
              <a:t>归结为判断在图中有没有欧拉</a:t>
            </a:r>
            <a:r>
              <a:rPr lang="zh-CN" altLang="en-US" dirty="0" smtClean="0"/>
              <a:t>通路，容易求解。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68482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_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315645</TotalTime>
  <Words>1186</Words>
  <Application>Microsoft Office PowerPoint</Application>
  <PresentationFormat>全屏显示(4:3)</PresentationFormat>
  <Paragraphs>138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黑体</vt:lpstr>
      <vt:lpstr>宋体</vt:lpstr>
      <vt:lpstr>Arial</vt:lpstr>
      <vt:lpstr>Calibri</vt:lpstr>
      <vt:lpstr>Symbol</vt:lpstr>
      <vt:lpstr>Times New Roman</vt:lpstr>
      <vt:lpstr>Wingdings</vt:lpstr>
      <vt:lpstr>4_Office 主题</vt:lpstr>
      <vt:lpstr>PowerPoint 演示文稿</vt:lpstr>
      <vt:lpstr>1.  设G=(V,E)是一个简单图，若 G中每个顶点的度数均大于等于3，试证边数|E|不等于7。</vt:lpstr>
      <vt:lpstr>PowerPoint 演示文稿</vt:lpstr>
      <vt:lpstr>PowerPoint 演示文稿</vt:lpstr>
      <vt:lpstr>PowerPoint 演示文稿</vt:lpstr>
      <vt:lpstr>4. G=(V,E)是一个简单无向图。若G是一个二部图， 且每一个顶点的度数都是3度， {V1, V2}是G作为二部图顶点集一个划分。 试证明:   |V1|=|V2|。</vt:lpstr>
      <vt:lpstr>PowerPoint 演示文稿</vt:lpstr>
      <vt:lpstr>练习九 (p125)</vt:lpstr>
      <vt:lpstr>练习九 (p125)</vt:lpstr>
      <vt:lpstr>PowerPoint 演示文稿</vt:lpstr>
      <vt:lpstr>6.   设 G=(V, E)是一个简单的连通无向平面图，且|V| ≥3。试证明G中至少存在两个度数小于等于5的顶点？</vt:lpstr>
      <vt:lpstr>7. 某工厂生产由8种不同颜色的纱织成的双色布。已知在品种中，每种颜色至少分别和其它7种颜色中的4颜色搭配。试证明存在挑出4种双色布使得恰有8种不同颜色布的两组方案。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在本题中两种图论方法的特点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zhong</dc:creator>
  <cp:lastModifiedBy>jin zhong</cp:lastModifiedBy>
  <cp:revision>191</cp:revision>
  <dcterms:created xsi:type="dcterms:W3CDTF">2090-01-01T11:28:32Z</dcterms:created>
  <dcterms:modified xsi:type="dcterms:W3CDTF">2024-11-27T02:28:22Z</dcterms:modified>
</cp:coreProperties>
</file>