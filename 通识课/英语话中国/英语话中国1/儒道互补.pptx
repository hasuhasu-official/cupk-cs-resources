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4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65" r:id="rId3"/>
  </p:sldMasterIdLst>
  <p:notesMasterIdLst>
    <p:notesMasterId r:id="rId16"/>
  </p:notesMasterIdLst>
  <p:sldIdLst>
    <p:sldId id="258" r:id="rId4"/>
    <p:sldId id="259" r:id="rId5"/>
    <p:sldId id="260" r:id="rId6"/>
    <p:sldId id="270" r:id="rId7"/>
    <p:sldId id="268" r:id="rId8"/>
    <p:sldId id="256" r:id="rId9"/>
    <p:sldId id="283" r:id="rId10"/>
    <p:sldId id="282" r:id="rId11"/>
    <p:sldId id="284" r:id="rId12"/>
    <p:sldId id="261" r:id="rId13"/>
    <p:sldId id="263" r:id="rId14"/>
    <p:sldId id="281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D1E"/>
    <a:srgbClr val="681616"/>
    <a:srgbClr val="C22828"/>
    <a:srgbClr val="A9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1" autoAdjust="0"/>
    <p:restoredTop sz="92731" autoAdjust="0"/>
  </p:normalViewPr>
  <p:slideViewPr>
    <p:cSldViewPr snapToGrid="0" showGuides="1">
      <p:cViewPr varScale="1">
        <p:scale>
          <a:sx n="92" d="100"/>
          <a:sy n="92" d="100"/>
        </p:scale>
        <p:origin x="39" y="3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8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2024/3/13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2024/3/13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2024/3/13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17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5595C-8120-4021-89A5-D141E38874CB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5CED-0043-4D55-AD7C-EFE13B2AA8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5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3.png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7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microsoft.com/office/2007/relationships/hdphoto" Target="../media/hdphoto2.wdp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6160901" y="3861023"/>
            <a:ext cx="5640208" cy="1114246"/>
            <a:chOff x="2367280" y="2264475"/>
            <a:chExt cx="5640208" cy="1114246"/>
          </a:xfrm>
        </p:grpSpPr>
        <p:grpSp>
          <p:nvGrpSpPr>
            <p:cNvPr id="32" name="组合 31"/>
            <p:cNvGrpSpPr/>
            <p:nvPr/>
          </p:nvGrpSpPr>
          <p:grpSpPr>
            <a:xfrm>
              <a:off x="2367280" y="2358191"/>
              <a:ext cx="5640208" cy="865854"/>
              <a:chOff x="2900750" y="2608558"/>
              <a:chExt cx="4821767" cy="659120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2900750" y="2608558"/>
                <a:ext cx="4821767" cy="659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/>
                  <a:ea typeface="华文新魏" panose="02010800040101010101" charset="-122"/>
                  <a:sym typeface="Arial" panose="020B0604020202020204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2937663" y="2654963"/>
                <a:ext cx="4750109" cy="565808"/>
              </a:xfrm>
              <a:prstGeom prst="rect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/>
                  <a:ea typeface="华文新魏" panose="02010800040101010101" charset="-122"/>
                  <a:sym typeface="Arial" panose="020B0604020202020204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611514" y="2285477"/>
              <a:ext cx="796772" cy="1093244"/>
              <a:chOff x="8582779" y="2208994"/>
              <a:chExt cx="945628" cy="1297488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582779" y="2208994"/>
                <a:ext cx="945628" cy="1297488"/>
              </a:xfrm>
              <a:prstGeom prst="rect">
                <a:avLst/>
              </a:prstGeom>
              <a:effectLst>
                <a:softEdge rad="31750"/>
              </a:effectLst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8855631" y="2430303"/>
                <a:ext cx="399923" cy="767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 sz="320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华文新魏" panose="02010800040101010101" charset="-122"/>
                    <a:sym typeface="Arial" panose="020B0604020202020204"/>
                  </a:rPr>
                  <a:t>中国风</a:t>
                </a: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3609341" y="2264475"/>
              <a:ext cx="4397199" cy="838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3600" spc="600" dirty="0">
                  <a:solidFill>
                    <a:srgbClr val="2E2C38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儒道互补</a:t>
              </a:r>
              <a:endParaRPr lang="en-US" altLang="zh-CN" sz="3600" spc="600" dirty="0">
                <a:solidFill>
                  <a:srgbClr val="2E2C38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79969" y="1019947"/>
            <a:ext cx="73788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Complementary                Confucianism and     Taoism</a:t>
            </a:r>
            <a:endParaRPr lang="zh-CN" altLang="en-US" sz="5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76409" y="4991128"/>
            <a:ext cx="346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李佳琪 李颖杰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1" cstate="email"/>
          <a:srcRect/>
          <a:stretch>
            <a:fillRect/>
          </a:stretch>
        </p:blipFill>
        <p:spPr>
          <a:xfrm>
            <a:off x="-179582" y="4165600"/>
            <a:ext cx="12551164" cy="26924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006845" y="0"/>
            <a:ext cx="3250276" cy="6858000"/>
            <a:chOff x="8261004" y="0"/>
            <a:chExt cx="3250276" cy="6858000"/>
          </a:xfrm>
        </p:grpSpPr>
        <p:sp>
          <p:nvSpPr>
            <p:cNvPr id="6" name="矩形 5"/>
            <p:cNvSpPr/>
            <p:nvPr/>
          </p:nvSpPr>
          <p:spPr>
            <a:xfrm>
              <a:off x="8261004" y="0"/>
              <a:ext cx="3250276" cy="6858000"/>
            </a:xfrm>
            <a:prstGeom prst="rect">
              <a:avLst/>
            </a:prstGeom>
            <a:solidFill>
              <a:srgbClr val="8C1D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2" cstate="email">
              <a:lum bright="70000" contrast="-70000"/>
            </a:blip>
            <a:stretch>
              <a:fillRect/>
            </a:stretch>
          </p:blipFill>
          <p:spPr>
            <a:xfrm>
              <a:off x="8373348" y="690880"/>
              <a:ext cx="3025588" cy="302558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 rot="16200000">
              <a:off x="9385560" y="3425510"/>
              <a:ext cx="1015663" cy="30255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5400" spc="6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content</a:t>
              </a:r>
              <a:endParaRPr lang="zh-CN" altLang="en-US" sz="5400" spc="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3" cstate="email"/>
          <a:srcRect/>
          <a:stretch>
            <a:fillRect/>
          </a:stretch>
        </p:blipFill>
        <p:spPr>
          <a:xfrm flipH="1">
            <a:off x="690878" y="299720"/>
            <a:ext cx="1319672" cy="782320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4810316" y="537664"/>
            <a:ext cx="954064" cy="5112464"/>
            <a:chOff x="1585178" y="1635216"/>
            <a:chExt cx="954064" cy="5112464"/>
          </a:xfrm>
        </p:grpSpPr>
        <p:grpSp>
          <p:nvGrpSpPr>
            <p:cNvPr id="11" name="组合 10"/>
            <p:cNvGrpSpPr/>
            <p:nvPr/>
          </p:nvGrpSpPr>
          <p:grpSpPr>
            <a:xfrm>
              <a:off x="1585178" y="1635216"/>
              <a:ext cx="927996" cy="3506288"/>
              <a:chOff x="741898" y="1635216"/>
              <a:chExt cx="927996" cy="3506288"/>
            </a:xfrm>
          </p:grpSpPr>
          <p:sp>
            <p:nvSpPr>
              <p:cNvPr id="21" name="椭圆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741898" y="1635216"/>
                <a:ext cx="927996" cy="9279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8C1D1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rgbClr val="A92323"/>
                    </a:solidFill>
                    <a:latin typeface="Arial" panose="020B0604020202020204"/>
                    <a:ea typeface="华文新魏" panose="02010800040101010101" charset="-122"/>
                    <a:sym typeface="Arial" panose="020B0604020202020204"/>
                  </a:rPr>
                  <a:t>part1</a:t>
                </a:r>
                <a:endParaRPr lang="zh-CN" altLang="en-US" sz="1600" dirty="0">
                  <a:solidFill>
                    <a:srgbClr val="A92323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113563" y="2845344"/>
                <a:ext cx="461665" cy="229616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endParaRPr>
              </a:p>
            </p:txBody>
          </p:sp>
        </p:grpSp>
        <p:sp>
          <p:nvSpPr>
            <p:cNvPr id="19" name="椭圆 18"/>
            <p:cNvSpPr/>
            <p:nvPr>
              <p:custDataLst>
                <p:tags r:id="rId6"/>
              </p:custDataLst>
            </p:nvPr>
          </p:nvSpPr>
          <p:spPr>
            <a:xfrm>
              <a:off x="1585178" y="4442556"/>
              <a:ext cx="927996" cy="92799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C1D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A92323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part3</a:t>
              </a:r>
              <a:endParaRPr lang="zh-CN" altLang="en-US" sz="1600" dirty="0">
                <a:solidFill>
                  <a:srgbClr val="A92323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7"/>
              </p:custDataLst>
            </p:nvPr>
          </p:nvSpPr>
          <p:spPr>
            <a:xfrm>
              <a:off x="1585178" y="3065428"/>
              <a:ext cx="927996" cy="92799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C1D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A92323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part2</a:t>
              </a:r>
              <a:endParaRPr lang="zh-CN" altLang="en-US" sz="1600" dirty="0">
                <a:solidFill>
                  <a:srgbClr val="A92323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8"/>
              </p:custDataLst>
            </p:nvPr>
          </p:nvSpPr>
          <p:spPr>
            <a:xfrm>
              <a:off x="1611246" y="5819684"/>
              <a:ext cx="927996" cy="92799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C1D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A92323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part4</a:t>
              </a:r>
              <a:endParaRPr lang="zh-CN" altLang="en-US" sz="1600" dirty="0">
                <a:solidFill>
                  <a:srgbClr val="A92323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4" cstate="email"/>
          <a:srcRect/>
          <a:stretch>
            <a:fillRect/>
          </a:stretch>
        </p:blipFill>
        <p:spPr>
          <a:xfrm flipH="1">
            <a:off x="9613202" y="325301"/>
            <a:ext cx="1983946" cy="1176111"/>
          </a:xfrm>
          <a:prstGeom prst="rect">
            <a:avLst/>
          </a:prstGeom>
        </p:spPr>
      </p:pic>
      <p:sp>
        <p:nvSpPr>
          <p:cNvPr id="24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945211" y="678496"/>
            <a:ext cx="3952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differences and similarities between Confucianism and Taoism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5985164" y="2141197"/>
            <a:ext cx="391217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effectLst/>
                <a:latin typeface="Arial" panose="020B0604020202020204" pitchFamily="34" charset="0"/>
              </a:rPr>
              <a:t>confucianism and representative poet</a:t>
            </a:r>
            <a:endParaRPr lang="zh-CN" altLang="en-US" dirty="0"/>
          </a:p>
        </p:txBody>
      </p:sp>
      <p:sp>
        <p:nvSpPr>
          <p:cNvPr id="26" name="文本框 25"/>
          <p:cNvSpPr txBox="1"/>
          <p:nvPr>
            <p:custDataLst>
              <p:tags r:id="rId4"/>
            </p:custDataLst>
          </p:nvPr>
        </p:nvSpPr>
        <p:spPr>
          <a:xfrm>
            <a:off x="6015311" y="3624336"/>
            <a:ext cx="391217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effectLst/>
                <a:latin typeface="Arial" panose="020B0604020202020204" pitchFamily="34" charset="0"/>
              </a:rPr>
              <a:t>Taoism and representative poet</a:t>
            </a:r>
            <a:endParaRPr lang="zh-CN" altLang="en-US" dirty="0"/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6009151" y="4910452"/>
            <a:ext cx="38394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complementary  Confucianism  and     Taoism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7973178" y="-1256754"/>
            <a:ext cx="4218822" cy="8343354"/>
            <a:chOff x="7973178" y="-1485354"/>
            <a:chExt cx="4218822" cy="834335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8181474" y="2847474"/>
              <a:ext cx="4010526" cy="4010526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7973178" y="-1485354"/>
              <a:ext cx="3859840" cy="3588353"/>
              <a:chOff x="7973178" y="-1485354"/>
              <a:chExt cx="3859840" cy="3588353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5900"/>
                        </a14:imgEffect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8780000" flipH="1">
                <a:off x="8108921" y="-1621097"/>
                <a:ext cx="3588353" cy="3859840"/>
              </a:xfrm>
              <a:prstGeom prst="rect">
                <a:avLst/>
              </a:prstGeom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 rotWithShape="1">
              <a:blip r:embed="rId5" cstate="email"/>
              <a:srcRect/>
              <a:stretch>
                <a:fillRect/>
              </a:stretch>
            </p:blipFill>
            <p:spPr>
              <a:xfrm>
                <a:off x="9548419" y="497182"/>
                <a:ext cx="709355" cy="699726"/>
              </a:xfrm>
              <a:prstGeom prst="rect">
                <a:avLst/>
              </a:prstGeom>
            </p:spPr>
          </p:pic>
        </p:grpSp>
      </p:grpSp>
      <p:sp>
        <p:nvSpPr>
          <p:cNvPr id="2" name="椭圆 1"/>
          <p:cNvSpPr/>
          <p:nvPr/>
        </p:nvSpPr>
        <p:spPr>
          <a:xfrm>
            <a:off x="0" y="1537855"/>
            <a:ext cx="7214311" cy="45951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0" i="0" dirty="0">
                <a:effectLst/>
                <a:latin typeface="Arial" panose="020B0604020202020204" pitchFamily="34" charset="0"/>
              </a:rPr>
              <a:t>Benevolent governance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2945823" y="1537855"/>
            <a:ext cx="7626927" cy="4595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5858" y="3010995"/>
            <a:ext cx="2660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benevolent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zh-CN" altLang="en-US" b="1" i="0" dirty="0">
                <a:solidFill>
                  <a:schemeClr val="accent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仁慈的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b="0" i="0" dirty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governance</a:t>
            </a:r>
          </a:p>
          <a:p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human is kind by nature</a:t>
            </a:r>
          </a:p>
          <a:p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（人性本善）</a:t>
            </a:r>
            <a:endParaRPr lang="en-US" altLang="zh-CN" b="1" dirty="0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-apple-system"/>
              </a:rPr>
              <a:t>a</a:t>
            </a:r>
            <a:r>
              <a:rPr lang="en-US" altLang="zh-CN" b="0" i="0" dirty="0">
                <a:solidFill>
                  <a:schemeClr val="accent2">
                    <a:lumMod val="75000"/>
                  </a:schemeClr>
                </a:solidFill>
                <a:effectLst/>
                <a:latin typeface="-apple-system"/>
              </a:rPr>
              <a:t>ctively improving society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endParaRPr lang="zh-CN" altLang="en-US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18203" y="725034"/>
            <a:ext cx="2774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Confucianism</a:t>
            </a:r>
            <a:endParaRPr lang="zh-CN" altLang="en-US" sz="28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54722" y="655894"/>
            <a:ext cx="2494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Taoism</a:t>
            </a:r>
            <a:endParaRPr lang="zh-CN" altLang="en-US" sz="28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64532" y="2963727"/>
            <a:ext cx="3408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  <a:latin typeface="Arial" panose="020B0604020202020204" pitchFamily="34" charset="0"/>
              </a:rPr>
              <a:t>govern by doing nothing that goes against nature</a:t>
            </a:r>
          </a:p>
          <a:p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the essence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本质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of human nature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（人性本真）</a:t>
            </a:r>
            <a:endParaRPr lang="en-US" altLang="zh-CN" b="1" dirty="0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-apple-system"/>
              </a:rPr>
              <a:t>l</a:t>
            </a:r>
            <a:r>
              <a:rPr lang="en-US" altLang="zh-CN" b="0" i="0" dirty="0">
                <a:solidFill>
                  <a:schemeClr val="accent2">
                    <a:lumMod val="75000"/>
                  </a:schemeClr>
                </a:solidFill>
                <a:effectLst/>
                <a:latin typeface="-apple-system"/>
              </a:rPr>
              <a:t>et nature take its course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07155" y="2456997"/>
            <a:ext cx="32575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  <a:latin typeface="-apple-system"/>
              </a:rPr>
              <a:t>a</a:t>
            </a:r>
            <a:r>
              <a:rPr lang="en-US" altLang="zh-CN" b="0" i="0" dirty="0">
                <a:solidFill>
                  <a:schemeClr val="accent4"/>
                </a:solidFill>
                <a:effectLst/>
                <a:latin typeface="-apple-system"/>
              </a:rPr>
              <a:t>dvocate for social harmony and order</a:t>
            </a:r>
          </a:p>
          <a:p>
            <a:r>
              <a:rPr lang="en-US" altLang="zh-CN" dirty="0">
                <a:solidFill>
                  <a:srgbClr val="8C1D1E"/>
                </a:solidFill>
                <a:latin typeface="-apple-system"/>
              </a:rPr>
              <a:t>e</a:t>
            </a:r>
            <a:r>
              <a:rPr lang="en-US" altLang="zh-CN" b="0" i="0" dirty="0">
                <a:solidFill>
                  <a:srgbClr val="8C1D1E"/>
                </a:solidFill>
                <a:effectLst/>
                <a:latin typeface="-apple-system"/>
              </a:rPr>
              <a:t>mphasize the improvement of individual cultivation(</a:t>
            </a:r>
            <a:r>
              <a:rPr lang="zh-CN" altLang="en-US" sz="1600" b="1" i="0" dirty="0">
                <a:solidFill>
                  <a:srgbClr val="8C1D1E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培养</a:t>
            </a:r>
            <a:r>
              <a:rPr lang="en-US" altLang="zh-CN" b="0" i="0" dirty="0">
                <a:solidFill>
                  <a:srgbClr val="8C1D1E"/>
                </a:solidFill>
                <a:effectLst/>
                <a:latin typeface="-apple-system"/>
              </a:rPr>
              <a:t>) and spiritual realm</a:t>
            </a:r>
            <a:r>
              <a:rPr lang="zh-CN" altLang="en-US" b="0" i="0" dirty="0">
                <a:solidFill>
                  <a:srgbClr val="8C1D1E"/>
                </a:solidFill>
                <a:effectLst/>
                <a:latin typeface="-apple-system"/>
              </a:rPr>
              <a:t>（</a:t>
            </a:r>
            <a:r>
              <a:rPr lang="zh-CN" altLang="en-US" sz="1600" b="1" dirty="0">
                <a:solidFill>
                  <a:srgbClr val="8C1D1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领域</a:t>
            </a:r>
            <a:r>
              <a:rPr lang="zh-CN" altLang="en-US" b="0" i="0" dirty="0">
                <a:solidFill>
                  <a:srgbClr val="8C1D1E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8C1D1E"/>
              </a:solidFill>
              <a:effectLst/>
              <a:latin typeface="-apple-system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-apple-system"/>
              </a:rPr>
              <a:t>t</a:t>
            </a:r>
            <a:r>
              <a:rPr lang="en-US" altLang="zh-CN" b="0" i="0" dirty="0">
                <a:solidFill>
                  <a:schemeClr val="bg2">
                    <a:lumMod val="25000"/>
                  </a:schemeClr>
                </a:solidFill>
                <a:effectLst/>
                <a:latin typeface="-apple-system"/>
              </a:rPr>
              <a:t>o conduct in-depth exploration and research on the universe and life</a:t>
            </a:r>
          </a:p>
          <a:p>
            <a:r>
              <a:rPr lang="en-US" altLang="zh-CN" dirty="0">
                <a:solidFill>
                  <a:srgbClr val="7030A0"/>
                </a:solidFill>
                <a:latin typeface="-apple-system"/>
              </a:rPr>
              <a:t>e</a:t>
            </a:r>
            <a:r>
              <a:rPr lang="en-US" altLang="zh-CN" b="0" i="0" dirty="0">
                <a:solidFill>
                  <a:srgbClr val="7030A0"/>
                </a:solidFill>
                <a:effectLst/>
                <a:latin typeface="-apple-system"/>
              </a:rPr>
              <a:t>mphasize family ethics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-apple-system"/>
              </a:rPr>
              <a:t>（</a:t>
            </a:r>
            <a:r>
              <a:rPr lang="zh-CN" altLang="en-US" b="1" i="0" dirty="0">
                <a:solidFill>
                  <a:srgbClr val="7030A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伦理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-apple-system"/>
              </a:rPr>
              <a:t>）</a:t>
            </a:r>
            <a:r>
              <a:rPr lang="en-US" altLang="zh-CN" b="0" i="0" dirty="0">
                <a:solidFill>
                  <a:srgbClr val="7030A0"/>
                </a:solidFill>
                <a:effectLst/>
                <a:latin typeface="-apple-system"/>
              </a:rPr>
              <a:t> and social responsibility</a:t>
            </a:r>
            <a:endParaRPr lang="zh-CN" altLang="en-US" dirty="0">
              <a:solidFill>
                <a:srgbClr val="7030A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5920" y="92008"/>
            <a:ext cx="1104900" cy="1104900"/>
            <a:chOff x="8729979" y="817399"/>
            <a:chExt cx="1356360" cy="1356360"/>
          </a:xfrm>
        </p:grpSpPr>
        <p:sp>
          <p:nvSpPr>
            <p:cNvPr id="24" name="椭圆 23"/>
            <p:cNvSpPr/>
            <p:nvPr/>
          </p:nvSpPr>
          <p:spPr>
            <a:xfrm>
              <a:off x="8729979" y="817399"/>
              <a:ext cx="1356360" cy="1356360"/>
            </a:xfrm>
            <a:prstGeom prst="ellipse">
              <a:avLst/>
            </a:prstGeom>
            <a:noFill/>
            <a:ln>
              <a:solidFill>
                <a:srgbClr val="A923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accent3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839200" y="985520"/>
              <a:ext cx="1137920" cy="1020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rgbClr val="8C1D1E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5305778" y="-1298863"/>
            <a:ext cx="6886222" cy="68580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0657" y="55593"/>
            <a:ext cx="5973716" cy="1104900"/>
            <a:chOff x="70657" y="55593"/>
            <a:chExt cx="6219251" cy="1104900"/>
          </a:xfrm>
        </p:grpSpPr>
        <p:grpSp>
          <p:nvGrpSpPr>
            <p:cNvPr id="14" name="组合 13"/>
            <p:cNvGrpSpPr/>
            <p:nvPr/>
          </p:nvGrpSpPr>
          <p:grpSpPr>
            <a:xfrm>
              <a:off x="70657" y="55593"/>
              <a:ext cx="1104900" cy="1104900"/>
              <a:chOff x="9125407" y="747241"/>
              <a:chExt cx="1356360" cy="135636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9125407" y="747241"/>
                <a:ext cx="1356360" cy="1356360"/>
              </a:xfrm>
              <a:prstGeom prst="ellipse">
                <a:avLst/>
              </a:prstGeom>
              <a:noFill/>
              <a:ln>
                <a:solidFill>
                  <a:srgbClr val="A923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schemeClr val="accent3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234626" y="864342"/>
                <a:ext cx="1137920" cy="102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800" dirty="0">
                    <a:solidFill>
                      <a:srgbClr val="8C1D1E"/>
                    </a:solidFill>
                    <a:latin typeface="Arial" panose="020B0604020202020204"/>
                    <a:ea typeface="华文新魏" panose="02010800040101010101" charset="-122"/>
                    <a:sym typeface="Arial" panose="020B0604020202020204"/>
                  </a:rPr>
                  <a:t>贰</a:t>
                </a: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1305532" y="373176"/>
              <a:ext cx="49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spc="600" dirty="0">
                  <a:solidFill>
                    <a:srgbClr val="8C1D1E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Confucianism(</a:t>
              </a:r>
              <a:r>
                <a:rPr lang="zh-CN" altLang="en-US" sz="2400" spc="600" dirty="0">
                  <a:solidFill>
                    <a:srgbClr val="8C1D1E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儒家思想</a:t>
              </a:r>
              <a:r>
                <a:rPr lang="en-US" altLang="zh-CN" sz="2400" spc="600" dirty="0">
                  <a:solidFill>
                    <a:srgbClr val="8C1D1E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)</a:t>
              </a:r>
              <a:endParaRPr lang="zh-CN" altLang="en-US" sz="2400" spc="600" dirty="0">
                <a:solidFill>
                  <a:srgbClr val="8C1D1E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3776" y="1298863"/>
            <a:ext cx="69535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8C1D1E"/>
                </a:solidFill>
                <a:latin typeface="Arial Rounded MT Bold" panose="020F0704030504030204" pitchFamily="34" charset="0"/>
              </a:rPr>
              <a:t>Representative  poet</a:t>
            </a:r>
            <a:r>
              <a:rPr lang="zh-CN" altLang="en-US" sz="2000" dirty="0">
                <a:solidFill>
                  <a:srgbClr val="8C1D1E"/>
                </a:solidFill>
                <a:latin typeface="Arial Rounded MT Bold" panose="020F0704030504030204" pitchFamily="34" charset="0"/>
              </a:rPr>
              <a:t>：</a:t>
            </a:r>
            <a:r>
              <a:rPr lang="en-US" altLang="zh-CN" sz="2000" dirty="0">
                <a:solidFill>
                  <a:srgbClr val="8C1D1E"/>
                </a:solidFill>
                <a:latin typeface="Arial Rounded MT Bold" panose="020F0704030504030204" pitchFamily="34" charset="0"/>
              </a:rPr>
              <a:t>Du Fu</a:t>
            </a:r>
          </a:p>
          <a:p>
            <a:endParaRPr lang="en-US" altLang="zh-CN" sz="2000" dirty="0">
              <a:solidFill>
                <a:srgbClr val="8C1D1E"/>
              </a:solidFill>
              <a:latin typeface="Arial Rounded MT Bold" panose="020F0704030504030204" pitchFamily="34" charset="0"/>
            </a:endParaRPr>
          </a:p>
          <a:p>
            <a:r>
              <a:rPr lang="en-US" altLang="zh-CN" sz="2000" dirty="0">
                <a:latin typeface="-apple-system"/>
              </a:rPr>
              <a:t>1.</a:t>
            </a:r>
            <a:r>
              <a:rPr lang="zh-CN" altLang="en-US" sz="2000" dirty="0">
                <a:latin typeface="-apple-system"/>
              </a:rPr>
              <a:t>“</a:t>
            </a:r>
            <a:r>
              <a:rPr lang="en-US" altLang="zh-CN" sz="2000" dirty="0">
                <a:latin typeface="-apple-system"/>
              </a:rPr>
              <a:t> The cloth quilt has been covered for many years, cold and hard like an iron plate. The child</a:t>
            </a:r>
            <a:r>
              <a:rPr lang="zh-CN" altLang="en-US" sz="2000" dirty="0">
                <a:latin typeface="-apple-system"/>
              </a:rPr>
              <a:t>’</a:t>
            </a:r>
            <a:r>
              <a:rPr lang="en-US" altLang="zh-CN" sz="2000" dirty="0">
                <a:latin typeface="-apple-system"/>
              </a:rPr>
              <a:t>s sleeping posture is not good, and the quilt is broken. In case of rain, there is no dry place in the whole room, and raindrops keep leaking</a:t>
            </a:r>
            <a:r>
              <a:rPr lang="zh-CN" altLang="en-US" sz="2000" dirty="0">
                <a:latin typeface="-apple-system"/>
              </a:rPr>
              <a:t>（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漏</a:t>
            </a:r>
            <a:r>
              <a:rPr lang="zh-CN" altLang="en-US" sz="2000" dirty="0">
                <a:latin typeface="-apple-system"/>
              </a:rPr>
              <a:t>）</a:t>
            </a:r>
            <a:r>
              <a:rPr lang="en-US" altLang="zh-CN" sz="2000" dirty="0">
                <a:latin typeface="-apple-system"/>
              </a:rPr>
              <a:t> down like drooping twines(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细绳</a:t>
            </a:r>
            <a:r>
              <a:rPr lang="en-US" altLang="zh-CN" sz="2000" dirty="0">
                <a:latin typeface="-apple-system"/>
              </a:rPr>
              <a:t>).</a:t>
            </a:r>
            <a:r>
              <a:rPr lang="zh-CN" altLang="en-US" sz="2000" dirty="0">
                <a:latin typeface="-apple-system"/>
              </a:rPr>
              <a:t>”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茅屋为秋风所破歌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p</a:t>
            </a:r>
            <a:r>
              <a:rPr lang="en-US" altLang="zh-CN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ay attention to social reality</a:t>
            </a:r>
          </a:p>
          <a:p>
            <a:r>
              <a:rPr lang="en-US" altLang="zh-CN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care about the suffering of the people</a:t>
            </a: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a</a:t>
            </a:r>
            <a:r>
              <a:rPr lang="en-US" altLang="zh-CN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benevolent heart and a caring heart for the world</a:t>
            </a:r>
          </a:p>
          <a:p>
            <a:endParaRPr lang="en-US" altLang="zh-CN" sz="2000" dirty="0">
              <a:solidFill>
                <a:srgbClr val="8C1D1E"/>
              </a:solidFill>
              <a:latin typeface="-apple-system"/>
            </a:endParaRPr>
          </a:p>
          <a:p>
            <a:r>
              <a:rPr lang="en-US" altLang="zh-CN" sz="2000" dirty="0">
                <a:latin typeface="-apple-system"/>
              </a:rPr>
              <a:t>2.</a:t>
            </a:r>
            <a:r>
              <a:rPr lang="zh-CN" altLang="en-US" sz="2000" dirty="0">
                <a:latin typeface="-apple-system"/>
              </a:rPr>
              <a:t>“</a:t>
            </a:r>
            <a:r>
              <a:rPr lang="en-US" altLang="zh-CN" sz="2000" dirty="0" err="1">
                <a:latin typeface="-apple-system"/>
              </a:rPr>
              <a:t>Chang’an</a:t>
            </a:r>
            <a:r>
              <a:rPr lang="en-US" altLang="zh-CN" sz="2000" dirty="0">
                <a:latin typeface="-apple-system"/>
              </a:rPr>
              <a:t> fell, the country was broken, only the mountains and rivers were still the same; Spring came, and the densely(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密集的</a:t>
            </a:r>
            <a:r>
              <a:rPr lang="en-US" altLang="zh-CN" sz="2000" dirty="0">
                <a:latin typeface="-apple-system"/>
              </a:rPr>
              <a:t>) populated</a:t>
            </a:r>
            <a:r>
              <a:rPr lang="zh-CN" altLang="en-US" sz="2000" dirty="0">
                <a:latin typeface="-apple-system"/>
              </a:rPr>
              <a:t>（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有人口居住的</a:t>
            </a:r>
            <a:r>
              <a:rPr lang="zh-CN" altLang="en-US" sz="2000" dirty="0">
                <a:latin typeface="-apple-system"/>
              </a:rPr>
              <a:t>）</a:t>
            </a:r>
            <a:r>
              <a:rPr lang="en-US" altLang="zh-CN" sz="2000" dirty="0">
                <a:latin typeface="-apple-system"/>
              </a:rPr>
              <a:t> </a:t>
            </a:r>
            <a:r>
              <a:rPr lang="en-US" altLang="zh-CN" sz="2000" dirty="0" err="1">
                <a:latin typeface="-apple-system"/>
              </a:rPr>
              <a:t>Chang’an</a:t>
            </a:r>
            <a:r>
              <a:rPr lang="en-US" altLang="zh-CN" sz="2000" dirty="0">
                <a:latin typeface="-apple-system"/>
              </a:rPr>
              <a:t> city was lush </a:t>
            </a:r>
            <a:r>
              <a:rPr lang="zh-CN" altLang="en-US" sz="2000" dirty="0">
                <a:latin typeface="-apple-system"/>
              </a:rPr>
              <a:t>（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茂盛的</a:t>
            </a:r>
            <a:r>
              <a:rPr lang="zh-CN" altLang="en-US" sz="2000" dirty="0">
                <a:latin typeface="-apple-system"/>
              </a:rPr>
              <a:t>）</a:t>
            </a:r>
            <a:r>
              <a:rPr lang="en-US" altLang="zh-CN" sz="2000" dirty="0">
                <a:latin typeface="-apple-system"/>
              </a:rPr>
              <a:t>with vegetation</a:t>
            </a:r>
            <a:r>
              <a:rPr lang="zh-CN" altLang="en-US" sz="2000" dirty="0">
                <a:latin typeface="-apple-system"/>
              </a:rPr>
              <a:t>（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植被</a:t>
            </a:r>
            <a:r>
              <a:rPr lang="zh-CN" altLang="en-US" sz="2000" dirty="0">
                <a:latin typeface="-apple-system"/>
              </a:rPr>
              <a:t>）</a:t>
            </a:r>
            <a:r>
              <a:rPr lang="en-US" altLang="zh-CN" sz="2000" dirty="0">
                <a:latin typeface="-apple-system"/>
              </a:rPr>
              <a:t>.</a:t>
            </a:r>
            <a:r>
              <a:rPr lang="zh-CN" altLang="en-US" sz="2000" dirty="0">
                <a:latin typeface="-apple-system"/>
              </a:rPr>
              <a:t>”</a:t>
            </a:r>
            <a:r>
              <a:rPr lang="en-US" altLang="zh-CN" sz="2000" dirty="0">
                <a:latin typeface="-apple-system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春望</a:t>
            </a:r>
            <a:r>
              <a:rPr lang="en-US" altLang="zh-CN" sz="2000" dirty="0">
                <a:latin typeface="-apple-system"/>
              </a:rPr>
              <a:t>]</a:t>
            </a: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loyalty and responsibility to the country and the people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-apple-syste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319" y="221848"/>
            <a:ext cx="7257681" cy="752565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80854" y="909204"/>
            <a:ext cx="4987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8C1D1E"/>
                </a:solidFill>
                <a:latin typeface="Arial Rounded MT Bold" panose="020F0704030504030204" pitchFamily="34" charset="0"/>
              </a:rPr>
              <a:t>characteristic</a:t>
            </a:r>
            <a:endParaRPr lang="zh-CN" altLang="en-US" sz="2000" dirty="0">
              <a:solidFill>
                <a:srgbClr val="8C1D1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274" y="1906732"/>
            <a:ext cx="3413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kindheartedness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（仁爱）      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loyalty and filial piety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忠孝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set of etiquette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礼制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sense of social responsibility and mission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86300" y="1906732"/>
            <a:ext cx="3392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conservative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（保守）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authoritarianism(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权威主义</a:t>
            </a:r>
            <a:r>
              <a:rPr lang="en-US" altLang="zh-CN" sz="2000" dirty="0">
                <a:latin typeface="-apple-system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dogmatism</a:t>
            </a:r>
            <a:r>
              <a:rPr lang="zh-CN" altLang="en-US" dirty="0"/>
              <a:t>（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教条主义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-apple-system"/>
              </a:rPr>
              <a:t>unself-consistent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难以自洽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09219" y="193389"/>
            <a:ext cx="4932752" cy="1104900"/>
            <a:chOff x="-251461" y="112744"/>
            <a:chExt cx="4932752" cy="1104900"/>
          </a:xfrm>
        </p:grpSpPr>
        <p:sp>
          <p:nvSpPr>
            <p:cNvPr id="16" name="椭圆 15"/>
            <p:cNvSpPr/>
            <p:nvPr/>
          </p:nvSpPr>
          <p:spPr>
            <a:xfrm>
              <a:off x="-251461" y="112744"/>
              <a:ext cx="1104900" cy="1104900"/>
            </a:xfrm>
            <a:prstGeom prst="ellipse">
              <a:avLst/>
            </a:prstGeom>
            <a:noFill/>
            <a:ln>
              <a:solidFill>
                <a:srgbClr val="A923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2BA02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125291" y="434361"/>
              <a:ext cx="35560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TAOISM(</a:t>
              </a:r>
              <a:r>
                <a:rPr kumimoji="0" lang="zh-CN" altLang="en-US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道家思想</a:t>
              </a:r>
              <a:r>
                <a:rPr kumimoji="0" lang="en-US" altLang="zh-CN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)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0" y="157480"/>
            <a:ext cx="7548880" cy="75253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0215" y="1388110"/>
            <a:ext cx="5207000" cy="4749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sub-title"/>
              </a:ext>
            </a:extLst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200" normalizeH="0" baseline="0" noProof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representative poet</a:t>
            </a:r>
            <a:r>
              <a:rPr kumimoji="0" lang="en-US" altLang="zh-CN" sz="24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en-US" altLang="zh-CN" sz="2400" b="1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Li Bai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0215" y="1952625"/>
            <a:ext cx="8009255" cy="14935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"Let the white deer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roam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（漫游） freely among the green cliffs. Whenever I want to, I'll ride it to visit the famous mountains.How can I bow down to the powerful and wealthy, making me unable to feel joy and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contentment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满足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?"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梦游天姥吟留别）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pursue a state of transcendence(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超越性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 from the mundane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（世俗的）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filled with freedom and unfettered 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自由的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)spirit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2."The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gale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大风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 will break the waves in due time, and I'll set my sails to cross the vast ocean."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0215" y="5358130"/>
            <a:ext cx="7506970" cy="403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 life attitude of openness（豁达） and detachment（超然）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25191" y="421147"/>
            <a:ext cx="9269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8C1D1E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+mn-cs"/>
              <a:sym typeface="Arial" panose="020B060402020202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8191" y="294147"/>
            <a:ext cx="9269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8C1D1E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+mn-cs"/>
                <a:sym typeface="Arial" panose="020B0604020202020204"/>
              </a:rPr>
              <a:t>叁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35855" y="2336165"/>
            <a:ext cx="2815590" cy="4609465"/>
          </a:xfrm>
        </p:spPr>
        <p:txBody>
          <a:bodyPr/>
          <a:lstStyle/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sym typeface="+mn-ea"/>
              </a:rPr>
              <a:t>openness（豁达）</a:t>
            </a:r>
          </a:p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  <a:sym typeface="+mn-ea"/>
              </a:rPr>
              <a:t>detachment（超然）</a:t>
            </a:r>
          </a:p>
          <a:p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sym typeface="+mn-ea"/>
              </a:rPr>
              <a:t>freedom</a:t>
            </a:r>
          </a:p>
          <a:p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sym typeface="+mn-ea"/>
              </a:rPr>
              <a:t>optimistic</a:t>
            </a:r>
          </a:p>
          <a:p>
            <a:endParaRPr lang="zh-CN" altLang="en-US" b="1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endParaRPr lang="zh-CN" altLang="en-US" b="1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-1" y="2092961"/>
            <a:ext cx="4765040" cy="4765040"/>
            <a:chOff x="-1" y="2092961"/>
            <a:chExt cx="4765040" cy="476504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-1" y="2092961"/>
              <a:ext cx="4765040" cy="476504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 rot="1200000">
              <a:off x="1775682" y="2352515"/>
              <a:ext cx="2255219" cy="765322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186054" y="112744"/>
            <a:ext cx="4932752" cy="1104900"/>
            <a:chOff x="-251461" y="112744"/>
            <a:chExt cx="4932752" cy="1104900"/>
          </a:xfrm>
        </p:grpSpPr>
        <p:grpSp>
          <p:nvGrpSpPr>
            <p:cNvPr id="8" name="组合 7"/>
            <p:cNvGrpSpPr/>
            <p:nvPr/>
          </p:nvGrpSpPr>
          <p:grpSpPr>
            <a:xfrm>
              <a:off x="-251461" y="112744"/>
              <a:ext cx="1104900" cy="1104900"/>
              <a:chOff x="8729979" y="817399"/>
              <a:chExt cx="1356360" cy="135636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729979" y="817399"/>
                <a:ext cx="1356360" cy="1356360"/>
              </a:xfrm>
              <a:prstGeom prst="ellipse">
                <a:avLst/>
              </a:prstGeom>
              <a:noFill/>
              <a:ln>
                <a:solidFill>
                  <a:srgbClr val="A923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2BA02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839200" y="985519"/>
                <a:ext cx="1137920" cy="102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1D1E"/>
                    </a:solidFill>
                    <a:effectLst/>
                    <a:uLnTx/>
                    <a:uFillTx/>
                    <a:latin typeface="Arial" panose="020B0604020202020204"/>
                    <a:ea typeface="华文新魏" panose="02010800040101010101" charset="-122"/>
                    <a:cs typeface="+mn-cs"/>
                    <a:sym typeface="Arial" panose="020B0604020202020204"/>
                  </a:rPr>
                  <a:t>叁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25291" y="434361"/>
              <a:ext cx="35560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TAOISM(</a:t>
              </a:r>
              <a:r>
                <a:rPr kumimoji="0" lang="zh-CN" altLang="en-US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道家思想</a:t>
              </a:r>
              <a:r>
                <a:rPr kumimoji="0" lang="en-US" altLang="zh-CN" sz="2400" b="0" i="0" u="none" strike="noStrike" kern="1200" cap="none" spc="600" normalizeH="0" baseline="0" noProof="0" dirty="0">
                  <a:ln>
                    <a:noFill/>
                  </a:ln>
                  <a:solidFill>
                    <a:srgbClr val="8C1D1E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rPr>
                <a:t>)</a:t>
              </a:r>
              <a:endPara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srgbClr val="8C1D1E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73589" y="176037"/>
            <a:ext cx="9269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8C1D1E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+mn-cs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7310" y="10985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characteristic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128000" y="2336165"/>
            <a:ext cx="4064000" cy="3240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0C0B4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let things slide(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0C0B4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放任自流，摆烂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0C0B4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0C0B4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“taking a passive and evasive attitude towards the world”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0C0B4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（消极避世）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500" y="1972310"/>
            <a:ext cx="10029825" cy="1809750"/>
          </a:xfrm>
        </p:spPr>
        <p:txBody>
          <a:bodyPr/>
          <a:lstStyle/>
          <a:p>
            <a:r>
              <a:rPr lang="en-US" altLang="zh-CN" sz="6000" dirty="0">
                <a:solidFill>
                  <a:schemeClr val="accent6">
                    <a:lumMod val="50000"/>
                  </a:schemeClr>
                </a:solidFill>
              </a:rPr>
              <a:t>The golden mean(</a:t>
            </a:r>
            <a:r>
              <a:rPr lang="zh-CN" altLang="en-US" sz="6000" dirty="0">
                <a:solidFill>
                  <a:schemeClr val="accent6">
                    <a:lumMod val="50000"/>
                  </a:schemeClr>
                </a:solidFill>
              </a:rPr>
              <a:t>中庸</a:t>
            </a:r>
            <a:r>
              <a:rPr lang="en-US" altLang="zh-CN" sz="60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rot="1200000">
            <a:off x="924782" y="611980"/>
            <a:ext cx="2255219" cy="76532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 flipH="1">
            <a:off x="-144780" y="2187575"/>
            <a:ext cx="4393565" cy="5092700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7973178" y="-1485354"/>
            <a:ext cx="4218822" cy="8343354"/>
            <a:chOff x="7973178" y="-1485354"/>
            <a:chExt cx="4218822" cy="8343354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8181474" y="2847474"/>
              <a:ext cx="4010526" cy="4010526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/>
          </p:nvGrpSpPr>
          <p:grpSpPr>
            <a:xfrm>
              <a:off x="7973178" y="-1485354"/>
              <a:ext cx="3859840" cy="3588353"/>
              <a:chOff x="7973178" y="-1485354"/>
              <a:chExt cx="3859840" cy="3588353"/>
            </a:xfrm>
          </p:grpSpPr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colorTemperature colorTemp="5900"/>
                        </a14:imgEffect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8780000" flipH="1">
                <a:off x="8108921" y="-1621097"/>
                <a:ext cx="3588353" cy="3859840"/>
              </a:xfrm>
              <a:prstGeom prst="rect">
                <a:avLst/>
              </a:prstGeom>
            </p:spPr>
          </p:pic>
          <p:pic>
            <p:nvPicPr>
              <p:cNvPr id="33" name="图片 32"/>
              <p:cNvPicPr>
                <a:picLocks noChangeAspect="1"/>
              </p:cNvPicPr>
              <p:nvPr/>
            </p:nvPicPr>
            <p:blipFill rotWithShape="1">
              <a:blip r:embed="rId8" cstate="email"/>
              <a:srcRect/>
              <a:stretch>
                <a:fillRect/>
              </a:stretch>
            </p:blipFill>
            <p:spPr>
              <a:xfrm>
                <a:off x="9548419" y="497182"/>
                <a:ext cx="709355" cy="699726"/>
              </a:xfrm>
              <a:prstGeom prst="rect">
                <a:avLst/>
              </a:prstGeom>
            </p:spPr>
          </p:pic>
        </p:grpSp>
      </p:grpSp>
      <p:sp>
        <p:nvSpPr>
          <p:cNvPr id="34" name="文本框 33"/>
          <p:cNvSpPr txBox="1"/>
          <p:nvPr/>
        </p:nvSpPr>
        <p:spPr>
          <a:xfrm>
            <a:off x="1714500" y="3351530"/>
            <a:ext cx="9770110" cy="511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sub-title"/>
              </a:ext>
            </a:extLst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complementary confucianism and taoism（儒道互补）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spc="20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+mj-lt"/>
                <a:sym typeface="+mn-ea"/>
              </a:rPr>
              <a:t>representative poet</a:t>
            </a:r>
            <a:r>
              <a:rPr lang="en-US" altLang="zh-CN" sz="2400" spc="200">
                <a:latin typeface="+mj-ea"/>
                <a:ea typeface="+mj-ea"/>
                <a:cs typeface="+mj-lt"/>
                <a:sym typeface="+mn-ea"/>
              </a:rPr>
              <a:t>:</a:t>
            </a:r>
            <a:r>
              <a:rPr lang="en-US" altLang="zh-CN" sz="2400" b="1" spc="200">
                <a:latin typeface="+mj-ea"/>
                <a:ea typeface="+mj-ea"/>
                <a:cs typeface="+mj-lt"/>
                <a:sym typeface="+mn-ea"/>
              </a:rPr>
              <a:t>Su Shi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6054" y="190214"/>
            <a:ext cx="10743565" cy="1104900"/>
            <a:chOff x="-251461" y="112744"/>
            <a:chExt cx="10743565" cy="1104900"/>
          </a:xfrm>
        </p:grpSpPr>
        <p:grpSp>
          <p:nvGrpSpPr>
            <p:cNvPr id="8" name="组合 7"/>
            <p:cNvGrpSpPr/>
            <p:nvPr/>
          </p:nvGrpSpPr>
          <p:grpSpPr>
            <a:xfrm>
              <a:off x="-251461" y="112744"/>
              <a:ext cx="1104900" cy="1104900"/>
              <a:chOff x="8729979" y="817399"/>
              <a:chExt cx="1356360" cy="135636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729979" y="817399"/>
                <a:ext cx="1356360" cy="1356360"/>
              </a:xfrm>
              <a:prstGeom prst="ellipse">
                <a:avLst/>
              </a:prstGeom>
              <a:noFill/>
              <a:ln>
                <a:solidFill>
                  <a:srgbClr val="A923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2BA02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839200" y="985519"/>
                <a:ext cx="1137920" cy="101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1D1E"/>
                    </a:solidFill>
                    <a:effectLst/>
                    <a:uLnTx/>
                    <a:uFillTx/>
                    <a:latin typeface="Arial" panose="020B0604020202020204"/>
                    <a:ea typeface="华文新魏" panose="02010800040101010101" charset="-122"/>
                    <a:cs typeface="+mn-cs"/>
                    <a:sym typeface="Arial" panose="020B0604020202020204"/>
                  </a:rPr>
                  <a:t>肆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25219" y="434054"/>
              <a:ext cx="9366885" cy="5676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华文楷体" panose="02010600040101010101" pitchFamily="2" charset="-122"/>
                  <a:cs typeface="Arial" panose="020B0604020202020204"/>
                  <a:sym typeface="+mn-ea"/>
                </a:rPr>
                <a:t>complementary confucianism and taoism</a:t>
              </a: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（儒道互补）</a:t>
              </a:r>
              <a:endPara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00" y="157480"/>
            <a:ext cx="7548880" cy="75253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4850" y="2294255"/>
            <a:ext cx="7781290" cy="280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“participating in society”积极入世（儒家）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 will draw my bow like a full moon, looking northwest, shooting at the heavenly wolf.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the political aspiration（志向） of safeguarding the country and its people.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75BD42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“escaping from the world”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淡然出世（道家）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"A bamboo staff and grass shoes are lighter than a horse, who fears? Let the rain and mist of a lifetime come as they may, I'll face them unafraid."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openness（豁达） and detachment（超然）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7730490" cy="5106670"/>
          </a:xfrm>
        </p:spPr>
        <p:txBody>
          <a:bodyPr/>
          <a:lstStyle/>
          <a:p>
            <a:r>
              <a:rPr lang="en-US" altLang="zh-CN" sz="2800" b="1"/>
              <a:t>experience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The ups and downs of Su Shi's political career saw him holding offices in various places./ Regardless of where he was, he always put the people first, actively promoted reforms, and sought to benefit the common people.</a:t>
            </a:r>
          </a:p>
          <a:p>
            <a:pPr marL="0" indent="0">
              <a:buNone/>
            </a:pP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186054" y="190214"/>
            <a:ext cx="10743565" cy="1104900"/>
            <a:chOff x="-251461" y="112744"/>
            <a:chExt cx="10743565" cy="1104900"/>
          </a:xfrm>
        </p:grpSpPr>
        <p:grpSp>
          <p:nvGrpSpPr>
            <p:cNvPr id="8" name="组合 7"/>
            <p:cNvGrpSpPr/>
            <p:nvPr/>
          </p:nvGrpSpPr>
          <p:grpSpPr>
            <a:xfrm>
              <a:off x="-251461" y="112744"/>
              <a:ext cx="1104900" cy="1104900"/>
              <a:chOff x="8729979" y="817399"/>
              <a:chExt cx="1356360" cy="135636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8729979" y="817399"/>
                <a:ext cx="1356360" cy="1356360"/>
              </a:xfrm>
              <a:prstGeom prst="ellipse">
                <a:avLst/>
              </a:prstGeom>
              <a:noFill/>
              <a:ln>
                <a:solidFill>
                  <a:srgbClr val="A923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2BA02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839200" y="985519"/>
                <a:ext cx="1137920" cy="101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1D1E"/>
                    </a:solidFill>
                    <a:effectLst/>
                    <a:uLnTx/>
                    <a:uFillTx/>
                    <a:latin typeface="Arial" panose="020B0604020202020204"/>
                    <a:ea typeface="华文新魏" panose="02010800040101010101" charset="-122"/>
                    <a:cs typeface="+mn-cs"/>
                    <a:sym typeface="Arial" panose="020B0604020202020204"/>
                  </a:rPr>
                  <a:t>肆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25219" y="434054"/>
              <a:ext cx="9366885" cy="5676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华文楷体" panose="02010600040101010101" pitchFamily="2" charset="-122"/>
                  <a:cs typeface="Arial" panose="020B0604020202020204"/>
                  <a:sym typeface="+mn-ea"/>
                </a:rPr>
                <a:t>complementary confucianism and taoism</a:t>
              </a: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（儒道互补）</a:t>
              </a:r>
              <a:endPara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-179582" y="4165600"/>
            <a:ext cx="12551164" cy="2692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 flipH="1">
            <a:off x="9526207" y="1295581"/>
            <a:ext cx="1983946" cy="1176111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608330" y="4096385"/>
            <a:ext cx="8251190" cy="11887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5BD42">
                    <a:lumMod val="50000"/>
                  </a:srgbClr>
                </a:solidFill>
                <a:effectLst/>
                <a:uLnTx/>
                <a:uFillTx/>
                <a:latin typeface="Segoe UI" panose="020B0502040204020203" charset="0"/>
                <a:ea typeface="宋体" panose="02010600030101010101" pitchFamily="2" charset="-122"/>
                <a:cs typeface="+mn-cs"/>
              </a:rPr>
              <a:t>"Ask me about my lifelong achievements, and I'll mention Huangzhou, Huizhou, and Danzhou.‘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75BD42">
                  <a:lumMod val="50000"/>
                </a:srgbClr>
              </a:solidFill>
              <a:effectLst/>
              <a:uLnTx/>
              <a:uFillTx/>
              <a:latin typeface="Segoe UI" panose="020B0502040204020203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75BD42">
                  <a:lumMod val="50000"/>
                </a:srgbClr>
              </a:solidFill>
              <a:effectLst/>
              <a:uLnTx/>
              <a:uFillTx/>
              <a:latin typeface="Segoe UI" panose="020B0502040204020203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8242935" cy="486537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accent4">
                    <a:lumMod val="50000"/>
                  </a:schemeClr>
                </a:solidFill>
              </a:rPr>
              <a:t>I hope we can use the thought of complementary </a:t>
            </a:r>
            <a:r>
              <a:rPr lang="en-US" altLang="zh-CN" sz="2000" b="1" dirty="0" err="1">
                <a:solidFill>
                  <a:schemeClr val="accent4">
                    <a:lumMod val="50000"/>
                  </a:schemeClr>
                </a:solidFill>
              </a:rPr>
              <a:t>confucianism</a:t>
            </a:r>
            <a:r>
              <a:rPr lang="en-US" altLang="zh-CN" sz="2000" b="1" dirty="0">
                <a:solidFill>
                  <a:schemeClr val="accent4">
                    <a:lumMod val="50000"/>
                  </a:schemeClr>
                </a:solidFill>
              </a:rPr>
              <a:t> and </a:t>
            </a:r>
            <a:r>
              <a:rPr lang="en-US" altLang="zh-CN" sz="2000" b="1" dirty="0" err="1">
                <a:solidFill>
                  <a:schemeClr val="accent4">
                    <a:lumMod val="50000"/>
                  </a:schemeClr>
                </a:solidFill>
              </a:rPr>
              <a:t>taoism</a:t>
            </a:r>
            <a:r>
              <a:rPr lang="en-US" altLang="zh-CN" sz="2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zh-CN" altLang="en-US" sz="2000" b="1" dirty="0">
                <a:solidFill>
                  <a:schemeClr val="accent4">
                    <a:lumMod val="50000"/>
                  </a:schemeClr>
                </a:solidFill>
              </a:rPr>
              <a:t>When facing the challenges and difficulties of life, we </a:t>
            </a:r>
            <a:r>
              <a:rPr lang="en-US" altLang="zh-CN" sz="2000" b="1" dirty="0">
                <a:solidFill>
                  <a:schemeClr val="accent4">
                    <a:lumMod val="50000"/>
                  </a:schemeClr>
                </a:solidFill>
              </a:rPr>
              <a:t>c</a:t>
            </a:r>
            <a:r>
              <a:rPr lang="zh-CN" altLang="en-US" sz="2000" b="1" dirty="0">
                <a:solidFill>
                  <a:schemeClr val="accent4">
                    <a:lumMod val="50000"/>
                  </a:schemeClr>
                </a:solidFill>
              </a:rPr>
              <a:t>ould maintain a positive attitude and detached spirit, paying attention to the reality of life while pursuing inner peace and freedom.</a:t>
            </a:r>
          </a:p>
          <a:p>
            <a:pPr marL="0" indent="0">
              <a:buNone/>
            </a:pPr>
            <a:endParaRPr lang="zh-CN" alt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571403" y="0"/>
            <a:ext cx="3620597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86054" y="190214"/>
            <a:ext cx="10743565" cy="1104900"/>
            <a:chOff x="-251461" y="112744"/>
            <a:chExt cx="10743565" cy="1104900"/>
          </a:xfrm>
        </p:grpSpPr>
        <p:grpSp>
          <p:nvGrpSpPr>
            <p:cNvPr id="8" name="组合 7"/>
            <p:cNvGrpSpPr/>
            <p:nvPr/>
          </p:nvGrpSpPr>
          <p:grpSpPr>
            <a:xfrm>
              <a:off x="-251461" y="112744"/>
              <a:ext cx="1104900" cy="1104900"/>
              <a:chOff x="8729979" y="817399"/>
              <a:chExt cx="1356360" cy="1356360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8729979" y="817399"/>
                <a:ext cx="1356360" cy="1356360"/>
              </a:xfrm>
              <a:prstGeom prst="ellipse">
                <a:avLst/>
              </a:prstGeom>
              <a:noFill/>
              <a:ln>
                <a:solidFill>
                  <a:srgbClr val="A923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2BA02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+mn-cs"/>
                  <a:sym typeface="Arial" panose="020B0604020202020204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839200" y="985519"/>
                <a:ext cx="1137920" cy="101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1D1E"/>
                    </a:solidFill>
                    <a:effectLst/>
                    <a:uLnTx/>
                    <a:uFillTx/>
                    <a:latin typeface="Arial" panose="020B0604020202020204"/>
                    <a:ea typeface="华文新魏" panose="02010800040101010101" charset="-122"/>
                    <a:cs typeface="+mn-cs"/>
                    <a:sym typeface="Arial" panose="020B0604020202020204"/>
                  </a:rPr>
                  <a:t>肆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25219" y="434054"/>
              <a:ext cx="9366885" cy="5676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华文楷体" panose="02010600040101010101" pitchFamily="2" charset="-122"/>
                  <a:cs typeface="Arial" panose="020B0604020202020204"/>
                  <a:sym typeface="+mn-ea"/>
                </a:rPr>
                <a:t>complementary confucianism and taoism</a:t>
              </a:r>
              <a:r>
                <a:rPr kumimoji="0" lang="zh-CN" altLang="en-US" sz="2400" b="0" i="0" u="none" strike="noStrike" kern="1200" cap="none" spc="200" normalizeH="0" baseline="0" noProof="0">
                  <a:ln>
                    <a:noFill/>
                  </a:ln>
                  <a:solidFill>
                    <a:srgbClr val="E54C5E">
                      <a:lumMod val="50000"/>
                    </a:srgbClr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华文楷体" panose="02010600040101010101" pitchFamily="2" charset="-122"/>
                  <a:sym typeface="+mn-ea"/>
                </a:rPr>
                <a:t>（儒道互补）</a:t>
              </a:r>
              <a:endParaRPr kumimoji="0" lang="zh-CN" altLang="en-US" sz="2400" b="0" i="0" u="none" strike="noStrike" kern="1200" cap="none" spc="200" normalizeH="0" baseline="0" noProof="0" dirty="0">
                <a:ln>
                  <a:noFill/>
                </a:ln>
                <a:solidFill>
                  <a:srgbClr val="E54C5E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5070764" y="1722967"/>
            <a:ext cx="6403953" cy="15684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/>
            <a:r>
              <a:rPr lang="en-US" altLang="zh-CN" sz="96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Thank you</a:t>
            </a:r>
            <a:endParaRPr lang="zh-CN" altLang="en-US" sz="96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E4MTExODk1MmYxYmQ2ZDkzZTk5YmMxZTBjOTM0N2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55622047244094,&quot;left&quot;:378.76503937007874,&quot;top&quot;:42.33574803149607,&quot;width&quot;:402.92692913385827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803</Words>
  <Application>Microsoft Office PowerPoint</Application>
  <PresentationFormat>宽屏</PresentationFormat>
  <Paragraphs>97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-apple-system</vt:lpstr>
      <vt:lpstr>等线</vt:lpstr>
      <vt:lpstr>等线 Light</vt:lpstr>
      <vt:lpstr>华文楷体</vt:lpstr>
      <vt:lpstr>宋体</vt:lpstr>
      <vt:lpstr>微软雅黑</vt:lpstr>
      <vt:lpstr>Arial</vt:lpstr>
      <vt:lpstr>Arial Rounded MT Bold</vt:lpstr>
      <vt:lpstr>Calibri</vt:lpstr>
      <vt:lpstr>Segoe UI</vt:lpstr>
      <vt:lpstr>Wingdings</vt:lpstr>
      <vt:lpstr>第一PPT，www.1ppt.com</vt:lpstr>
      <vt:lpstr>自定义设计方案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golden mean(中庸)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古风</dc:title>
  <dc:creator>第一PPT</dc:creator>
  <cp:keywords>www.1ppt.com</cp:keywords>
  <dc:description>www.1ppt.com</dc:description>
  <cp:lastModifiedBy>iraitowa M</cp:lastModifiedBy>
  <cp:revision>25</cp:revision>
  <dcterms:created xsi:type="dcterms:W3CDTF">2018-12-13T15:51:00Z</dcterms:created>
  <dcterms:modified xsi:type="dcterms:W3CDTF">2024-03-13T11:39:22Z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3EC21961465A498CA7CA1AFA7EA904CE_12</vt:lpwstr>
  </property>
  <property fmtid="{D5CDD505-2E9C-101B-9397-08002B2CF9AE}" pid="3" name="KSOProductBuildVer">
    <vt:lpwstr>2052-12.1.0.16399</vt:lpwstr>
  </property>
</Properties>
</file>